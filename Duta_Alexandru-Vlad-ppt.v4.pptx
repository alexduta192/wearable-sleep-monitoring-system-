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handoutMasterIdLst>
    <p:handoutMasterId r:id="rId21"/>
  </p:handoutMasterIdLst>
  <p:sldIdLst>
    <p:sldId id="256" r:id="rId2"/>
    <p:sldId id="257" r:id="rId3"/>
    <p:sldId id="258" r:id="rId4"/>
    <p:sldId id="277" r:id="rId5"/>
    <p:sldId id="260" r:id="rId6"/>
    <p:sldId id="261" r:id="rId7"/>
    <p:sldId id="262" r:id="rId8"/>
    <p:sldId id="274" r:id="rId9"/>
    <p:sldId id="264" r:id="rId10"/>
    <p:sldId id="265" r:id="rId11"/>
    <p:sldId id="275" r:id="rId12"/>
    <p:sldId id="267" r:id="rId13"/>
    <p:sldId id="268" r:id="rId14"/>
    <p:sldId id="269" r:id="rId15"/>
    <p:sldId id="270" r:id="rId16"/>
    <p:sldId id="271" r:id="rId17"/>
    <p:sldId id="272" r:id="rId18"/>
    <p:sldId id="276" r:id="rId19"/>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78" autoAdjust="0"/>
    <p:restoredTop sz="94610"/>
  </p:normalViewPr>
  <p:slideViewPr>
    <p:cSldViewPr snapToGrid="0" snapToObjects="1">
      <p:cViewPr varScale="1">
        <p:scale>
          <a:sx n="74" d="100"/>
          <a:sy n="74" d="100"/>
        </p:scale>
        <p:origin x="52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AE9F61-229A-ED1C-8371-E3E13E60D336}"/>
              </a:ext>
            </a:extLst>
          </p:cNvPr>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B827D6F8-D315-686A-5B51-79CEE0127DCC}"/>
              </a:ext>
            </a:extLst>
          </p:cNvPr>
          <p:cNvSpPr>
            <a:spLocks noGrp="1"/>
          </p:cNvSpPr>
          <p:nvPr>
            <p:ph type="dt" sz="quarter" idx="1"/>
          </p:nvPr>
        </p:nvSpPr>
        <p:spPr>
          <a:xfrm>
            <a:off x="5827713" y="0"/>
            <a:ext cx="4457700" cy="917575"/>
          </a:xfrm>
          <a:prstGeom prst="rect">
            <a:avLst/>
          </a:prstGeom>
        </p:spPr>
        <p:txBody>
          <a:bodyPr vert="horz" lIns="91440" tIns="45720" rIns="91440" bIns="45720" rtlCol="0"/>
          <a:lstStyle>
            <a:lvl1pPr algn="r">
              <a:defRPr sz="1200"/>
            </a:lvl1pPr>
          </a:lstStyle>
          <a:p>
            <a:fld id="{3C0DA2CE-89E2-40C6-909E-E8191955ACF2}" type="datetimeFigureOut">
              <a:rPr lang="en-US" smtClean="0"/>
              <a:t>6/29/2026</a:t>
            </a:fld>
            <a:endParaRPr lang="en-US"/>
          </a:p>
        </p:txBody>
      </p:sp>
      <p:sp>
        <p:nvSpPr>
          <p:cNvPr id="4" name="Footer Placeholder 3">
            <a:extLst>
              <a:ext uri="{FF2B5EF4-FFF2-40B4-BE49-F238E27FC236}">
                <a16:creationId xmlns:a16="http://schemas.microsoft.com/office/drawing/2014/main" id="{EDC56C53-B32C-9D64-3CC3-346467FA2101}"/>
              </a:ext>
            </a:extLst>
          </p:cNvPr>
          <p:cNvSpPr>
            <a:spLocks noGrp="1"/>
          </p:cNvSpPr>
          <p:nvPr>
            <p:ph type="ftr" sz="quarter" idx="2"/>
          </p:nvPr>
        </p:nvSpPr>
        <p:spPr>
          <a:xfrm>
            <a:off x="0" y="17372013"/>
            <a:ext cx="4457700" cy="9159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15FC202-9CC3-D85A-3D3B-F4716880CA20}"/>
              </a:ext>
            </a:extLst>
          </p:cNvPr>
          <p:cNvSpPr>
            <a:spLocks noGrp="1"/>
          </p:cNvSpPr>
          <p:nvPr>
            <p:ph type="sldNum" sz="quarter" idx="3"/>
          </p:nvPr>
        </p:nvSpPr>
        <p:spPr>
          <a:xfrm>
            <a:off x="5827713" y="17372013"/>
            <a:ext cx="4457700" cy="915987"/>
          </a:xfrm>
          <a:prstGeom prst="rect">
            <a:avLst/>
          </a:prstGeom>
        </p:spPr>
        <p:txBody>
          <a:bodyPr vert="horz" lIns="91440" tIns="45720" rIns="91440" bIns="45720" rtlCol="0" anchor="b"/>
          <a:lstStyle>
            <a:lvl1pPr algn="r">
              <a:defRPr sz="1200"/>
            </a:lvl1pPr>
          </a:lstStyle>
          <a:p>
            <a:fld id="{FA26CDE3-1270-41E1-835A-6A4C4ADC17B2}" type="slidenum">
              <a:rPr lang="en-US" smtClean="0"/>
              <a:t>‹#›</a:t>
            </a:fld>
            <a:endParaRPr lang="en-US"/>
          </a:p>
        </p:txBody>
      </p:sp>
    </p:spTree>
    <p:extLst>
      <p:ext uri="{BB962C8B-B14F-4D97-AF65-F5344CB8AC3E}">
        <p14:creationId xmlns:p14="http://schemas.microsoft.com/office/powerpoint/2010/main" val="35099661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006061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475051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8288000" cy="57150"/>
          </a:xfrm>
          <a:prstGeom prst="rect">
            <a:avLst/>
          </a:prstGeom>
          <a:solidFill>
            <a:srgbClr val="C0562B"/>
          </a:solidFill>
          <a:ln/>
        </p:spPr>
        <p:txBody>
          <a:bodyPr/>
          <a:lstStyle/>
          <a:p>
            <a:endParaRPr lang="en-US"/>
          </a:p>
        </p:txBody>
      </p:sp>
      <p:sp>
        <p:nvSpPr>
          <p:cNvPr id="5" name="Text 3"/>
          <p:cNvSpPr/>
          <p:nvPr/>
        </p:nvSpPr>
        <p:spPr>
          <a:xfrm>
            <a:off x="4053126" y="3112770"/>
            <a:ext cx="11199924" cy="327660"/>
          </a:xfrm>
          <a:prstGeom prst="rect">
            <a:avLst/>
          </a:prstGeom>
          <a:noFill/>
          <a:ln/>
        </p:spPr>
        <p:txBody>
          <a:bodyPr wrap="square" lIns="25400" tIns="25400" rIns="25400" bIns="25400" rtlCol="0" anchor="t">
            <a:normAutofit/>
          </a:bodyPr>
          <a:lstStyle/>
          <a:p>
            <a:pPr marL="0" indent="0" algn="l">
              <a:buNone/>
            </a:pPr>
            <a:r>
              <a:rPr lang="en-US" sz="1650" kern="0" spc="225" dirty="0">
                <a:solidFill>
                  <a:srgbClr val="999999"/>
                </a:solidFill>
                <a:latin typeface="Nunito Sans" pitchFamily="34" charset="0"/>
                <a:ea typeface="Nunito Sans" pitchFamily="34" charset="-122"/>
                <a:cs typeface="Nunito Sans" pitchFamily="34" charset="-120"/>
              </a:rPr>
              <a:t>NATIONAL UNIVERSITY OF SCIENCE AND TECHNOLOGY POLITEHNICA BUCHAREST</a:t>
            </a:r>
            <a:endParaRPr lang="en-US" sz="1650" dirty="0"/>
          </a:p>
        </p:txBody>
      </p:sp>
      <p:sp>
        <p:nvSpPr>
          <p:cNvPr id="6" name="Text 4"/>
          <p:cNvSpPr/>
          <p:nvPr/>
        </p:nvSpPr>
        <p:spPr>
          <a:xfrm>
            <a:off x="2276475" y="3859530"/>
            <a:ext cx="13735050" cy="2026920"/>
          </a:xfrm>
          <a:prstGeom prst="rect">
            <a:avLst/>
          </a:prstGeom>
          <a:noFill/>
          <a:ln/>
        </p:spPr>
        <p:txBody>
          <a:bodyPr wrap="square" lIns="25400" tIns="25400" rIns="25400" bIns="25400" rtlCol="0" anchor="t">
            <a:normAutofit/>
          </a:bodyPr>
          <a:lstStyle/>
          <a:p>
            <a:pPr marL="0" indent="0" algn="ctr">
              <a:lnSpc>
                <a:spcPct val="120000"/>
              </a:lnSpc>
              <a:buNone/>
            </a:pPr>
            <a:r>
              <a:rPr lang="en-US" sz="4350" b="1" dirty="0">
                <a:solidFill>
                  <a:srgbClr val="1A1A1A"/>
                </a:solidFill>
                <a:latin typeface="Sora" pitchFamily="34" charset="0"/>
                <a:ea typeface="Sora" pitchFamily="34" charset="-122"/>
                <a:cs typeface="Sora" pitchFamily="34" charset="-120"/>
              </a:rPr>
              <a:t>Developing a System for Physiological Signal Acquisition and Analysis for Sleep Quality Assessment</a:t>
            </a:r>
            <a:endParaRPr lang="en-US" sz="4350" dirty="0"/>
          </a:p>
        </p:txBody>
      </p:sp>
      <p:sp>
        <p:nvSpPr>
          <p:cNvPr id="7" name="Shape 5"/>
          <p:cNvSpPr/>
          <p:nvPr/>
        </p:nvSpPr>
        <p:spPr>
          <a:xfrm>
            <a:off x="8839200" y="6076950"/>
            <a:ext cx="609600" cy="38100"/>
          </a:xfrm>
          <a:prstGeom prst="roundRect">
            <a:avLst>
              <a:gd name="adj" fmla="val 50000"/>
            </a:avLst>
          </a:prstGeom>
          <a:solidFill>
            <a:srgbClr val="C0562B"/>
          </a:solidFill>
          <a:ln/>
        </p:spPr>
        <p:txBody>
          <a:bodyPr/>
          <a:lstStyle/>
          <a:p>
            <a:endParaRPr lang="en-US"/>
          </a:p>
        </p:txBody>
      </p:sp>
      <p:sp>
        <p:nvSpPr>
          <p:cNvPr id="8" name="Text 6"/>
          <p:cNvSpPr/>
          <p:nvPr/>
        </p:nvSpPr>
        <p:spPr>
          <a:xfrm>
            <a:off x="7783074" y="6381750"/>
            <a:ext cx="3331452" cy="350520"/>
          </a:xfrm>
          <a:prstGeom prst="rect">
            <a:avLst/>
          </a:prstGeom>
          <a:noFill/>
          <a:ln/>
        </p:spPr>
        <p:txBody>
          <a:bodyPr wrap="square" lIns="25400" tIns="25400" rIns="25400" bIns="25400" rtlCol="0" anchor="t">
            <a:normAutofit/>
          </a:bodyPr>
          <a:lstStyle/>
          <a:p>
            <a:pPr marL="0" indent="0" algn="l">
              <a:buNone/>
            </a:pPr>
            <a:r>
              <a:rPr lang="en-US" sz="1950" kern="0" spc="300" dirty="0">
                <a:solidFill>
                  <a:srgbClr val="C0562B"/>
                </a:solidFill>
                <a:latin typeface="Sora" pitchFamily="34" charset="0"/>
                <a:ea typeface="Sora" pitchFamily="34" charset="-122"/>
                <a:cs typeface="Sora" pitchFamily="34" charset="-120"/>
              </a:rPr>
              <a:t>DIPLOMA PROJECT</a:t>
            </a:r>
            <a:endParaRPr lang="en-US" sz="1950" dirty="0"/>
          </a:p>
        </p:txBody>
      </p:sp>
      <p:sp>
        <p:nvSpPr>
          <p:cNvPr id="9" name="Text 7"/>
          <p:cNvSpPr/>
          <p:nvPr/>
        </p:nvSpPr>
        <p:spPr>
          <a:xfrm>
            <a:off x="5581501" y="7227570"/>
            <a:ext cx="3143905" cy="297180"/>
          </a:xfrm>
          <a:prstGeom prst="rect">
            <a:avLst/>
          </a:prstGeom>
          <a:noFill/>
          <a:ln/>
        </p:spPr>
        <p:txBody>
          <a:bodyPr wrap="square" lIns="25400" tIns="25400" rIns="25400" bIns="25400" rtlCol="0" anchor="t">
            <a:normAutofit/>
          </a:bodyPr>
          <a:lstStyle/>
          <a:p>
            <a:pPr marL="0" indent="0" algn="ctr">
              <a:buNone/>
            </a:pPr>
            <a:r>
              <a:rPr lang="en-US" sz="1500" kern="0" spc="150" dirty="0">
                <a:solidFill>
                  <a:srgbClr val="BBBBBB"/>
                </a:solidFill>
                <a:latin typeface="Nunito Sans" pitchFamily="34" charset="0"/>
                <a:ea typeface="Nunito Sans" pitchFamily="34" charset="-122"/>
                <a:cs typeface="Nunito Sans" pitchFamily="34" charset="-120"/>
              </a:rPr>
              <a:t>GRADUATE</a:t>
            </a:r>
            <a:endParaRPr lang="en-US" sz="1500" dirty="0"/>
          </a:p>
        </p:txBody>
      </p:sp>
      <p:sp>
        <p:nvSpPr>
          <p:cNvPr id="10" name="Text 8"/>
          <p:cNvSpPr/>
          <p:nvPr/>
        </p:nvSpPr>
        <p:spPr>
          <a:xfrm>
            <a:off x="5581501" y="7562850"/>
            <a:ext cx="3143905" cy="37338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Sora" pitchFamily="34" charset="0"/>
                <a:ea typeface="Sora" pitchFamily="34" charset="-122"/>
                <a:cs typeface="Sora" pitchFamily="34" charset="-120"/>
              </a:rPr>
              <a:t>Duta Alexandru-Vlad</a:t>
            </a:r>
            <a:endParaRPr lang="en-US" sz="2100" dirty="0"/>
          </a:p>
        </p:txBody>
      </p:sp>
      <p:sp>
        <p:nvSpPr>
          <p:cNvPr id="11" name="Text 9"/>
          <p:cNvSpPr/>
          <p:nvPr/>
        </p:nvSpPr>
        <p:spPr>
          <a:xfrm>
            <a:off x="9583596" y="7227570"/>
            <a:ext cx="3121902" cy="297180"/>
          </a:xfrm>
          <a:prstGeom prst="rect">
            <a:avLst/>
          </a:prstGeom>
          <a:noFill/>
          <a:ln/>
        </p:spPr>
        <p:txBody>
          <a:bodyPr wrap="square" lIns="25400" tIns="25400" rIns="25400" bIns="25400" rtlCol="0" anchor="t">
            <a:normAutofit/>
          </a:bodyPr>
          <a:lstStyle/>
          <a:p>
            <a:pPr marL="0" indent="0" algn="ctr">
              <a:buNone/>
            </a:pPr>
            <a:r>
              <a:rPr lang="en-US" sz="1500" kern="0" spc="150" dirty="0">
                <a:solidFill>
                  <a:srgbClr val="BBBBBB"/>
                </a:solidFill>
                <a:latin typeface="Nunito Sans" pitchFamily="34" charset="0"/>
                <a:ea typeface="Nunito Sans" pitchFamily="34" charset="-122"/>
                <a:cs typeface="Nunito Sans" pitchFamily="34" charset="-120"/>
              </a:rPr>
              <a:t>SCIENTIFIC COORDINATOR</a:t>
            </a:r>
            <a:endParaRPr lang="en-US" sz="1500" dirty="0"/>
          </a:p>
        </p:txBody>
      </p:sp>
      <p:sp>
        <p:nvSpPr>
          <p:cNvPr id="12" name="Text 10"/>
          <p:cNvSpPr/>
          <p:nvPr/>
        </p:nvSpPr>
        <p:spPr>
          <a:xfrm>
            <a:off x="9583596" y="7562850"/>
            <a:ext cx="3121902" cy="373380"/>
          </a:xfrm>
          <a:prstGeom prst="rect">
            <a:avLst/>
          </a:prstGeom>
          <a:noFill/>
          <a:ln/>
        </p:spPr>
        <p:txBody>
          <a:bodyPr wrap="square" lIns="25400" tIns="25400" rIns="25400" bIns="25400" rtlCol="0" anchor="t">
            <a:normAutofit/>
          </a:bodyPr>
          <a:lstStyle/>
          <a:p>
            <a:pPr marL="0" indent="0" algn="ctr">
              <a:buNone/>
            </a:pPr>
            <a:r>
              <a:rPr lang="en-US" sz="2100" b="1" dirty="0">
                <a:solidFill>
                  <a:srgbClr val="1A1A1A"/>
                </a:solidFill>
                <a:latin typeface="Sora" pitchFamily="34" charset="0"/>
                <a:ea typeface="Sora" pitchFamily="34" charset="-122"/>
                <a:cs typeface="Sora" pitchFamily="34" charset="-120"/>
              </a:rPr>
              <a:t>Ph.D. Ovidiu Grigore</a:t>
            </a:r>
            <a:endParaRPr lang="en-US" sz="2100" dirty="0"/>
          </a:p>
        </p:txBody>
      </p:sp>
      <p:sp>
        <p:nvSpPr>
          <p:cNvPr id="13" name="Shape 11"/>
          <p:cNvSpPr/>
          <p:nvPr/>
        </p:nvSpPr>
        <p:spPr>
          <a:xfrm>
            <a:off x="0" y="8551572"/>
            <a:ext cx="18288000" cy="1735428"/>
          </a:xfrm>
          <a:prstGeom prst="rect">
            <a:avLst/>
          </a:prstGeom>
          <a:solidFill>
            <a:srgbClr val="1A1A1A"/>
          </a:solidFill>
          <a:ln/>
        </p:spPr>
        <p:txBody>
          <a:bodyPr/>
          <a:lstStyle/>
          <a:p>
            <a:endParaRPr lang="en-US" dirty="0"/>
          </a:p>
        </p:txBody>
      </p:sp>
      <p:sp>
        <p:nvSpPr>
          <p:cNvPr id="14" name="Text 12"/>
          <p:cNvSpPr/>
          <p:nvPr/>
        </p:nvSpPr>
        <p:spPr>
          <a:xfrm>
            <a:off x="5106691" y="8702040"/>
            <a:ext cx="8074617" cy="1487832"/>
          </a:xfrm>
          <a:prstGeom prst="rect">
            <a:avLst/>
          </a:prstGeom>
          <a:noFill/>
          <a:ln/>
        </p:spPr>
        <p:txBody>
          <a:bodyPr wrap="square" lIns="25400" tIns="25400" rIns="25400" bIns="25400" rtlCol="0" anchor="t">
            <a:noAutofit/>
          </a:bodyPr>
          <a:lstStyle/>
          <a:p>
            <a:pPr marL="0" indent="0" algn="ctr">
              <a:buNone/>
            </a:pPr>
            <a:r>
              <a:rPr lang="en-US" sz="3200" dirty="0">
                <a:solidFill>
                  <a:srgbClr val="FFFFFF">
                    <a:alpha val="60000"/>
                  </a:srgbClr>
                </a:solidFill>
                <a:latin typeface="Nunito Sans" pitchFamily="34" charset="0"/>
                <a:ea typeface="Nunito Sans" pitchFamily="34" charset="-122"/>
                <a:cs typeface="Nunito Sans" pitchFamily="34" charset="-120"/>
              </a:rPr>
              <a:t>Faculty of Electronics, Telecommunications and Information Technology ·</a:t>
            </a:r>
            <a:br>
              <a:rPr lang="en-US" sz="3200" dirty="0">
                <a:solidFill>
                  <a:srgbClr val="FFFFFF">
                    <a:alpha val="60000"/>
                  </a:srgbClr>
                </a:solidFill>
                <a:latin typeface="Nunito Sans" pitchFamily="34" charset="0"/>
                <a:ea typeface="Nunito Sans" pitchFamily="34" charset="-122"/>
                <a:cs typeface="Nunito Sans" pitchFamily="34" charset="-120"/>
              </a:rPr>
            </a:br>
            <a:r>
              <a:rPr lang="en-US" sz="3200" dirty="0">
                <a:solidFill>
                  <a:srgbClr val="FFFFFF">
                    <a:alpha val="60000"/>
                  </a:srgbClr>
                </a:solidFill>
                <a:latin typeface="Nunito Sans" pitchFamily="34" charset="0"/>
                <a:ea typeface="Nunito Sans" pitchFamily="34" charset="-122"/>
                <a:cs typeface="Nunito Sans" pitchFamily="34" charset="-120"/>
              </a:rPr>
              <a:t> 2026</a:t>
            </a:r>
            <a:endParaRPr lang="en-US" sz="3200" dirty="0"/>
          </a:p>
        </p:txBody>
      </p:sp>
      <p:sp>
        <p:nvSpPr>
          <p:cNvPr id="16" name="Freeform 11">
            <a:extLst>
              <a:ext uri="{FF2B5EF4-FFF2-40B4-BE49-F238E27FC236}">
                <a16:creationId xmlns:a16="http://schemas.microsoft.com/office/drawing/2014/main" id="{A0A5481C-505A-D830-49F4-943DC34AEE53}"/>
              </a:ext>
            </a:extLst>
          </p:cNvPr>
          <p:cNvSpPr/>
          <p:nvPr/>
        </p:nvSpPr>
        <p:spPr>
          <a:xfrm>
            <a:off x="7783074" y="1827236"/>
            <a:ext cx="2591849" cy="977863"/>
          </a:xfrm>
          <a:custGeom>
            <a:avLst/>
            <a:gdLst/>
            <a:ahLst/>
            <a:cxnLst/>
            <a:rect l="l" t="t" r="r" b="b"/>
            <a:pathLst>
              <a:path w="1421584" h="557905">
                <a:moveTo>
                  <a:pt x="0" y="0"/>
                </a:moveTo>
                <a:lnTo>
                  <a:pt x="1421585" y="0"/>
                </a:lnTo>
                <a:lnTo>
                  <a:pt x="1421585" y="557905"/>
                </a:lnTo>
                <a:lnTo>
                  <a:pt x="0" y="557905"/>
                </a:lnTo>
                <a:lnTo>
                  <a:pt x="0" y="0"/>
                </a:lnTo>
                <a:close/>
              </a:path>
            </a:pathLst>
          </a:custGeom>
          <a:blipFill>
            <a:blip r:embed="rId3"/>
            <a:stretch>
              <a:fillRect/>
            </a:stretch>
          </a:blipFill>
        </p:spPr>
        <p:txBody>
          <a:bodyPr/>
          <a:lstStyle/>
          <a:p>
            <a:endParaRPr lang="en-US" dirty="0"/>
          </a:p>
        </p:txBody>
      </p:sp>
      <p:pic>
        <p:nvPicPr>
          <p:cNvPr id="3" name="Picture 2" descr="UPB Logo">
            <a:extLst>
              <a:ext uri="{FF2B5EF4-FFF2-40B4-BE49-F238E27FC236}">
                <a16:creationId xmlns:a16="http://schemas.microsoft.com/office/drawing/2014/main" id="{DF08B235-A2FA-3C1F-B92F-EDE3507C0A86}"/>
              </a:ext>
            </a:extLst>
          </p:cNvPr>
          <p:cNvPicPr>
            <a:picLocks noChangeAspect="1"/>
          </p:cNvPicPr>
          <p:nvPr/>
        </p:nvPicPr>
        <p:blipFill>
          <a:blip r:embed="rId4"/>
          <a:stretch>
            <a:fillRect/>
          </a:stretch>
        </p:blipFill>
        <p:spPr>
          <a:xfrm>
            <a:off x="8442594" y="386327"/>
            <a:ext cx="1402809" cy="140280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407128"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00</a:t>
            </a:r>
            <a:endParaRPr lang="en-US" sz="6600" dirty="0">
              <a:solidFill>
                <a:schemeClr val="accent2"/>
              </a:solidFill>
            </a:endParaRPr>
          </a:p>
        </p:txBody>
      </p:sp>
      <p:sp>
        <p:nvSpPr>
          <p:cNvPr id="3" name="Text 1"/>
          <p:cNvSpPr/>
          <p:nvPr/>
        </p:nvSpPr>
        <p:spPr>
          <a:xfrm>
            <a:off x="2422208" y="830580"/>
            <a:ext cx="5925420"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Presentation Structure</a:t>
            </a:r>
            <a:endParaRPr lang="en-US" sz="3600" dirty="0"/>
          </a:p>
        </p:txBody>
      </p:sp>
      <p:sp>
        <p:nvSpPr>
          <p:cNvPr id="4" name="Shape 2"/>
          <p:cNvSpPr/>
          <p:nvPr/>
        </p:nvSpPr>
        <p:spPr>
          <a:xfrm>
            <a:off x="952500" y="3025140"/>
            <a:ext cx="8058150" cy="1066800"/>
          </a:xfrm>
          <a:prstGeom prst="roundRect">
            <a:avLst>
              <a:gd name="adj" fmla="val 7143"/>
            </a:avLst>
          </a:prstGeom>
          <a:solidFill>
            <a:srgbClr val="F5F3F0"/>
          </a:solidFill>
          <a:ln/>
        </p:spPr>
        <p:txBody>
          <a:bodyPr/>
          <a:lstStyle/>
          <a:p>
            <a:endParaRPr lang="en-US" sz="2000" dirty="0"/>
          </a:p>
        </p:txBody>
      </p:sp>
      <p:sp>
        <p:nvSpPr>
          <p:cNvPr id="5" name="Text 3"/>
          <p:cNvSpPr/>
          <p:nvPr/>
        </p:nvSpPr>
        <p:spPr>
          <a:xfrm>
            <a:off x="1219200" y="33413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1</a:t>
            </a:r>
            <a:endParaRPr lang="en-US" sz="2800" dirty="0"/>
          </a:p>
        </p:txBody>
      </p:sp>
      <p:sp>
        <p:nvSpPr>
          <p:cNvPr id="6" name="Text 4"/>
          <p:cNvSpPr/>
          <p:nvPr/>
        </p:nvSpPr>
        <p:spPr>
          <a:xfrm>
            <a:off x="1828800" y="3253740"/>
            <a:ext cx="4636556"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Introduction to Sleep</a:t>
            </a:r>
            <a:endParaRPr lang="en-US" sz="2000" dirty="0"/>
          </a:p>
        </p:txBody>
      </p:sp>
      <p:sp>
        <p:nvSpPr>
          <p:cNvPr id="7" name="Text 5"/>
          <p:cNvSpPr/>
          <p:nvPr/>
        </p:nvSpPr>
        <p:spPr>
          <a:xfrm>
            <a:off x="1828800" y="3604260"/>
            <a:ext cx="6518828" cy="29718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Sleep stages, cycles, and why monitoring matters</a:t>
            </a:r>
            <a:endParaRPr lang="en-US" sz="2000" dirty="0"/>
          </a:p>
        </p:txBody>
      </p:sp>
      <p:sp>
        <p:nvSpPr>
          <p:cNvPr id="8" name="Shape 6"/>
          <p:cNvSpPr/>
          <p:nvPr/>
        </p:nvSpPr>
        <p:spPr>
          <a:xfrm>
            <a:off x="9277350" y="3025140"/>
            <a:ext cx="8058150" cy="1066800"/>
          </a:xfrm>
          <a:prstGeom prst="roundRect">
            <a:avLst>
              <a:gd name="adj" fmla="val 7143"/>
            </a:avLst>
          </a:prstGeom>
          <a:solidFill>
            <a:srgbClr val="F5F3F0"/>
          </a:solidFill>
          <a:ln/>
        </p:spPr>
        <p:txBody>
          <a:bodyPr/>
          <a:lstStyle/>
          <a:p>
            <a:endParaRPr lang="en-US" sz="2000"/>
          </a:p>
        </p:txBody>
      </p:sp>
      <p:sp>
        <p:nvSpPr>
          <p:cNvPr id="9" name="Text 7"/>
          <p:cNvSpPr/>
          <p:nvPr/>
        </p:nvSpPr>
        <p:spPr>
          <a:xfrm>
            <a:off x="9544050" y="33413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2</a:t>
            </a:r>
            <a:endParaRPr lang="en-US" sz="2800" dirty="0"/>
          </a:p>
        </p:txBody>
      </p:sp>
      <p:sp>
        <p:nvSpPr>
          <p:cNvPr id="10" name="Text 8"/>
          <p:cNvSpPr/>
          <p:nvPr/>
        </p:nvSpPr>
        <p:spPr>
          <a:xfrm>
            <a:off x="10153650" y="3253740"/>
            <a:ext cx="4187333"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Motivation</a:t>
            </a:r>
            <a:endParaRPr lang="en-US" sz="2000" dirty="0"/>
          </a:p>
        </p:txBody>
      </p:sp>
      <p:sp>
        <p:nvSpPr>
          <p:cNvPr id="11" name="Text 9"/>
          <p:cNvSpPr/>
          <p:nvPr/>
        </p:nvSpPr>
        <p:spPr>
          <a:xfrm>
            <a:off x="10153650" y="3604260"/>
            <a:ext cx="5416908" cy="34290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PSG vs commercial wearables vs this project</a:t>
            </a:r>
            <a:endParaRPr lang="en-US" sz="2000" dirty="0"/>
          </a:p>
        </p:txBody>
      </p:sp>
      <p:sp>
        <p:nvSpPr>
          <p:cNvPr id="12" name="Shape 10"/>
          <p:cNvSpPr/>
          <p:nvPr/>
        </p:nvSpPr>
        <p:spPr>
          <a:xfrm>
            <a:off x="952500" y="4244340"/>
            <a:ext cx="8058150" cy="1066800"/>
          </a:xfrm>
          <a:prstGeom prst="roundRect">
            <a:avLst>
              <a:gd name="adj" fmla="val 7143"/>
            </a:avLst>
          </a:prstGeom>
          <a:solidFill>
            <a:srgbClr val="F5F3F0"/>
          </a:solidFill>
          <a:ln/>
        </p:spPr>
        <p:txBody>
          <a:bodyPr/>
          <a:lstStyle/>
          <a:p>
            <a:endParaRPr lang="en-US" sz="2000"/>
          </a:p>
        </p:txBody>
      </p:sp>
      <p:sp>
        <p:nvSpPr>
          <p:cNvPr id="13" name="Text 11"/>
          <p:cNvSpPr/>
          <p:nvPr/>
        </p:nvSpPr>
        <p:spPr>
          <a:xfrm>
            <a:off x="1219200" y="45605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3</a:t>
            </a:r>
            <a:endParaRPr lang="en-US" sz="2800" dirty="0"/>
          </a:p>
        </p:txBody>
      </p:sp>
      <p:sp>
        <p:nvSpPr>
          <p:cNvPr id="14" name="Text 12"/>
          <p:cNvSpPr/>
          <p:nvPr/>
        </p:nvSpPr>
        <p:spPr>
          <a:xfrm>
            <a:off x="1828800" y="4472940"/>
            <a:ext cx="4552998"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System Architecture &amp; Hardware</a:t>
            </a:r>
            <a:endParaRPr lang="en-US" sz="2000" dirty="0"/>
          </a:p>
        </p:txBody>
      </p:sp>
      <p:sp>
        <p:nvSpPr>
          <p:cNvPr id="15" name="Text 13"/>
          <p:cNvSpPr/>
          <p:nvPr/>
        </p:nvSpPr>
        <p:spPr>
          <a:xfrm>
            <a:off x="1828800" y="4823460"/>
            <a:ext cx="6954592" cy="19812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ESP32-C3, sensors, wearable integration</a:t>
            </a:r>
            <a:endParaRPr lang="en-US" sz="2000" dirty="0"/>
          </a:p>
        </p:txBody>
      </p:sp>
      <p:sp>
        <p:nvSpPr>
          <p:cNvPr id="16" name="Shape 14"/>
          <p:cNvSpPr/>
          <p:nvPr/>
        </p:nvSpPr>
        <p:spPr>
          <a:xfrm>
            <a:off x="9277350" y="4244340"/>
            <a:ext cx="8058150" cy="1066800"/>
          </a:xfrm>
          <a:prstGeom prst="roundRect">
            <a:avLst>
              <a:gd name="adj" fmla="val 7143"/>
            </a:avLst>
          </a:prstGeom>
          <a:solidFill>
            <a:srgbClr val="F5F3F0"/>
          </a:solidFill>
          <a:ln/>
        </p:spPr>
        <p:txBody>
          <a:bodyPr/>
          <a:lstStyle/>
          <a:p>
            <a:endParaRPr lang="en-US" sz="2000"/>
          </a:p>
        </p:txBody>
      </p:sp>
      <p:sp>
        <p:nvSpPr>
          <p:cNvPr id="17" name="Text 15"/>
          <p:cNvSpPr/>
          <p:nvPr/>
        </p:nvSpPr>
        <p:spPr>
          <a:xfrm>
            <a:off x="9544050" y="45605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4</a:t>
            </a:r>
            <a:endParaRPr lang="en-US" sz="2800" dirty="0"/>
          </a:p>
        </p:txBody>
      </p:sp>
      <p:sp>
        <p:nvSpPr>
          <p:cNvPr id="18" name="Text 16"/>
          <p:cNvSpPr/>
          <p:nvPr/>
        </p:nvSpPr>
        <p:spPr>
          <a:xfrm>
            <a:off x="10153650" y="4472940"/>
            <a:ext cx="4571726"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Data Acquisition &amp; Dashboard</a:t>
            </a:r>
            <a:endParaRPr lang="en-US" sz="2000" dirty="0"/>
          </a:p>
        </p:txBody>
      </p:sp>
      <p:sp>
        <p:nvSpPr>
          <p:cNvPr id="19" name="Text 17"/>
          <p:cNvSpPr/>
          <p:nvPr/>
        </p:nvSpPr>
        <p:spPr>
          <a:xfrm>
            <a:off x="10153650" y="4823460"/>
            <a:ext cx="6035094" cy="29718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Firmware, server, SQLite storage, live monitoring</a:t>
            </a:r>
            <a:endParaRPr lang="en-US" sz="2000" dirty="0"/>
          </a:p>
        </p:txBody>
      </p:sp>
      <p:sp>
        <p:nvSpPr>
          <p:cNvPr id="20" name="Shape 18"/>
          <p:cNvSpPr/>
          <p:nvPr/>
        </p:nvSpPr>
        <p:spPr>
          <a:xfrm>
            <a:off x="952500" y="5463540"/>
            <a:ext cx="8058150" cy="1066800"/>
          </a:xfrm>
          <a:prstGeom prst="roundRect">
            <a:avLst>
              <a:gd name="adj" fmla="val 7143"/>
            </a:avLst>
          </a:prstGeom>
          <a:solidFill>
            <a:srgbClr val="F5F3F0"/>
          </a:solidFill>
          <a:ln/>
        </p:spPr>
        <p:txBody>
          <a:bodyPr/>
          <a:lstStyle/>
          <a:p>
            <a:endParaRPr lang="en-US" sz="2000"/>
          </a:p>
        </p:txBody>
      </p:sp>
      <p:sp>
        <p:nvSpPr>
          <p:cNvPr id="21" name="Text 19"/>
          <p:cNvSpPr/>
          <p:nvPr/>
        </p:nvSpPr>
        <p:spPr>
          <a:xfrm>
            <a:off x="1219200" y="57797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5</a:t>
            </a:r>
            <a:endParaRPr lang="en-US" sz="2800" dirty="0"/>
          </a:p>
        </p:txBody>
      </p:sp>
      <p:sp>
        <p:nvSpPr>
          <p:cNvPr id="22" name="Text 20"/>
          <p:cNvSpPr/>
          <p:nvPr/>
        </p:nvSpPr>
        <p:spPr>
          <a:xfrm>
            <a:off x="1828800" y="5692140"/>
            <a:ext cx="4179213"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Signal Processing &amp; Features</a:t>
            </a:r>
            <a:endParaRPr lang="en-US" sz="2000" dirty="0"/>
          </a:p>
        </p:txBody>
      </p:sp>
      <p:sp>
        <p:nvSpPr>
          <p:cNvPr id="23" name="Text 21"/>
          <p:cNvSpPr/>
          <p:nvPr/>
        </p:nvSpPr>
        <p:spPr>
          <a:xfrm>
            <a:off x="1828800" y="6042660"/>
            <a:ext cx="6156101" cy="22860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Filtering, 21 features per 30-second window</a:t>
            </a:r>
            <a:endParaRPr lang="en-US" sz="2000" dirty="0"/>
          </a:p>
        </p:txBody>
      </p:sp>
      <p:sp>
        <p:nvSpPr>
          <p:cNvPr id="24" name="Shape 22"/>
          <p:cNvSpPr/>
          <p:nvPr/>
        </p:nvSpPr>
        <p:spPr>
          <a:xfrm>
            <a:off x="9277350" y="5463540"/>
            <a:ext cx="8058150" cy="1066800"/>
          </a:xfrm>
          <a:prstGeom prst="roundRect">
            <a:avLst>
              <a:gd name="adj" fmla="val 7143"/>
            </a:avLst>
          </a:prstGeom>
          <a:solidFill>
            <a:srgbClr val="F5F3F0"/>
          </a:solidFill>
          <a:ln/>
        </p:spPr>
        <p:txBody>
          <a:bodyPr/>
          <a:lstStyle/>
          <a:p>
            <a:endParaRPr lang="en-US" sz="2000"/>
          </a:p>
        </p:txBody>
      </p:sp>
      <p:sp>
        <p:nvSpPr>
          <p:cNvPr id="25" name="Text 23"/>
          <p:cNvSpPr/>
          <p:nvPr/>
        </p:nvSpPr>
        <p:spPr>
          <a:xfrm>
            <a:off x="9544050" y="57797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6</a:t>
            </a:r>
            <a:endParaRPr lang="en-US" sz="2800" dirty="0"/>
          </a:p>
        </p:txBody>
      </p:sp>
      <p:sp>
        <p:nvSpPr>
          <p:cNvPr id="26" name="Text 24"/>
          <p:cNvSpPr/>
          <p:nvPr/>
        </p:nvSpPr>
        <p:spPr>
          <a:xfrm>
            <a:off x="10153650" y="5692140"/>
            <a:ext cx="4207109"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Sleep Stage Classification</a:t>
            </a:r>
            <a:endParaRPr lang="en-US" sz="2000" dirty="0"/>
          </a:p>
        </p:txBody>
      </p:sp>
      <p:sp>
        <p:nvSpPr>
          <p:cNvPr id="27" name="Text 25"/>
          <p:cNvSpPr/>
          <p:nvPr/>
        </p:nvSpPr>
        <p:spPr>
          <a:xfrm>
            <a:off x="10153650" y="6042660"/>
            <a:ext cx="5545696" cy="29718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K-Means clustering, physiological rules, KNN</a:t>
            </a:r>
            <a:endParaRPr lang="en-US" sz="2000" dirty="0"/>
          </a:p>
        </p:txBody>
      </p:sp>
      <p:sp>
        <p:nvSpPr>
          <p:cNvPr id="28" name="Shape 26"/>
          <p:cNvSpPr/>
          <p:nvPr/>
        </p:nvSpPr>
        <p:spPr>
          <a:xfrm>
            <a:off x="952500" y="6682740"/>
            <a:ext cx="8058150" cy="1066800"/>
          </a:xfrm>
          <a:prstGeom prst="roundRect">
            <a:avLst>
              <a:gd name="adj" fmla="val 7143"/>
            </a:avLst>
          </a:prstGeom>
          <a:solidFill>
            <a:srgbClr val="F5F3F0"/>
          </a:solidFill>
          <a:ln/>
        </p:spPr>
        <p:txBody>
          <a:bodyPr/>
          <a:lstStyle/>
          <a:p>
            <a:endParaRPr lang="en-US" sz="2000"/>
          </a:p>
        </p:txBody>
      </p:sp>
      <p:sp>
        <p:nvSpPr>
          <p:cNvPr id="29" name="Text 27"/>
          <p:cNvSpPr/>
          <p:nvPr/>
        </p:nvSpPr>
        <p:spPr>
          <a:xfrm>
            <a:off x="1219200" y="69989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7</a:t>
            </a:r>
            <a:endParaRPr lang="en-US" sz="2800" dirty="0"/>
          </a:p>
        </p:txBody>
      </p:sp>
      <p:sp>
        <p:nvSpPr>
          <p:cNvPr id="30" name="Text 28"/>
          <p:cNvSpPr/>
          <p:nvPr/>
        </p:nvSpPr>
        <p:spPr>
          <a:xfrm>
            <a:off x="1828800" y="6911340"/>
            <a:ext cx="3772555"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Results &amp; Validation</a:t>
            </a:r>
            <a:endParaRPr lang="en-US" sz="2000" dirty="0"/>
          </a:p>
        </p:txBody>
      </p:sp>
      <p:sp>
        <p:nvSpPr>
          <p:cNvPr id="31" name="Text 29"/>
          <p:cNvSpPr/>
          <p:nvPr/>
        </p:nvSpPr>
        <p:spPr>
          <a:xfrm>
            <a:off x="1828800" y="7261860"/>
            <a:ext cx="5847008" cy="15240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10 sessions, hypnograms, quality scores</a:t>
            </a:r>
            <a:endParaRPr lang="en-US" sz="2000" dirty="0"/>
          </a:p>
        </p:txBody>
      </p:sp>
      <p:sp>
        <p:nvSpPr>
          <p:cNvPr id="32" name="Shape 30"/>
          <p:cNvSpPr/>
          <p:nvPr/>
        </p:nvSpPr>
        <p:spPr>
          <a:xfrm>
            <a:off x="9277350" y="6682740"/>
            <a:ext cx="8058150" cy="1066800"/>
          </a:xfrm>
          <a:prstGeom prst="roundRect">
            <a:avLst>
              <a:gd name="adj" fmla="val 7143"/>
            </a:avLst>
          </a:prstGeom>
          <a:solidFill>
            <a:srgbClr val="F5F3F0"/>
          </a:solidFill>
          <a:ln/>
        </p:spPr>
        <p:txBody>
          <a:bodyPr/>
          <a:lstStyle/>
          <a:p>
            <a:endParaRPr lang="en-US" sz="2000"/>
          </a:p>
        </p:txBody>
      </p:sp>
      <p:sp>
        <p:nvSpPr>
          <p:cNvPr id="33" name="Text 31"/>
          <p:cNvSpPr/>
          <p:nvPr/>
        </p:nvSpPr>
        <p:spPr>
          <a:xfrm>
            <a:off x="9544050" y="6998970"/>
            <a:ext cx="495300" cy="472440"/>
          </a:xfrm>
          <a:prstGeom prst="rect">
            <a:avLst/>
          </a:prstGeom>
          <a:noFill/>
          <a:ln/>
        </p:spPr>
        <p:txBody>
          <a:bodyPr wrap="square" lIns="25400" tIns="25400" rIns="25400" bIns="25400" rtlCol="0" anchor="t">
            <a:noAutofit/>
          </a:bodyPr>
          <a:lstStyle/>
          <a:p>
            <a:pPr marL="0" indent="0" algn="l">
              <a:buNone/>
            </a:pPr>
            <a:r>
              <a:rPr lang="en-US" sz="2800" b="1" dirty="0">
                <a:solidFill>
                  <a:srgbClr val="C0562B"/>
                </a:solidFill>
                <a:latin typeface="Sora" pitchFamily="34" charset="0"/>
                <a:ea typeface="Sora" pitchFamily="34" charset="-122"/>
                <a:cs typeface="Sora" pitchFamily="34" charset="-120"/>
              </a:rPr>
              <a:t>8</a:t>
            </a:r>
            <a:endParaRPr lang="en-US" sz="2800" dirty="0"/>
          </a:p>
        </p:txBody>
      </p:sp>
      <p:sp>
        <p:nvSpPr>
          <p:cNvPr id="34" name="Text 32"/>
          <p:cNvSpPr/>
          <p:nvPr/>
        </p:nvSpPr>
        <p:spPr>
          <a:xfrm>
            <a:off x="10153650" y="6911340"/>
            <a:ext cx="3770067" cy="350520"/>
          </a:xfrm>
          <a:prstGeom prst="rect">
            <a:avLst/>
          </a:prstGeom>
          <a:noFill/>
          <a:ln/>
        </p:spPr>
        <p:txBody>
          <a:bodyPr wrap="square" lIns="25400" tIns="25400" rIns="25400" bIns="25400" rtlCol="0" anchor="t">
            <a:noAutofit/>
          </a:bodyPr>
          <a:lstStyle/>
          <a:p>
            <a:pPr marL="0" indent="0" algn="l">
              <a:buNone/>
            </a:pPr>
            <a:r>
              <a:rPr lang="en-US" sz="2000" b="1" dirty="0">
                <a:solidFill>
                  <a:srgbClr val="1A1A1A"/>
                </a:solidFill>
                <a:latin typeface="Sora" pitchFamily="34" charset="0"/>
                <a:ea typeface="Sora" pitchFamily="34" charset="-122"/>
                <a:cs typeface="Sora" pitchFamily="34" charset="-120"/>
              </a:rPr>
              <a:t>Conclusions &amp; Future Work</a:t>
            </a:r>
            <a:endParaRPr lang="en-US" sz="2000" dirty="0"/>
          </a:p>
        </p:txBody>
      </p:sp>
      <p:sp>
        <p:nvSpPr>
          <p:cNvPr id="35" name="Text 33"/>
          <p:cNvSpPr/>
          <p:nvPr/>
        </p:nvSpPr>
        <p:spPr>
          <a:xfrm>
            <a:off x="10153650" y="7261860"/>
            <a:ext cx="5816153" cy="228600"/>
          </a:xfrm>
          <a:prstGeom prst="rect">
            <a:avLst/>
          </a:prstGeom>
          <a:noFill/>
          <a:ln/>
        </p:spPr>
        <p:txBody>
          <a:bodyPr wrap="square" lIns="25400" tIns="25400" rIns="25400" bIns="25400" rtlCol="0" anchor="t">
            <a:noAutofit/>
          </a:bodyPr>
          <a:lstStyle/>
          <a:p>
            <a:pPr marL="0" indent="0" algn="l">
              <a:buNone/>
            </a:pPr>
            <a:r>
              <a:rPr lang="en-US" sz="2000" dirty="0">
                <a:solidFill>
                  <a:srgbClr val="999999"/>
                </a:solidFill>
                <a:latin typeface="Nunito Sans" pitchFamily="34" charset="0"/>
                <a:ea typeface="Nunito Sans" pitchFamily="34" charset="-122"/>
                <a:cs typeface="Nunito Sans" pitchFamily="34" charset="-120"/>
              </a:rPr>
              <a:t>Achievements, limitations, next steps</a:t>
            </a:r>
            <a:endParaRPr lang="en-US" sz="2000" dirty="0"/>
          </a:p>
        </p:txBody>
      </p:sp>
      <p:sp>
        <p:nvSpPr>
          <p:cNvPr id="36" name="Shape 34"/>
          <p:cNvSpPr/>
          <p:nvPr/>
        </p:nvSpPr>
        <p:spPr>
          <a:xfrm>
            <a:off x="0" y="9629775"/>
            <a:ext cx="18288000" cy="9525"/>
          </a:xfrm>
          <a:prstGeom prst="rect">
            <a:avLst/>
          </a:prstGeom>
          <a:solidFill>
            <a:srgbClr val="EEEEEE"/>
          </a:solidFill>
          <a:ln/>
        </p:spPr>
        <p:txBody>
          <a:bodyPr/>
          <a:lstStyle/>
          <a:p>
            <a:endParaRPr lang="en-US"/>
          </a:p>
        </p:txBody>
      </p:sp>
      <p:sp>
        <p:nvSpPr>
          <p:cNvPr id="37" name="Text 35"/>
          <p:cNvSpPr/>
          <p:nvPr/>
        </p:nvSpPr>
        <p:spPr>
          <a:xfrm>
            <a:off x="952500" y="9837420"/>
            <a:ext cx="897017"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Overview</a:t>
            </a:r>
            <a:endParaRPr lang="en-US" sz="1500" dirty="0">
              <a:solidFill>
                <a:schemeClr val="accent2"/>
              </a:solidFill>
            </a:endParaRPr>
          </a:p>
        </p:txBody>
      </p:sp>
      <p:sp>
        <p:nvSpPr>
          <p:cNvPr id="38" name="Text 36"/>
          <p:cNvSpPr/>
          <p:nvPr/>
        </p:nvSpPr>
        <p:spPr>
          <a:xfrm>
            <a:off x="16721614" y="9848850"/>
            <a:ext cx="690086"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02 / 17</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074539"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01</a:t>
            </a:r>
            <a:endParaRPr lang="en-US" sz="6600" dirty="0">
              <a:solidFill>
                <a:schemeClr val="accent2"/>
              </a:solidFill>
            </a:endParaRPr>
          </a:p>
        </p:txBody>
      </p:sp>
      <p:sp>
        <p:nvSpPr>
          <p:cNvPr id="3" name="Text 1"/>
          <p:cNvSpPr/>
          <p:nvPr/>
        </p:nvSpPr>
        <p:spPr>
          <a:xfrm>
            <a:off x="2141339" y="830580"/>
            <a:ext cx="5553599"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Introduction to Sleep</a:t>
            </a:r>
            <a:endParaRPr lang="en-US" sz="3600" dirty="0"/>
          </a:p>
        </p:txBody>
      </p:sp>
      <p:sp>
        <p:nvSpPr>
          <p:cNvPr id="4" name="Text 2"/>
          <p:cNvSpPr/>
          <p:nvPr/>
        </p:nvSpPr>
        <p:spPr>
          <a:xfrm>
            <a:off x="952500" y="1668780"/>
            <a:ext cx="13735050"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666666"/>
                </a:solidFill>
                <a:latin typeface="Nunito Sans" pitchFamily="34" charset="0"/>
                <a:ea typeface="Nunito Sans" pitchFamily="34" charset="-122"/>
                <a:cs typeface="Nunito Sans" pitchFamily="34" charset="-120"/>
              </a:rPr>
              <a:t>Sleep occupies roughly one third of human life and is essential for physical recovery, memory consolidation, and emotional regulation. The AASM classifies sleep into four stages based on brain, muscle, and eye activity.</a:t>
            </a:r>
            <a:endParaRPr lang="en-US" sz="1950" dirty="0"/>
          </a:p>
        </p:txBody>
      </p:sp>
      <p:sp>
        <p:nvSpPr>
          <p:cNvPr id="5" name="Shape 3"/>
          <p:cNvSpPr/>
          <p:nvPr/>
        </p:nvSpPr>
        <p:spPr>
          <a:xfrm>
            <a:off x="1066800" y="2564130"/>
            <a:ext cx="3952875" cy="3414565"/>
          </a:xfrm>
          <a:prstGeom prst="rect">
            <a:avLst/>
          </a:prstGeom>
          <a:solidFill>
            <a:srgbClr val="FAFAFA"/>
          </a:solidFill>
          <a:ln/>
        </p:spPr>
        <p:txBody>
          <a:bodyPr/>
          <a:lstStyle/>
          <a:p>
            <a:endParaRPr lang="en-US" dirty="0"/>
          </a:p>
        </p:txBody>
      </p:sp>
      <p:sp>
        <p:nvSpPr>
          <p:cNvPr id="6" name="Shape 4"/>
          <p:cNvSpPr/>
          <p:nvPr/>
        </p:nvSpPr>
        <p:spPr>
          <a:xfrm>
            <a:off x="952500" y="2602230"/>
            <a:ext cx="3952875" cy="22860"/>
          </a:xfrm>
          <a:prstGeom prst="rect">
            <a:avLst/>
          </a:prstGeom>
          <a:solidFill>
            <a:srgbClr val="C0562B"/>
          </a:solidFill>
          <a:ln/>
        </p:spPr>
        <p:txBody>
          <a:bodyPr/>
          <a:lstStyle/>
          <a:p>
            <a:endParaRPr lang="en-US"/>
          </a:p>
        </p:txBody>
      </p:sp>
      <p:sp>
        <p:nvSpPr>
          <p:cNvPr id="7" name="Text 5"/>
          <p:cNvSpPr/>
          <p:nvPr/>
        </p:nvSpPr>
        <p:spPr>
          <a:xfrm>
            <a:off x="1143000" y="2853690"/>
            <a:ext cx="577716"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Sora" pitchFamily="34" charset="0"/>
                <a:ea typeface="Sora" pitchFamily="34" charset="-122"/>
                <a:cs typeface="Sora" pitchFamily="34" charset="-120"/>
              </a:rPr>
              <a:t>N1</a:t>
            </a:r>
            <a:endParaRPr lang="en-US" sz="2400" dirty="0"/>
          </a:p>
        </p:txBody>
      </p:sp>
      <p:sp>
        <p:nvSpPr>
          <p:cNvPr id="8" name="Text 6"/>
          <p:cNvSpPr/>
          <p:nvPr/>
        </p:nvSpPr>
        <p:spPr>
          <a:xfrm>
            <a:off x="4040862" y="2945130"/>
            <a:ext cx="750213"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C0562B"/>
                </a:solidFill>
                <a:latin typeface="Sora" pitchFamily="34" charset="0"/>
                <a:ea typeface="Sora" pitchFamily="34" charset="-122"/>
                <a:cs typeface="Sora" pitchFamily="34" charset="-120"/>
              </a:rPr>
              <a:t>5–10%</a:t>
            </a:r>
            <a:endParaRPr lang="en-US" sz="1650" dirty="0"/>
          </a:p>
        </p:txBody>
      </p:sp>
      <p:sp>
        <p:nvSpPr>
          <p:cNvPr id="9" name="Text 7"/>
          <p:cNvSpPr/>
          <p:nvPr/>
        </p:nvSpPr>
        <p:spPr>
          <a:xfrm>
            <a:off x="1143000" y="3299460"/>
            <a:ext cx="3929063" cy="27432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999999"/>
                </a:solidFill>
                <a:latin typeface="Sora" pitchFamily="34" charset="0"/>
                <a:ea typeface="Sora" pitchFamily="34" charset="-122"/>
                <a:cs typeface="Sora" pitchFamily="34" charset="-120"/>
              </a:rPr>
              <a:t>Light Transition</a:t>
            </a:r>
            <a:endParaRPr lang="en-US" sz="1500" dirty="0"/>
          </a:p>
        </p:txBody>
      </p:sp>
      <p:sp>
        <p:nvSpPr>
          <p:cNvPr id="10" name="Text 8"/>
          <p:cNvSpPr/>
          <p:nvPr/>
        </p:nvSpPr>
        <p:spPr>
          <a:xfrm>
            <a:off x="1143000" y="3592830"/>
            <a:ext cx="3679031" cy="6248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650" dirty="0">
                <a:solidFill>
                  <a:srgbClr val="666666"/>
                </a:solidFill>
                <a:latin typeface="Nunito Sans" pitchFamily="34" charset="0"/>
                <a:ea typeface="Nunito Sans" pitchFamily="34" charset="-122"/>
                <a:cs typeface="Nunito Sans" pitchFamily="34" charset="-120"/>
              </a:rPr>
              <a:t>Theta waves replace alpha. Transition from wakefulness. Easy to wake.</a:t>
            </a:r>
            <a:endParaRPr lang="en-US" sz="1650" dirty="0"/>
          </a:p>
        </p:txBody>
      </p:sp>
      <p:sp>
        <p:nvSpPr>
          <p:cNvPr id="11" name="Shape 9"/>
          <p:cNvSpPr/>
          <p:nvPr/>
        </p:nvSpPr>
        <p:spPr>
          <a:xfrm>
            <a:off x="5095875" y="2602230"/>
            <a:ext cx="3952875" cy="3376465"/>
          </a:xfrm>
          <a:prstGeom prst="rect">
            <a:avLst/>
          </a:prstGeom>
          <a:solidFill>
            <a:srgbClr val="FAFAFA"/>
          </a:solidFill>
          <a:ln/>
        </p:spPr>
        <p:txBody>
          <a:bodyPr/>
          <a:lstStyle/>
          <a:p>
            <a:endParaRPr lang="en-US"/>
          </a:p>
        </p:txBody>
      </p:sp>
      <p:sp>
        <p:nvSpPr>
          <p:cNvPr id="12" name="Shape 10"/>
          <p:cNvSpPr/>
          <p:nvPr/>
        </p:nvSpPr>
        <p:spPr>
          <a:xfrm>
            <a:off x="5095875" y="2602230"/>
            <a:ext cx="3952875" cy="22860"/>
          </a:xfrm>
          <a:prstGeom prst="rect">
            <a:avLst/>
          </a:prstGeom>
          <a:solidFill>
            <a:srgbClr val="C0562B"/>
          </a:solidFill>
          <a:ln/>
        </p:spPr>
        <p:txBody>
          <a:bodyPr/>
          <a:lstStyle/>
          <a:p>
            <a:endParaRPr lang="en-US"/>
          </a:p>
        </p:txBody>
      </p:sp>
      <p:sp>
        <p:nvSpPr>
          <p:cNvPr id="13" name="Text 11"/>
          <p:cNvSpPr/>
          <p:nvPr/>
        </p:nvSpPr>
        <p:spPr>
          <a:xfrm>
            <a:off x="5286375" y="2853690"/>
            <a:ext cx="535900"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Sora" pitchFamily="34" charset="0"/>
                <a:ea typeface="Sora" pitchFamily="34" charset="-122"/>
                <a:cs typeface="Sora" pitchFamily="34" charset="-120"/>
              </a:rPr>
              <a:t>N2</a:t>
            </a:r>
            <a:endParaRPr lang="en-US" sz="2400" dirty="0"/>
          </a:p>
        </p:txBody>
      </p:sp>
      <p:sp>
        <p:nvSpPr>
          <p:cNvPr id="14" name="Text 12"/>
          <p:cNvSpPr/>
          <p:nvPr/>
        </p:nvSpPr>
        <p:spPr>
          <a:xfrm>
            <a:off x="8026122" y="2945130"/>
            <a:ext cx="908328"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C0562B"/>
                </a:solidFill>
                <a:latin typeface="Sora" pitchFamily="34" charset="0"/>
                <a:ea typeface="Sora" pitchFamily="34" charset="-122"/>
                <a:cs typeface="Sora" pitchFamily="34" charset="-120"/>
              </a:rPr>
              <a:t>45–55%</a:t>
            </a:r>
            <a:endParaRPr lang="en-US" sz="1650" dirty="0"/>
          </a:p>
        </p:txBody>
      </p:sp>
      <p:sp>
        <p:nvSpPr>
          <p:cNvPr id="15" name="Text 13"/>
          <p:cNvSpPr/>
          <p:nvPr/>
        </p:nvSpPr>
        <p:spPr>
          <a:xfrm>
            <a:off x="5286375" y="3299460"/>
            <a:ext cx="3929063" cy="27432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999999"/>
                </a:solidFill>
                <a:latin typeface="Sora" pitchFamily="34" charset="0"/>
                <a:ea typeface="Sora" pitchFamily="34" charset="-122"/>
                <a:cs typeface="Sora" pitchFamily="34" charset="-120"/>
              </a:rPr>
              <a:t>Light Sleep</a:t>
            </a:r>
            <a:endParaRPr lang="en-US" sz="1500" dirty="0"/>
          </a:p>
        </p:txBody>
      </p:sp>
      <p:sp>
        <p:nvSpPr>
          <p:cNvPr id="16" name="Text 14"/>
          <p:cNvSpPr/>
          <p:nvPr/>
        </p:nvSpPr>
        <p:spPr>
          <a:xfrm>
            <a:off x="5286375" y="3592830"/>
            <a:ext cx="3679031" cy="91821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650" dirty="0">
                <a:solidFill>
                  <a:srgbClr val="666666"/>
                </a:solidFill>
                <a:latin typeface="Nunito Sans" pitchFamily="34" charset="0"/>
                <a:ea typeface="Nunito Sans" pitchFamily="34" charset="-122"/>
                <a:cs typeface="Nunito Sans" pitchFamily="34" charset="-120"/>
              </a:rPr>
              <a:t>Sleep spindles and K-complexes. Heart rate falls. Memory consolidation begins.</a:t>
            </a:r>
            <a:endParaRPr lang="en-US" sz="1650" dirty="0"/>
          </a:p>
        </p:txBody>
      </p:sp>
      <p:sp>
        <p:nvSpPr>
          <p:cNvPr id="17" name="Shape 15"/>
          <p:cNvSpPr/>
          <p:nvPr/>
        </p:nvSpPr>
        <p:spPr>
          <a:xfrm>
            <a:off x="9334500" y="2564130"/>
            <a:ext cx="3952875" cy="3414565"/>
          </a:xfrm>
          <a:prstGeom prst="rect">
            <a:avLst/>
          </a:prstGeom>
          <a:solidFill>
            <a:srgbClr val="FAFAFA"/>
          </a:solidFill>
          <a:ln/>
        </p:spPr>
        <p:txBody>
          <a:bodyPr/>
          <a:lstStyle/>
          <a:p>
            <a:endParaRPr lang="en-US" dirty="0"/>
          </a:p>
        </p:txBody>
      </p:sp>
      <p:sp>
        <p:nvSpPr>
          <p:cNvPr id="18" name="Shape 16"/>
          <p:cNvSpPr/>
          <p:nvPr/>
        </p:nvSpPr>
        <p:spPr>
          <a:xfrm>
            <a:off x="9239250" y="2602230"/>
            <a:ext cx="3952875" cy="22860"/>
          </a:xfrm>
          <a:prstGeom prst="rect">
            <a:avLst/>
          </a:prstGeom>
          <a:solidFill>
            <a:srgbClr val="C0562B"/>
          </a:solidFill>
          <a:ln/>
        </p:spPr>
        <p:txBody>
          <a:bodyPr/>
          <a:lstStyle/>
          <a:p>
            <a:endParaRPr lang="en-US"/>
          </a:p>
        </p:txBody>
      </p:sp>
      <p:sp>
        <p:nvSpPr>
          <p:cNvPr id="19" name="Text 17"/>
          <p:cNvSpPr/>
          <p:nvPr/>
        </p:nvSpPr>
        <p:spPr>
          <a:xfrm>
            <a:off x="9429750" y="2853690"/>
            <a:ext cx="535900"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Sora" pitchFamily="34" charset="0"/>
                <a:ea typeface="Sora" pitchFamily="34" charset="-122"/>
                <a:cs typeface="Sora" pitchFamily="34" charset="-120"/>
              </a:rPr>
              <a:t>N3</a:t>
            </a:r>
            <a:endParaRPr lang="en-US" sz="2400" dirty="0"/>
          </a:p>
        </p:txBody>
      </p:sp>
      <p:sp>
        <p:nvSpPr>
          <p:cNvPr id="20" name="Text 18"/>
          <p:cNvSpPr/>
          <p:nvPr/>
        </p:nvSpPr>
        <p:spPr>
          <a:xfrm>
            <a:off x="12153900" y="2945130"/>
            <a:ext cx="923925"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C0562B"/>
                </a:solidFill>
                <a:latin typeface="Sora" pitchFamily="34" charset="0"/>
                <a:ea typeface="Sora" pitchFamily="34" charset="-122"/>
                <a:cs typeface="Sora" pitchFamily="34" charset="-120"/>
              </a:rPr>
              <a:t>20–25%</a:t>
            </a:r>
            <a:endParaRPr lang="en-US" sz="1650" dirty="0"/>
          </a:p>
        </p:txBody>
      </p:sp>
      <p:sp>
        <p:nvSpPr>
          <p:cNvPr id="21" name="Text 19"/>
          <p:cNvSpPr/>
          <p:nvPr/>
        </p:nvSpPr>
        <p:spPr>
          <a:xfrm>
            <a:off x="9429750" y="3299460"/>
            <a:ext cx="3929063" cy="27432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999999"/>
                </a:solidFill>
                <a:latin typeface="Sora" pitchFamily="34" charset="0"/>
                <a:ea typeface="Sora" pitchFamily="34" charset="-122"/>
                <a:cs typeface="Sora" pitchFamily="34" charset="-120"/>
              </a:rPr>
              <a:t>Deep / SWS</a:t>
            </a:r>
            <a:endParaRPr lang="en-US" sz="1500" dirty="0"/>
          </a:p>
        </p:txBody>
      </p:sp>
      <p:sp>
        <p:nvSpPr>
          <p:cNvPr id="22" name="Text 20"/>
          <p:cNvSpPr/>
          <p:nvPr/>
        </p:nvSpPr>
        <p:spPr>
          <a:xfrm>
            <a:off x="9429750" y="3592830"/>
            <a:ext cx="3679031" cy="91821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650" dirty="0">
                <a:solidFill>
                  <a:srgbClr val="666666"/>
                </a:solidFill>
                <a:latin typeface="Nunito Sans" pitchFamily="34" charset="0"/>
                <a:ea typeface="Nunito Sans" pitchFamily="34" charset="-122"/>
                <a:cs typeface="Nunito Sans" pitchFamily="34" charset="-120"/>
              </a:rPr>
              <a:t>Delta waves dominate. Lowest heart rate. Peak growth hormone and immune activity.</a:t>
            </a:r>
            <a:endParaRPr lang="en-US" sz="1650" dirty="0"/>
          </a:p>
        </p:txBody>
      </p:sp>
      <p:sp>
        <p:nvSpPr>
          <p:cNvPr id="23" name="Shape 21"/>
          <p:cNvSpPr/>
          <p:nvPr/>
        </p:nvSpPr>
        <p:spPr>
          <a:xfrm>
            <a:off x="13287375" y="2542944"/>
            <a:ext cx="3952875" cy="3435751"/>
          </a:xfrm>
          <a:prstGeom prst="rect">
            <a:avLst/>
          </a:prstGeom>
          <a:solidFill>
            <a:srgbClr val="FAFAFA"/>
          </a:solidFill>
          <a:ln/>
        </p:spPr>
        <p:txBody>
          <a:bodyPr/>
          <a:lstStyle/>
          <a:p>
            <a:endParaRPr lang="en-US"/>
          </a:p>
        </p:txBody>
      </p:sp>
      <p:sp>
        <p:nvSpPr>
          <p:cNvPr id="24" name="Shape 22"/>
          <p:cNvSpPr/>
          <p:nvPr/>
        </p:nvSpPr>
        <p:spPr>
          <a:xfrm>
            <a:off x="13382625" y="2602230"/>
            <a:ext cx="3952875" cy="22860"/>
          </a:xfrm>
          <a:prstGeom prst="rect">
            <a:avLst/>
          </a:prstGeom>
          <a:solidFill>
            <a:srgbClr val="C0562B"/>
          </a:solidFill>
          <a:ln/>
        </p:spPr>
        <p:txBody>
          <a:bodyPr/>
          <a:lstStyle/>
          <a:p>
            <a:endParaRPr lang="en-US"/>
          </a:p>
        </p:txBody>
      </p:sp>
      <p:sp>
        <p:nvSpPr>
          <p:cNvPr id="25" name="Text 23"/>
          <p:cNvSpPr/>
          <p:nvPr/>
        </p:nvSpPr>
        <p:spPr>
          <a:xfrm>
            <a:off x="13573125" y="2853690"/>
            <a:ext cx="775811"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1A1A1A"/>
                </a:solidFill>
                <a:latin typeface="Sora" pitchFamily="34" charset="0"/>
                <a:ea typeface="Sora" pitchFamily="34" charset="-122"/>
                <a:cs typeface="Sora" pitchFamily="34" charset="-120"/>
              </a:rPr>
              <a:t>REM</a:t>
            </a:r>
            <a:endParaRPr lang="en-US" sz="2400" dirty="0"/>
          </a:p>
        </p:txBody>
      </p:sp>
      <p:sp>
        <p:nvSpPr>
          <p:cNvPr id="26" name="Text 24"/>
          <p:cNvSpPr/>
          <p:nvPr/>
        </p:nvSpPr>
        <p:spPr>
          <a:xfrm>
            <a:off x="16297275" y="2945130"/>
            <a:ext cx="923925"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C0562B"/>
                </a:solidFill>
                <a:latin typeface="Sora" pitchFamily="34" charset="0"/>
                <a:ea typeface="Sora" pitchFamily="34" charset="-122"/>
                <a:cs typeface="Sora" pitchFamily="34" charset="-120"/>
              </a:rPr>
              <a:t>20–25%</a:t>
            </a:r>
            <a:endParaRPr lang="en-US" sz="1650" dirty="0"/>
          </a:p>
        </p:txBody>
      </p:sp>
      <p:sp>
        <p:nvSpPr>
          <p:cNvPr id="27" name="Text 25"/>
          <p:cNvSpPr/>
          <p:nvPr/>
        </p:nvSpPr>
        <p:spPr>
          <a:xfrm>
            <a:off x="13573125" y="3299460"/>
            <a:ext cx="3929063" cy="27432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999999"/>
                </a:solidFill>
                <a:latin typeface="Sora" pitchFamily="34" charset="0"/>
                <a:ea typeface="Sora" pitchFamily="34" charset="-122"/>
                <a:cs typeface="Sora" pitchFamily="34" charset="-120"/>
              </a:rPr>
              <a:t>Rapid Eye Movement</a:t>
            </a:r>
            <a:endParaRPr lang="en-US" sz="1500" dirty="0"/>
          </a:p>
        </p:txBody>
      </p:sp>
      <p:sp>
        <p:nvSpPr>
          <p:cNvPr id="28" name="Text 26"/>
          <p:cNvSpPr/>
          <p:nvPr/>
        </p:nvSpPr>
        <p:spPr>
          <a:xfrm>
            <a:off x="13573125" y="3592830"/>
            <a:ext cx="3679031" cy="91821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650" dirty="0">
                <a:solidFill>
                  <a:srgbClr val="666666"/>
                </a:solidFill>
                <a:latin typeface="Nunito Sans" pitchFamily="34" charset="0"/>
                <a:ea typeface="Nunito Sans" pitchFamily="34" charset="-122"/>
                <a:cs typeface="Nunito Sans" pitchFamily="34" charset="-120"/>
              </a:rPr>
              <a:t>Dreaming occurs. Muscle tone suppressed. Emotional and procedural memory processing.</a:t>
            </a:r>
            <a:endParaRPr lang="en-US" sz="1650" dirty="0"/>
          </a:p>
        </p:txBody>
      </p:sp>
      <p:sp>
        <p:nvSpPr>
          <p:cNvPr id="29" name="Text 27"/>
          <p:cNvSpPr/>
          <p:nvPr/>
        </p:nvSpPr>
        <p:spPr>
          <a:xfrm>
            <a:off x="133350" y="9326880"/>
            <a:ext cx="18021300" cy="350520"/>
          </a:xfrm>
          <a:prstGeom prst="rect">
            <a:avLst/>
          </a:prstGeom>
          <a:noFill/>
          <a:ln/>
        </p:spPr>
        <p:txBody>
          <a:bodyPr wrap="square" lIns="25400" tIns="25400" rIns="25400" bIns="25400" rtlCol="0" anchor="t">
            <a:normAutofit/>
          </a:bodyPr>
          <a:lstStyle/>
          <a:p>
            <a:pPr marL="0" indent="0" algn="ctr">
              <a:buNone/>
            </a:pPr>
            <a:r>
              <a:rPr lang="en-US" sz="1800" i="1" dirty="0">
                <a:latin typeface="Nunito Sans" pitchFamily="34" charset="0"/>
                <a:ea typeface="Nunito Sans" pitchFamily="34" charset="-122"/>
                <a:cs typeface="Nunito Sans" pitchFamily="34" charset="-120"/>
              </a:rPr>
              <a:t>A typical night contains 4–6 cycles of ~90 minutes each. N3 dominates early cycles; REM periods lengthen toward morning.</a:t>
            </a:r>
            <a:endParaRPr lang="en-US" sz="1800" dirty="0"/>
          </a:p>
        </p:txBody>
      </p:sp>
      <p:sp>
        <p:nvSpPr>
          <p:cNvPr id="30" name="Shape 28"/>
          <p:cNvSpPr/>
          <p:nvPr/>
        </p:nvSpPr>
        <p:spPr>
          <a:xfrm>
            <a:off x="0" y="9639300"/>
            <a:ext cx="18288000" cy="9525"/>
          </a:xfrm>
          <a:prstGeom prst="rect">
            <a:avLst/>
          </a:prstGeom>
          <a:solidFill>
            <a:srgbClr val="EEEEEE"/>
          </a:solidFill>
          <a:ln/>
        </p:spPr>
        <p:txBody>
          <a:bodyPr/>
          <a:lstStyle/>
          <a:p>
            <a:endParaRPr lang="en-US"/>
          </a:p>
        </p:txBody>
      </p:sp>
      <p:sp>
        <p:nvSpPr>
          <p:cNvPr id="31" name="Text 29"/>
          <p:cNvSpPr/>
          <p:nvPr/>
        </p:nvSpPr>
        <p:spPr>
          <a:xfrm>
            <a:off x="952500" y="9837420"/>
            <a:ext cx="1962043"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Introduction to Sleep</a:t>
            </a:r>
            <a:endParaRPr lang="en-US" sz="1500" dirty="0">
              <a:solidFill>
                <a:schemeClr val="accent2"/>
              </a:solidFill>
            </a:endParaRPr>
          </a:p>
        </p:txBody>
      </p:sp>
      <p:sp>
        <p:nvSpPr>
          <p:cNvPr id="32" name="Text 30"/>
          <p:cNvSpPr/>
          <p:nvPr/>
        </p:nvSpPr>
        <p:spPr>
          <a:xfrm>
            <a:off x="16721853" y="9848850"/>
            <a:ext cx="689848"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03 / 17</a:t>
            </a:r>
            <a:endParaRPr lang="en-US" sz="1500" dirty="0"/>
          </a:p>
        </p:txBody>
      </p:sp>
      <p:sp>
        <p:nvSpPr>
          <p:cNvPr id="66" name="Shape 12">
            <a:extLst>
              <a:ext uri="{FF2B5EF4-FFF2-40B4-BE49-F238E27FC236}">
                <a16:creationId xmlns:a16="http://schemas.microsoft.com/office/drawing/2014/main" id="{98A061C1-D7FD-5376-2D0C-6DC0F0AAB2E0}"/>
              </a:ext>
            </a:extLst>
          </p:cNvPr>
          <p:cNvSpPr/>
          <p:nvPr/>
        </p:nvSpPr>
        <p:spPr>
          <a:xfrm>
            <a:off x="1647564" y="4796028"/>
            <a:ext cx="1993392" cy="566928"/>
          </a:xfrm>
          <a:prstGeom prst="rect">
            <a:avLst/>
          </a:prstGeom>
          <a:solidFill>
            <a:srgbClr val="FAFAFA"/>
          </a:solidFill>
          <a:ln/>
        </p:spPr>
        <p:txBody>
          <a:bodyPr/>
          <a:lstStyle/>
          <a:p>
            <a:endParaRPr lang="en-US" sz="1400"/>
          </a:p>
        </p:txBody>
      </p:sp>
      <p:sp>
        <p:nvSpPr>
          <p:cNvPr id="68" name="Text 13">
            <a:extLst>
              <a:ext uri="{FF2B5EF4-FFF2-40B4-BE49-F238E27FC236}">
                <a16:creationId xmlns:a16="http://schemas.microsoft.com/office/drawing/2014/main" id="{966F04B1-8FA8-0B02-051C-5E3A0809CA88}"/>
              </a:ext>
            </a:extLst>
          </p:cNvPr>
          <p:cNvSpPr/>
          <p:nvPr/>
        </p:nvSpPr>
        <p:spPr>
          <a:xfrm>
            <a:off x="1720716" y="4624578"/>
            <a:ext cx="2110740" cy="418338"/>
          </a:xfrm>
          <a:prstGeom prst="rect">
            <a:avLst/>
          </a:prstGeom>
          <a:noFill/>
          <a:ln/>
        </p:spPr>
        <p:txBody>
          <a:bodyPr wrap="square" lIns="0" tIns="0" rIns="0" bIns="0" rtlCol="0" anchor="ctr"/>
          <a:lstStyle/>
          <a:p>
            <a:pPr marL="0" indent="0">
              <a:buNone/>
            </a:pPr>
            <a:r>
              <a:rPr lang="en-US" sz="1500" b="1" dirty="0">
                <a:solidFill>
                  <a:srgbClr val="999999"/>
                </a:solidFill>
                <a:latin typeface="Nunito Sans" pitchFamily="34" charset="0"/>
                <a:ea typeface="Nunito Sans" pitchFamily="34" charset="-122"/>
                <a:cs typeface="Nunito Sans" pitchFamily="34" charset="-120"/>
              </a:rPr>
              <a:t>→ System: Light Sleep</a:t>
            </a:r>
            <a:endParaRPr lang="en-US" sz="1500" dirty="0"/>
          </a:p>
        </p:txBody>
      </p:sp>
      <p:sp>
        <p:nvSpPr>
          <p:cNvPr id="70" name="Text 14">
            <a:extLst>
              <a:ext uri="{FF2B5EF4-FFF2-40B4-BE49-F238E27FC236}">
                <a16:creationId xmlns:a16="http://schemas.microsoft.com/office/drawing/2014/main" id="{767BDA79-9269-4ECE-3F50-1E73F26A0416}"/>
              </a:ext>
            </a:extLst>
          </p:cNvPr>
          <p:cNvSpPr/>
          <p:nvPr/>
        </p:nvSpPr>
        <p:spPr>
          <a:xfrm>
            <a:off x="1720716" y="5208080"/>
            <a:ext cx="2110740" cy="397764"/>
          </a:xfrm>
          <a:prstGeom prst="rect">
            <a:avLst/>
          </a:prstGeom>
          <a:noFill/>
          <a:ln/>
        </p:spPr>
        <p:txBody>
          <a:bodyPr wrap="square" lIns="0" tIns="0" rIns="0" bIns="0" rtlCol="0" anchor="ctr"/>
          <a:lstStyle/>
          <a:p>
            <a:pPr marL="0" indent="0">
              <a:lnSpc>
                <a:spcPct val="110000"/>
              </a:lnSpc>
              <a:buNone/>
            </a:pPr>
            <a:r>
              <a:rPr lang="en-US" sz="1500" i="1" dirty="0">
                <a:solidFill>
                  <a:srgbClr val="666666"/>
                </a:solidFill>
                <a:latin typeface="Nunito Sans" pitchFamily="34" charset="0"/>
                <a:ea typeface="Nunito Sans" pitchFamily="34" charset="-122"/>
                <a:cs typeface="Nunito Sans" pitchFamily="34" charset="-120"/>
              </a:rPr>
              <a:t>Not distinguished from N2 without EEG</a:t>
            </a:r>
            <a:endParaRPr lang="en-US" sz="1500" dirty="0"/>
          </a:p>
        </p:txBody>
      </p:sp>
      <p:sp>
        <p:nvSpPr>
          <p:cNvPr id="72" name="Shape 12">
            <a:extLst>
              <a:ext uri="{FF2B5EF4-FFF2-40B4-BE49-F238E27FC236}">
                <a16:creationId xmlns:a16="http://schemas.microsoft.com/office/drawing/2014/main" id="{D77686A8-5C62-C33B-075B-59FD25A7E3D0}"/>
              </a:ext>
            </a:extLst>
          </p:cNvPr>
          <p:cNvSpPr/>
          <p:nvPr/>
        </p:nvSpPr>
        <p:spPr>
          <a:xfrm>
            <a:off x="5474165" y="4701540"/>
            <a:ext cx="1993392" cy="566928"/>
          </a:xfrm>
          <a:prstGeom prst="rect">
            <a:avLst/>
          </a:prstGeom>
          <a:solidFill>
            <a:srgbClr val="FAFAFA"/>
          </a:solidFill>
          <a:ln/>
        </p:spPr>
        <p:txBody>
          <a:bodyPr/>
          <a:lstStyle/>
          <a:p>
            <a:endParaRPr lang="en-US" sz="1500"/>
          </a:p>
        </p:txBody>
      </p:sp>
      <p:sp>
        <p:nvSpPr>
          <p:cNvPr id="74" name="Text 13">
            <a:extLst>
              <a:ext uri="{FF2B5EF4-FFF2-40B4-BE49-F238E27FC236}">
                <a16:creationId xmlns:a16="http://schemas.microsoft.com/office/drawing/2014/main" id="{178D17F1-C622-2B87-D5F7-F759E9B28E53}"/>
              </a:ext>
            </a:extLst>
          </p:cNvPr>
          <p:cNvSpPr/>
          <p:nvPr/>
        </p:nvSpPr>
        <p:spPr>
          <a:xfrm>
            <a:off x="5547317" y="4624578"/>
            <a:ext cx="2298530" cy="323850"/>
          </a:xfrm>
          <a:prstGeom prst="rect">
            <a:avLst/>
          </a:prstGeom>
          <a:noFill/>
          <a:ln/>
        </p:spPr>
        <p:txBody>
          <a:bodyPr wrap="square" lIns="0" tIns="0" rIns="0" bIns="0" rtlCol="0" anchor="ctr"/>
          <a:lstStyle/>
          <a:p>
            <a:pPr marL="0" indent="0">
              <a:buNone/>
            </a:pPr>
            <a:r>
              <a:rPr lang="en-US" sz="1500" b="1" dirty="0">
                <a:solidFill>
                  <a:srgbClr val="999999"/>
                </a:solidFill>
                <a:latin typeface="Nunito Sans" pitchFamily="34" charset="0"/>
                <a:ea typeface="Nunito Sans" pitchFamily="34" charset="-122"/>
                <a:cs typeface="Nunito Sans" pitchFamily="34" charset="-120"/>
              </a:rPr>
              <a:t>→ System: Light Sleep</a:t>
            </a:r>
            <a:endParaRPr lang="en-US" sz="1500" dirty="0"/>
          </a:p>
        </p:txBody>
      </p:sp>
      <p:sp>
        <p:nvSpPr>
          <p:cNvPr id="76" name="Text 14">
            <a:extLst>
              <a:ext uri="{FF2B5EF4-FFF2-40B4-BE49-F238E27FC236}">
                <a16:creationId xmlns:a16="http://schemas.microsoft.com/office/drawing/2014/main" id="{B1973B9A-FE1B-A578-48B6-0AAEEBE883F5}"/>
              </a:ext>
            </a:extLst>
          </p:cNvPr>
          <p:cNvSpPr/>
          <p:nvPr/>
        </p:nvSpPr>
        <p:spPr>
          <a:xfrm>
            <a:off x="5638863" y="5081016"/>
            <a:ext cx="2172256" cy="528828"/>
          </a:xfrm>
          <a:prstGeom prst="rect">
            <a:avLst/>
          </a:prstGeom>
          <a:noFill/>
          <a:ln/>
        </p:spPr>
        <p:txBody>
          <a:bodyPr wrap="square" lIns="0" tIns="0" rIns="0" bIns="0" rtlCol="0" anchor="ctr"/>
          <a:lstStyle/>
          <a:p>
            <a:pPr marL="0" indent="0">
              <a:lnSpc>
                <a:spcPct val="110000"/>
              </a:lnSpc>
              <a:buNone/>
            </a:pPr>
            <a:r>
              <a:rPr lang="en-US" sz="1500" i="1" dirty="0">
                <a:solidFill>
                  <a:srgbClr val="666666"/>
                </a:solidFill>
                <a:latin typeface="Nunito Sans" pitchFamily="34" charset="0"/>
                <a:ea typeface="Nunito Sans" pitchFamily="34" charset="-122"/>
                <a:cs typeface="Nunito Sans" pitchFamily="34" charset="-120"/>
              </a:rPr>
              <a:t>Not distinguished from N2 without EEG</a:t>
            </a:r>
            <a:endParaRPr lang="en-US" sz="1500" dirty="0"/>
          </a:p>
        </p:txBody>
      </p:sp>
      <p:sp>
        <p:nvSpPr>
          <p:cNvPr id="80" name="Shape 34">
            <a:extLst>
              <a:ext uri="{FF2B5EF4-FFF2-40B4-BE49-F238E27FC236}">
                <a16:creationId xmlns:a16="http://schemas.microsoft.com/office/drawing/2014/main" id="{C67037A0-E2DD-A196-C5BB-C5115659AD8C}"/>
              </a:ext>
            </a:extLst>
          </p:cNvPr>
          <p:cNvSpPr/>
          <p:nvPr/>
        </p:nvSpPr>
        <p:spPr>
          <a:xfrm>
            <a:off x="9787556" y="4805172"/>
            <a:ext cx="2215553" cy="566928"/>
          </a:xfrm>
          <a:prstGeom prst="rect">
            <a:avLst/>
          </a:prstGeom>
          <a:solidFill>
            <a:srgbClr val="FFF8F5"/>
          </a:solidFill>
          <a:ln/>
        </p:spPr>
        <p:txBody>
          <a:bodyPr/>
          <a:lstStyle/>
          <a:p>
            <a:endParaRPr lang="en-US" sz="1500" dirty="0"/>
          </a:p>
        </p:txBody>
      </p:sp>
      <p:sp>
        <p:nvSpPr>
          <p:cNvPr id="82" name="Text 35">
            <a:extLst>
              <a:ext uri="{FF2B5EF4-FFF2-40B4-BE49-F238E27FC236}">
                <a16:creationId xmlns:a16="http://schemas.microsoft.com/office/drawing/2014/main" id="{46E47956-89C6-76A6-A7B2-BC4847F75D97}"/>
              </a:ext>
            </a:extLst>
          </p:cNvPr>
          <p:cNvSpPr/>
          <p:nvPr/>
        </p:nvSpPr>
        <p:spPr>
          <a:xfrm>
            <a:off x="9860709" y="4576572"/>
            <a:ext cx="2142400" cy="475488"/>
          </a:xfrm>
          <a:prstGeom prst="rect">
            <a:avLst/>
          </a:prstGeom>
          <a:noFill/>
          <a:ln/>
        </p:spPr>
        <p:txBody>
          <a:bodyPr wrap="square" lIns="0" tIns="0" rIns="0" bIns="0" rtlCol="0" anchor="ctr"/>
          <a:lstStyle/>
          <a:p>
            <a:pPr marL="0" indent="0">
              <a:buNone/>
            </a:pPr>
            <a:r>
              <a:rPr lang="en-US" sz="1500" b="1" dirty="0">
                <a:solidFill>
                  <a:srgbClr val="C0562B"/>
                </a:solidFill>
                <a:latin typeface="Nunito Sans" pitchFamily="34" charset="0"/>
                <a:ea typeface="Nunito Sans" pitchFamily="34" charset="-122"/>
                <a:cs typeface="Nunito Sans" pitchFamily="34" charset="-120"/>
              </a:rPr>
              <a:t>→ System: Deep Sleep</a:t>
            </a:r>
            <a:endParaRPr lang="en-US" sz="1500" dirty="0"/>
          </a:p>
        </p:txBody>
      </p:sp>
      <p:sp>
        <p:nvSpPr>
          <p:cNvPr id="84" name="Text 36">
            <a:extLst>
              <a:ext uri="{FF2B5EF4-FFF2-40B4-BE49-F238E27FC236}">
                <a16:creationId xmlns:a16="http://schemas.microsoft.com/office/drawing/2014/main" id="{BDD438D4-40BF-3236-EBD6-AE2BA7A0DFA8}"/>
              </a:ext>
            </a:extLst>
          </p:cNvPr>
          <p:cNvSpPr/>
          <p:nvPr/>
        </p:nvSpPr>
        <p:spPr>
          <a:xfrm>
            <a:off x="9860708" y="5208080"/>
            <a:ext cx="2293191" cy="356616"/>
          </a:xfrm>
          <a:prstGeom prst="rect">
            <a:avLst/>
          </a:prstGeom>
          <a:noFill/>
          <a:ln/>
        </p:spPr>
        <p:txBody>
          <a:bodyPr wrap="square" lIns="0" tIns="0" rIns="0" bIns="0" rtlCol="0" anchor="ctr"/>
          <a:lstStyle/>
          <a:p>
            <a:pPr marL="0" indent="0">
              <a:lnSpc>
                <a:spcPct val="110000"/>
              </a:lnSpc>
              <a:buNone/>
            </a:pPr>
            <a:r>
              <a:rPr lang="en-US" sz="1500" dirty="0">
                <a:solidFill>
                  <a:srgbClr val="666666"/>
                </a:solidFill>
                <a:latin typeface="Nunito Sans" pitchFamily="34" charset="0"/>
                <a:ea typeface="Nunito Sans" pitchFamily="34" charset="-122"/>
                <a:cs typeface="Nunito Sans" pitchFamily="34" charset="-120"/>
              </a:rPr>
              <a:t>BPM≤P40 &amp; motion≤P50, capped 25%</a:t>
            </a:r>
            <a:endParaRPr lang="en-US" sz="1500" dirty="0"/>
          </a:p>
        </p:txBody>
      </p:sp>
      <p:sp>
        <p:nvSpPr>
          <p:cNvPr id="88" name="Shape 45">
            <a:extLst>
              <a:ext uri="{FF2B5EF4-FFF2-40B4-BE49-F238E27FC236}">
                <a16:creationId xmlns:a16="http://schemas.microsoft.com/office/drawing/2014/main" id="{2EA38795-DF15-5F93-4CDD-293C89419E40}"/>
              </a:ext>
            </a:extLst>
          </p:cNvPr>
          <p:cNvSpPr/>
          <p:nvPr/>
        </p:nvSpPr>
        <p:spPr>
          <a:xfrm>
            <a:off x="14069267" y="4701540"/>
            <a:ext cx="1993392" cy="566928"/>
          </a:xfrm>
          <a:prstGeom prst="rect">
            <a:avLst/>
          </a:prstGeom>
          <a:solidFill>
            <a:srgbClr val="FFF8F5"/>
          </a:solidFill>
          <a:ln/>
        </p:spPr>
        <p:txBody>
          <a:bodyPr/>
          <a:lstStyle/>
          <a:p>
            <a:endParaRPr lang="en-US" sz="1500"/>
          </a:p>
        </p:txBody>
      </p:sp>
      <p:sp>
        <p:nvSpPr>
          <p:cNvPr id="90" name="Text 46">
            <a:extLst>
              <a:ext uri="{FF2B5EF4-FFF2-40B4-BE49-F238E27FC236}">
                <a16:creationId xmlns:a16="http://schemas.microsoft.com/office/drawing/2014/main" id="{6F7DCE03-6B63-B4BD-7F6F-060693515A7E}"/>
              </a:ext>
            </a:extLst>
          </p:cNvPr>
          <p:cNvSpPr/>
          <p:nvPr/>
        </p:nvSpPr>
        <p:spPr>
          <a:xfrm>
            <a:off x="14142418" y="4728972"/>
            <a:ext cx="2252387" cy="219456"/>
          </a:xfrm>
          <a:prstGeom prst="rect">
            <a:avLst/>
          </a:prstGeom>
          <a:noFill/>
          <a:ln/>
        </p:spPr>
        <p:txBody>
          <a:bodyPr wrap="square" lIns="0" tIns="0" rIns="0" bIns="0" rtlCol="0" anchor="ctr"/>
          <a:lstStyle/>
          <a:p>
            <a:pPr marL="0" indent="0">
              <a:buNone/>
            </a:pPr>
            <a:r>
              <a:rPr lang="en-US" sz="1500" b="1" dirty="0">
                <a:solidFill>
                  <a:srgbClr val="C0562B"/>
                </a:solidFill>
                <a:latin typeface="Nunito Sans" pitchFamily="34" charset="0"/>
                <a:ea typeface="Nunito Sans" pitchFamily="34" charset="-122"/>
                <a:cs typeface="Nunito Sans" pitchFamily="34" charset="-120"/>
              </a:rPr>
              <a:t>→ System: REM Sleep</a:t>
            </a:r>
            <a:endParaRPr lang="en-US" sz="1500" dirty="0"/>
          </a:p>
        </p:txBody>
      </p:sp>
      <p:sp>
        <p:nvSpPr>
          <p:cNvPr id="92" name="Text 47">
            <a:extLst>
              <a:ext uri="{FF2B5EF4-FFF2-40B4-BE49-F238E27FC236}">
                <a16:creationId xmlns:a16="http://schemas.microsoft.com/office/drawing/2014/main" id="{68105490-69F3-E536-DDB6-A682C0736BC5}"/>
              </a:ext>
            </a:extLst>
          </p:cNvPr>
          <p:cNvSpPr/>
          <p:nvPr/>
        </p:nvSpPr>
        <p:spPr>
          <a:xfrm>
            <a:off x="14142419" y="5091759"/>
            <a:ext cx="2252386" cy="560682"/>
          </a:xfrm>
          <a:prstGeom prst="rect">
            <a:avLst/>
          </a:prstGeom>
          <a:noFill/>
          <a:ln/>
        </p:spPr>
        <p:txBody>
          <a:bodyPr wrap="square" lIns="0" tIns="0" rIns="0" bIns="0" rtlCol="0" anchor="ctr"/>
          <a:lstStyle/>
          <a:p>
            <a:pPr marL="0" indent="0">
              <a:lnSpc>
                <a:spcPct val="110000"/>
              </a:lnSpc>
              <a:buNone/>
            </a:pPr>
            <a:r>
              <a:rPr lang="en-US" sz="1500" dirty="0">
                <a:solidFill>
                  <a:srgbClr val="666666"/>
                </a:solidFill>
                <a:latin typeface="Nunito Sans" pitchFamily="34" charset="0"/>
                <a:ea typeface="Nunito Sans" pitchFamily="34" charset="-122"/>
                <a:cs typeface="Nunito Sans" pitchFamily="34" charset="-120"/>
              </a:rPr>
              <a:t>BPM≥P65 &amp; std≥P55, capped 30%</a:t>
            </a:r>
            <a:endParaRPr lang="en-US" sz="1500" dirty="0"/>
          </a:p>
        </p:txBody>
      </p:sp>
      <p:sp>
        <p:nvSpPr>
          <p:cNvPr id="94" name="TextBox 93">
            <a:extLst>
              <a:ext uri="{FF2B5EF4-FFF2-40B4-BE49-F238E27FC236}">
                <a16:creationId xmlns:a16="http://schemas.microsoft.com/office/drawing/2014/main" id="{A43D268B-84CE-EDF3-8028-F9617F2D25DE}"/>
              </a:ext>
            </a:extLst>
          </p:cNvPr>
          <p:cNvSpPr txBox="1"/>
          <p:nvPr/>
        </p:nvSpPr>
        <p:spPr>
          <a:xfrm>
            <a:off x="1106090" y="6375817"/>
            <a:ext cx="16115110" cy="718787"/>
          </a:xfrm>
          <a:prstGeom prst="rect">
            <a:avLst/>
          </a:prstGeom>
          <a:noFill/>
        </p:spPr>
        <p:txBody>
          <a:bodyPr wrap="square">
            <a:spAutoFit/>
          </a:bodyPr>
          <a:lstStyle/>
          <a:p>
            <a:pPr marL="0" indent="0">
              <a:lnSpc>
                <a:spcPct val="115000"/>
              </a:lnSpc>
              <a:buNone/>
            </a:pPr>
            <a:r>
              <a:rPr lang="en-US" sz="1800" i="1" dirty="0">
                <a:latin typeface="Nunito Sans" pitchFamily="34" charset="0"/>
                <a:ea typeface="Nunito Sans" pitchFamily="34" charset="-122"/>
                <a:cs typeface="Nunito Sans" pitchFamily="34" charset="-120"/>
              </a:rPr>
              <a:t>This system outputs 4 classes — Wake/Movement, Light Sleep (N1+N2 combined), Deep Sleep, REM — since wrist sensors without EEG cannot separate N1 from N2.</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0" y="1571625"/>
            <a:ext cx="18288000" cy="2130326"/>
          </a:xfrm>
          <a:prstGeom prst="rect">
            <a:avLst/>
          </a:prstGeom>
          <a:solidFill>
            <a:srgbClr val="FFFFFF"/>
          </a:solidFill>
          <a:ln/>
        </p:spPr>
        <p:txBody>
          <a:bodyPr/>
          <a:lstStyle/>
          <a:p>
            <a:endParaRPr lang="en-US"/>
          </a:p>
        </p:txBody>
      </p:sp>
      <p:sp>
        <p:nvSpPr>
          <p:cNvPr id="5" name="Shape 3"/>
          <p:cNvSpPr/>
          <p:nvPr/>
        </p:nvSpPr>
        <p:spPr>
          <a:xfrm>
            <a:off x="0" y="1571625"/>
            <a:ext cx="18288000" cy="9525"/>
          </a:xfrm>
          <a:prstGeom prst="rect">
            <a:avLst/>
          </a:prstGeom>
          <a:solidFill>
            <a:srgbClr val="E8E8E8"/>
          </a:solidFill>
          <a:ln/>
        </p:spPr>
        <p:txBody>
          <a:bodyPr/>
          <a:lstStyle/>
          <a:p>
            <a:endParaRPr lang="en-US"/>
          </a:p>
        </p:txBody>
      </p:sp>
      <p:sp>
        <p:nvSpPr>
          <p:cNvPr id="6" name="Text 4"/>
          <p:cNvSpPr/>
          <p:nvPr/>
        </p:nvSpPr>
        <p:spPr>
          <a:xfrm>
            <a:off x="952500" y="2184350"/>
            <a:ext cx="4129445" cy="5905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350" b="1" kern="0" spc="-75" dirty="0">
                <a:solidFill>
                  <a:srgbClr val="C0562B"/>
                </a:solidFill>
                <a:latin typeface="Sora" pitchFamily="34" charset="0"/>
                <a:ea typeface="Sora" pitchFamily="34" charset="-122"/>
                <a:cs typeface="Sora" pitchFamily="34" charset="-120"/>
              </a:rPr>
              <a:t>€600 – 2 000</a:t>
            </a:r>
            <a:endParaRPr lang="en-US" sz="4350" dirty="0"/>
          </a:p>
        </p:txBody>
      </p:sp>
      <p:sp>
        <p:nvSpPr>
          <p:cNvPr id="7" name="Text 5"/>
          <p:cNvSpPr/>
          <p:nvPr/>
        </p:nvSpPr>
        <p:spPr>
          <a:xfrm>
            <a:off x="952500" y="2793950"/>
            <a:ext cx="4129445" cy="342900"/>
          </a:xfrm>
          <a:prstGeom prst="rect">
            <a:avLst/>
          </a:prstGeom>
          <a:noFill/>
          <a:ln/>
        </p:spPr>
        <p:txBody>
          <a:bodyPr wrap="square" lIns="25400" tIns="25400" rIns="25400" bIns="25400" rtlCol="0" anchor="t">
            <a:normAutofit/>
          </a:bodyPr>
          <a:lstStyle/>
          <a:p>
            <a:pPr marL="0" indent="0" algn="l">
              <a:buNone/>
            </a:pPr>
            <a:r>
              <a:rPr lang="en-US" sz="1800" kern="0" spc="38" dirty="0">
                <a:solidFill>
                  <a:srgbClr val="BBBBBB"/>
                </a:solidFill>
                <a:latin typeface="Nunito Sans" pitchFamily="34" charset="0"/>
                <a:ea typeface="Nunito Sans" pitchFamily="34" charset="-122"/>
                <a:cs typeface="Nunito Sans" pitchFamily="34" charset="-120"/>
              </a:rPr>
              <a:t>per night</a:t>
            </a:r>
            <a:endParaRPr lang="en-US" sz="1800" dirty="0"/>
          </a:p>
        </p:txBody>
      </p:sp>
      <p:sp>
        <p:nvSpPr>
          <p:cNvPr id="8" name="Shape 6"/>
          <p:cNvSpPr/>
          <p:nvPr/>
        </p:nvSpPr>
        <p:spPr>
          <a:xfrm>
            <a:off x="5278041" y="2298650"/>
            <a:ext cx="14288" cy="685800"/>
          </a:xfrm>
          <a:prstGeom prst="rect">
            <a:avLst/>
          </a:prstGeom>
          <a:solidFill>
            <a:srgbClr val="E8E8E8"/>
          </a:solidFill>
          <a:ln/>
        </p:spPr>
        <p:txBody>
          <a:bodyPr/>
          <a:lstStyle/>
          <a:p>
            <a:endParaRPr lang="en-US"/>
          </a:p>
        </p:txBody>
      </p:sp>
      <p:sp>
        <p:nvSpPr>
          <p:cNvPr id="9" name="Text 7"/>
          <p:cNvSpPr/>
          <p:nvPr/>
        </p:nvSpPr>
        <p:spPr>
          <a:xfrm>
            <a:off x="5863828" y="2484388"/>
            <a:ext cx="2933700" cy="352425"/>
          </a:xfrm>
          <a:prstGeom prst="rect">
            <a:avLst/>
          </a:prstGeom>
          <a:noFill/>
          <a:ln/>
        </p:spPr>
        <p:txBody>
          <a:bodyPr wrap="square" lIns="25400" tIns="25400" rIns="25400" bIns="25400" rtlCol="0" anchor="t">
            <a:normAutofit/>
          </a:bodyPr>
          <a:lstStyle/>
          <a:p>
            <a:pPr marL="0" indent="0" algn="l">
              <a:buNone/>
            </a:pPr>
            <a:r>
              <a:rPr lang="en-US" sz="1950" b="1" kern="0" spc="15" dirty="0">
                <a:solidFill>
                  <a:srgbClr val="1A1A1A"/>
                </a:solidFill>
                <a:latin typeface="Sora" pitchFamily="34" charset="0"/>
                <a:ea typeface="Sora" pitchFamily="34" charset="-122"/>
                <a:cs typeface="Sora" pitchFamily="34" charset="-120"/>
              </a:rPr>
              <a:t>Clinical PSG</a:t>
            </a:r>
            <a:endParaRPr lang="en-US" sz="1950" dirty="0"/>
          </a:p>
        </p:txBody>
      </p:sp>
      <p:sp>
        <p:nvSpPr>
          <p:cNvPr id="10" name="Shape 8"/>
          <p:cNvSpPr/>
          <p:nvPr/>
        </p:nvSpPr>
        <p:spPr>
          <a:xfrm>
            <a:off x="9102328" y="2298650"/>
            <a:ext cx="14288" cy="685800"/>
          </a:xfrm>
          <a:prstGeom prst="rect">
            <a:avLst/>
          </a:prstGeom>
          <a:solidFill>
            <a:srgbClr val="E8E8E8"/>
          </a:solidFill>
          <a:ln/>
        </p:spPr>
        <p:txBody>
          <a:bodyPr/>
          <a:lstStyle/>
          <a:p>
            <a:endParaRPr lang="en-US"/>
          </a:p>
        </p:txBody>
      </p:sp>
      <p:sp>
        <p:nvSpPr>
          <p:cNvPr id="11" name="Text 9"/>
          <p:cNvSpPr/>
          <p:nvPr/>
        </p:nvSpPr>
        <p:spPr>
          <a:xfrm>
            <a:off x="9688116" y="2470100"/>
            <a:ext cx="7334250" cy="3810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777777"/>
                </a:solidFill>
                <a:latin typeface="Nunito Sans" pitchFamily="34" charset="0"/>
                <a:ea typeface="Nunito Sans" pitchFamily="34" charset="-122"/>
                <a:cs typeface="Nunito Sans" pitchFamily="34" charset="-120"/>
              </a:rPr>
              <a:t>Gold standard but expensive, lab-bound, requires trained staff</a:t>
            </a:r>
            <a:endParaRPr lang="en-US" sz="1800" dirty="0"/>
          </a:p>
        </p:txBody>
      </p:sp>
      <p:sp>
        <p:nvSpPr>
          <p:cNvPr id="12" name="Shape 10"/>
          <p:cNvSpPr/>
          <p:nvPr/>
        </p:nvSpPr>
        <p:spPr>
          <a:xfrm>
            <a:off x="0" y="3701951"/>
            <a:ext cx="18288000" cy="2130475"/>
          </a:xfrm>
          <a:prstGeom prst="rect">
            <a:avLst/>
          </a:prstGeom>
          <a:solidFill>
            <a:srgbClr val="F5F3F0"/>
          </a:solidFill>
          <a:ln/>
        </p:spPr>
        <p:txBody>
          <a:bodyPr/>
          <a:lstStyle/>
          <a:p>
            <a:endParaRPr lang="en-US"/>
          </a:p>
        </p:txBody>
      </p:sp>
      <p:sp>
        <p:nvSpPr>
          <p:cNvPr id="13" name="Shape 11"/>
          <p:cNvSpPr/>
          <p:nvPr/>
        </p:nvSpPr>
        <p:spPr>
          <a:xfrm>
            <a:off x="0" y="3701951"/>
            <a:ext cx="18288000" cy="9525"/>
          </a:xfrm>
          <a:prstGeom prst="rect">
            <a:avLst/>
          </a:prstGeom>
          <a:solidFill>
            <a:srgbClr val="E8E8E8"/>
          </a:solidFill>
          <a:ln/>
        </p:spPr>
        <p:txBody>
          <a:bodyPr/>
          <a:lstStyle/>
          <a:p>
            <a:endParaRPr lang="en-US"/>
          </a:p>
        </p:txBody>
      </p:sp>
      <p:sp>
        <p:nvSpPr>
          <p:cNvPr id="14" name="Text 12"/>
          <p:cNvSpPr/>
          <p:nvPr/>
        </p:nvSpPr>
        <p:spPr>
          <a:xfrm>
            <a:off x="952500" y="4314676"/>
            <a:ext cx="3981450" cy="5905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350" b="1" kern="0" spc="-75" dirty="0">
                <a:solidFill>
                  <a:srgbClr val="C0562B"/>
                </a:solidFill>
                <a:latin typeface="Sora" pitchFamily="34" charset="0"/>
                <a:ea typeface="Sora" pitchFamily="34" charset="-122"/>
                <a:cs typeface="Sora" pitchFamily="34" charset="-120"/>
              </a:rPr>
              <a:t>65 – 75%</a:t>
            </a:r>
            <a:endParaRPr lang="en-US" sz="4350" dirty="0"/>
          </a:p>
        </p:txBody>
      </p:sp>
      <p:sp>
        <p:nvSpPr>
          <p:cNvPr id="15" name="Text 13"/>
          <p:cNvSpPr/>
          <p:nvPr/>
        </p:nvSpPr>
        <p:spPr>
          <a:xfrm>
            <a:off x="952500" y="4924276"/>
            <a:ext cx="3981450" cy="342900"/>
          </a:xfrm>
          <a:prstGeom prst="rect">
            <a:avLst/>
          </a:prstGeom>
          <a:noFill/>
          <a:ln/>
        </p:spPr>
        <p:txBody>
          <a:bodyPr wrap="square" lIns="25400" tIns="25400" rIns="25400" bIns="25400" rtlCol="0" anchor="t">
            <a:normAutofit/>
          </a:bodyPr>
          <a:lstStyle/>
          <a:p>
            <a:pPr marL="0" indent="0" algn="l">
              <a:buNone/>
            </a:pPr>
            <a:r>
              <a:rPr lang="en-US" sz="1800" kern="0" spc="38" dirty="0">
                <a:solidFill>
                  <a:srgbClr val="BBBBBB"/>
                </a:solidFill>
                <a:latin typeface="Nunito Sans" pitchFamily="34" charset="0"/>
                <a:ea typeface="Nunito Sans" pitchFamily="34" charset="-122"/>
                <a:cs typeface="Nunito Sans" pitchFamily="34" charset="-120"/>
              </a:rPr>
              <a:t>accuracy</a:t>
            </a:r>
            <a:endParaRPr lang="en-US" sz="1800" dirty="0"/>
          </a:p>
        </p:txBody>
      </p:sp>
      <p:sp>
        <p:nvSpPr>
          <p:cNvPr id="16" name="Shape 14"/>
          <p:cNvSpPr/>
          <p:nvPr/>
        </p:nvSpPr>
        <p:spPr>
          <a:xfrm>
            <a:off x="5143500" y="4428976"/>
            <a:ext cx="14288" cy="685800"/>
          </a:xfrm>
          <a:prstGeom prst="rect">
            <a:avLst/>
          </a:prstGeom>
          <a:solidFill>
            <a:srgbClr val="1A1A1A">
              <a:alpha val="12000"/>
            </a:srgbClr>
          </a:solidFill>
          <a:ln/>
        </p:spPr>
        <p:txBody>
          <a:bodyPr/>
          <a:lstStyle/>
          <a:p>
            <a:endParaRPr lang="en-US"/>
          </a:p>
        </p:txBody>
      </p:sp>
      <p:sp>
        <p:nvSpPr>
          <p:cNvPr id="17" name="Text 15"/>
          <p:cNvSpPr/>
          <p:nvPr/>
        </p:nvSpPr>
        <p:spPr>
          <a:xfrm>
            <a:off x="5729288" y="4614714"/>
            <a:ext cx="3318093" cy="352425"/>
          </a:xfrm>
          <a:prstGeom prst="rect">
            <a:avLst/>
          </a:prstGeom>
          <a:noFill/>
          <a:ln/>
        </p:spPr>
        <p:txBody>
          <a:bodyPr wrap="square" lIns="25400" tIns="25400" rIns="25400" bIns="25400" rtlCol="0" anchor="t">
            <a:normAutofit/>
          </a:bodyPr>
          <a:lstStyle/>
          <a:p>
            <a:pPr marL="0" indent="0" algn="l">
              <a:buNone/>
            </a:pPr>
            <a:r>
              <a:rPr lang="en-US" sz="1950" b="1" kern="0" spc="15" dirty="0">
                <a:solidFill>
                  <a:srgbClr val="1A1A1A"/>
                </a:solidFill>
                <a:latin typeface="Sora" pitchFamily="34" charset="0"/>
                <a:ea typeface="Sora" pitchFamily="34" charset="-122"/>
                <a:cs typeface="Sora" pitchFamily="34" charset="-120"/>
              </a:rPr>
              <a:t>Commercial Wearables</a:t>
            </a:r>
            <a:endParaRPr lang="en-US" sz="1950" dirty="0"/>
          </a:p>
        </p:txBody>
      </p:sp>
      <p:sp>
        <p:nvSpPr>
          <p:cNvPr id="18" name="Shape 16"/>
          <p:cNvSpPr/>
          <p:nvPr/>
        </p:nvSpPr>
        <p:spPr>
          <a:xfrm>
            <a:off x="9317236" y="4428976"/>
            <a:ext cx="14288" cy="685800"/>
          </a:xfrm>
          <a:prstGeom prst="rect">
            <a:avLst/>
          </a:prstGeom>
          <a:solidFill>
            <a:srgbClr val="1A1A1A">
              <a:alpha val="12000"/>
            </a:srgbClr>
          </a:solidFill>
          <a:ln/>
        </p:spPr>
        <p:txBody>
          <a:bodyPr/>
          <a:lstStyle/>
          <a:p>
            <a:endParaRPr lang="en-US"/>
          </a:p>
        </p:txBody>
      </p:sp>
      <p:sp>
        <p:nvSpPr>
          <p:cNvPr id="19" name="Text 17"/>
          <p:cNvSpPr/>
          <p:nvPr/>
        </p:nvSpPr>
        <p:spPr>
          <a:xfrm>
            <a:off x="9903023" y="4600426"/>
            <a:ext cx="7334250" cy="3810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777777"/>
                </a:solidFill>
                <a:latin typeface="Nunito Sans" pitchFamily="34" charset="0"/>
                <a:ea typeface="Nunito Sans" pitchFamily="34" charset="-122"/>
                <a:cs typeface="Nunito Sans" pitchFamily="34" charset="-120"/>
              </a:rPr>
              <a:t>Affordable but black-box algorithms, no raw data access</a:t>
            </a:r>
            <a:endParaRPr lang="en-US" sz="1800" dirty="0"/>
          </a:p>
        </p:txBody>
      </p:sp>
      <p:sp>
        <p:nvSpPr>
          <p:cNvPr id="20" name="Shape 18"/>
          <p:cNvSpPr/>
          <p:nvPr/>
        </p:nvSpPr>
        <p:spPr>
          <a:xfrm>
            <a:off x="0" y="5832425"/>
            <a:ext cx="18288000" cy="3721150"/>
          </a:xfrm>
          <a:prstGeom prst="rect">
            <a:avLst/>
          </a:prstGeom>
          <a:solidFill>
            <a:srgbClr val="1A1A1A"/>
          </a:solidFill>
          <a:ln/>
        </p:spPr>
        <p:txBody>
          <a:bodyPr/>
          <a:lstStyle/>
          <a:p>
            <a:endParaRPr lang="en-US" dirty="0"/>
          </a:p>
        </p:txBody>
      </p:sp>
      <p:sp>
        <p:nvSpPr>
          <p:cNvPr id="21" name="Shape 19"/>
          <p:cNvSpPr/>
          <p:nvPr/>
        </p:nvSpPr>
        <p:spPr>
          <a:xfrm>
            <a:off x="0" y="5832425"/>
            <a:ext cx="18288000" cy="9525"/>
          </a:xfrm>
          <a:prstGeom prst="rect">
            <a:avLst/>
          </a:prstGeom>
          <a:solidFill>
            <a:srgbClr val="E8E8E8"/>
          </a:solidFill>
          <a:ln/>
        </p:spPr>
        <p:txBody>
          <a:bodyPr/>
          <a:lstStyle/>
          <a:p>
            <a:endParaRPr lang="en-US"/>
          </a:p>
        </p:txBody>
      </p:sp>
      <p:sp>
        <p:nvSpPr>
          <p:cNvPr id="22" name="Text 20"/>
          <p:cNvSpPr/>
          <p:nvPr/>
        </p:nvSpPr>
        <p:spPr>
          <a:xfrm>
            <a:off x="952500" y="7107138"/>
            <a:ext cx="398145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b="1" kern="0" spc="-150" dirty="0">
                <a:solidFill>
                  <a:srgbClr val="C0562B"/>
                </a:solidFill>
                <a:latin typeface="Sora" pitchFamily="34" charset="0"/>
                <a:ea typeface="Sora" pitchFamily="34" charset="-122"/>
                <a:cs typeface="Sora" pitchFamily="34" charset="-120"/>
              </a:rPr>
              <a:t>&lt;€100</a:t>
            </a:r>
            <a:endParaRPr lang="en-US" sz="6300" dirty="0"/>
          </a:p>
        </p:txBody>
      </p:sp>
      <p:sp>
        <p:nvSpPr>
          <p:cNvPr id="23" name="Text 21"/>
          <p:cNvSpPr/>
          <p:nvPr/>
        </p:nvSpPr>
        <p:spPr>
          <a:xfrm>
            <a:off x="952500" y="7983438"/>
            <a:ext cx="3981450" cy="342900"/>
          </a:xfrm>
          <a:prstGeom prst="rect">
            <a:avLst/>
          </a:prstGeom>
          <a:noFill/>
          <a:ln/>
        </p:spPr>
        <p:txBody>
          <a:bodyPr wrap="square" lIns="25400" tIns="25400" rIns="25400" bIns="25400" rtlCol="0" anchor="t">
            <a:normAutofit/>
          </a:bodyPr>
          <a:lstStyle/>
          <a:p>
            <a:pPr marL="0" indent="0" algn="l">
              <a:buNone/>
            </a:pPr>
            <a:r>
              <a:rPr lang="en-US" sz="1800" kern="0" spc="75" dirty="0">
                <a:solidFill>
                  <a:srgbClr val="FFFFFF">
                    <a:alpha val="35000"/>
                  </a:srgbClr>
                </a:solidFill>
                <a:latin typeface="Nunito Sans" pitchFamily="34" charset="0"/>
                <a:ea typeface="Nunito Sans" pitchFamily="34" charset="-122"/>
                <a:cs typeface="Nunito Sans" pitchFamily="34" charset="-120"/>
              </a:rPr>
              <a:t>OPEN-SOURCE</a:t>
            </a:r>
            <a:endParaRPr lang="en-US" sz="1800" dirty="0"/>
          </a:p>
        </p:txBody>
      </p:sp>
      <p:sp>
        <p:nvSpPr>
          <p:cNvPr id="24" name="Shape 22"/>
          <p:cNvSpPr/>
          <p:nvPr/>
        </p:nvSpPr>
        <p:spPr>
          <a:xfrm>
            <a:off x="5143500" y="7269063"/>
            <a:ext cx="14288" cy="857250"/>
          </a:xfrm>
          <a:prstGeom prst="rect">
            <a:avLst/>
          </a:prstGeom>
          <a:solidFill>
            <a:srgbClr val="FFFFFF">
              <a:alpha val="12000"/>
            </a:srgbClr>
          </a:solidFill>
          <a:ln/>
        </p:spPr>
        <p:txBody>
          <a:bodyPr/>
          <a:lstStyle/>
          <a:p>
            <a:endParaRPr lang="en-US"/>
          </a:p>
        </p:txBody>
      </p:sp>
      <p:sp>
        <p:nvSpPr>
          <p:cNvPr id="25" name="Text 23"/>
          <p:cNvSpPr/>
          <p:nvPr/>
        </p:nvSpPr>
        <p:spPr>
          <a:xfrm>
            <a:off x="5729288" y="7516713"/>
            <a:ext cx="2933700" cy="400050"/>
          </a:xfrm>
          <a:prstGeom prst="rect">
            <a:avLst/>
          </a:prstGeom>
          <a:noFill/>
          <a:ln/>
        </p:spPr>
        <p:txBody>
          <a:bodyPr wrap="square" lIns="25400" tIns="25400" rIns="25400" bIns="25400" rtlCol="0" anchor="t">
            <a:normAutofit/>
          </a:bodyPr>
          <a:lstStyle/>
          <a:p>
            <a:pPr marL="0" indent="0" algn="l">
              <a:buNone/>
            </a:pPr>
            <a:r>
              <a:rPr lang="en-US" sz="2250" b="1" kern="0" spc="15" dirty="0">
                <a:solidFill>
                  <a:srgbClr val="FFFFFF"/>
                </a:solidFill>
                <a:latin typeface="Sora" pitchFamily="34" charset="0"/>
                <a:ea typeface="Sora" pitchFamily="34" charset="-122"/>
                <a:cs typeface="Sora" pitchFamily="34" charset="-120"/>
              </a:rPr>
              <a:t>This Project</a:t>
            </a:r>
            <a:endParaRPr lang="en-US" sz="2250" dirty="0"/>
          </a:p>
        </p:txBody>
      </p:sp>
      <p:sp>
        <p:nvSpPr>
          <p:cNvPr id="26" name="Shape 24"/>
          <p:cNvSpPr/>
          <p:nvPr/>
        </p:nvSpPr>
        <p:spPr>
          <a:xfrm>
            <a:off x="8967788" y="7269063"/>
            <a:ext cx="14288" cy="857250"/>
          </a:xfrm>
          <a:prstGeom prst="rect">
            <a:avLst/>
          </a:prstGeom>
          <a:solidFill>
            <a:srgbClr val="FFFFFF">
              <a:alpha val="12000"/>
            </a:srgbClr>
          </a:solidFill>
          <a:ln/>
        </p:spPr>
        <p:txBody>
          <a:bodyPr/>
          <a:lstStyle/>
          <a:p>
            <a:endParaRPr lang="en-US"/>
          </a:p>
        </p:txBody>
      </p:sp>
      <p:sp>
        <p:nvSpPr>
          <p:cNvPr id="27" name="Text 25"/>
          <p:cNvSpPr/>
          <p:nvPr/>
        </p:nvSpPr>
        <p:spPr>
          <a:xfrm>
            <a:off x="9553575" y="7505849"/>
            <a:ext cx="7334250" cy="421928"/>
          </a:xfrm>
          <a:prstGeom prst="rect">
            <a:avLst/>
          </a:prstGeom>
          <a:noFill/>
          <a:ln/>
        </p:spPr>
        <p:txBody>
          <a:bodyPr wrap="square" lIns="25400" tIns="25400" rIns="25400" bIns="25400" rtlCol="0" anchor="t">
            <a:normAutofit fontScale="92500" lnSpcReduction="10000"/>
          </a:bodyPr>
          <a:lstStyle/>
          <a:p>
            <a:pPr marL="0" indent="0" algn="l">
              <a:lnSpc>
                <a:spcPct val="155000"/>
              </a:lnSpc>
              <a:buNone/>
            </a:pPr>
            <a:r>
              <a:rPr lang="en-US" sz="1950" dirty="0">
                <a:solidFill>
                  <a:srgbClr val="FFFFFF">
                    <a:alpha val="60000"/>
                  </a:srgbClr>
                </a:solidFill>
                <a:latin typeface="Nunito Sans" pitchFamily="34" charset="0"/>
                <a:ea typeface="Nunito Sans" pitchFamily="34" charset="-122"/>
                <a:cs typeface="Nunito Sans" pitchFamily="34" charset="-120"/>
              </a:rPr>
              <a:t>Full raw data access, 5 sensors + ML pipeline</a:t>
            </a:r>
            <a:endParaRPr lang="en-US" sz="1950" dirty="0"/>
          </a:p>
        </p:txBody>
      </p:sp>
      <p:sp>
        <p:nvSpPr>
          <p:cNvPr id="28" name="Shape 26"/>
          <p:cNvSpPr/>
          <p:nvPr/>
        </p:nvSpPr>
        <p:spPr>
          <a:xfrm>
            <a:off x="0" y="9553575"/>
            <a:ext cx="18288000" cy="733425"/>
          </a:xfrm>
          <a:prstGeom prst="rect">
            <a:avLst/>
          </a:prstGeom>
          <a:solidFill>
            <a:srgbClr val="FFFFFF"/>
          </a:solidFill>
          <a:ln/>
        </p:spPr>
        <p:txBody>
          <a:bodyPr/>
          <a:lstStyle/>
          <a:p>
            <a:endParaRPr lang="en-US"/>
          </a:p>
        </p:txBody>
      </p:sp>
      <p:sp>
        <p:nvSpPr>
          <p:cNvPr id="29" name="Shape 27"/>
          <p:cNvSpPr/>
          <p:nvPr/>
        </p:nvSpPr>
        <p:spPr>
          <a:xfrm>
            <a:off x="0" y="9553575"/>
            <a:ext cx="18288000" cy="9525"/>
          </a:xfrm>
          <a:prstGeom prst="rect">
            <a:avLst/>
          </a:prstGeom>
          <a:solidFill>
            <a:srgbClr val="E8E8E8"/>
          </a:solidFill>
          <a:ln/>
        </p:spPr>
        <p:txBody>
          <a:bodyPr/>
          <a:lstStyle/>
          <a:p>
            <a:endParaRPr lang="en-US"/>
          </a:p>
        </p:txBody>
      </p:sp>
      <p:sp>
        <p:nvSpPr>
          <p:cNvPr id="33" name="Text 20">
            <a:extLst>
              <a:ext uri="{FF2B5EF4-FFF2-40B4-BE49-F238E27FC236}">
                <a16:creationId xmlns:a16="http://schemas.microsoft.com/office/drawing/2014/main" id="{812A7310-CEA0-2848-1157-CD0FFE2152FB}"/>
              </a:ext>
            </a:extLst>
          </p:cNvPr>
          <p:cNvSpPr/>
          <p:nvPr/>
        </p:nvSpPr>
        <p:spPr>
          <a:xfrm>
            <a:off x="16714946" y="9848850"/>
            <a:ext cx="696754"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04 / 17</a:t>
            </a:r>
            <a:endParaRPr lang="en-US" sz="1500" dirty="0"/>
          </a:p>
        </p:txBody>
      </p:sp>
      <p:sp>
        <p:nvSpPr>
          <p:cNvPr id="35" name="Text 17">
            <a:extLst>
              <a:ext uri="{FF2B5EF4-FFF2-40B4-BE49-F238E27FC236}">
                <a16:creationId xmlns:a16="http://schemas.microsoft.com/office/drawing/2014/main" id="{8A178F83-CC03-30F6-5411-7380DABD9810}"/>
              </a:ext>
            </a:extLst>
          </p:cNvPr>
          <p:cNvSpPr/>
          <p:nvPr/>
        </p:nvSpPr>
        <p:spPr>
          <a:xfrm>
            <a:off x="36731" y="9012555"/>
            <a:ext cx="18021300" cy="373380"/>
          </a:xfrm>
          <a:prstGeom prst="rect">
            <a:avLst/>
          </a:prstGeom>
          <a:noFill/>
          <a:ln/>
        </p:spPr>
        <p:txBody>
          <a:bodyPr wrap="square" lIns="25400" tIns="25400" rIns="25400" bIns="25400" rtlCol="0" anchor="t">
            <a:normAutofit/>
          </a:bodyPr>
          <a:lstStyle/>
          <a:p>
            <a:pPr marL="0" indent="0" algn="ctr">
              <a:buNone/>
            </a:pPr>
            <a:r>
              <a:rPr lang="en-US" sz="1950" i="1" dirty="0">
                <a:solidFill>
                  <a:schemeClr val="bg1"/>
                </a:solidFill>
                <a:latin typeface="Nunito Sans" pitchFamily="34" charset="0"/>
                <a:ea typeface="Nunito Sans" pitchFamily="34" charset="-122"/>
                <a:cs typeface="Nunito Sans" pitchFamily="34" charset="-120"/>
              </a:rPr>
              <a:t>Goal: build an open, low-cost wearable sleep monitoring system with full raw data access</a:t>
            </a:r>
            <a:endParaRPr lang="en-US" sz="1950" dirty="0">
              <a:solidFill>
                <a:schemeClr val="bg1"/>
              </a:solidFill>
            </a:endParaRPr>
          </a:p>
        </p:txBody>
      </p:sp>
      <p:sp>
        <p:nvSpPr>
          <p:cNvPr id="37" name="Text 19">
            <a:extLst>
              <a:ext uri="{FF2B5EF4-FFF2-40B4-BE49-F238E27FC236}">
                <a16:creationId xmlns:a16="http://schemas.microsoft.com/office/drawing/2014/main" id="{24FE14E9-4043-E91F-EF44-74238A623F57}"/>
              </a:ext>
            </a:extLst>
          </p:cNvPr>
          <p:cNvSpPr/>
          <p:nvPr/>
        </p:nvSpPr>
        <p:spPr>
          <a:xfrm>
            <a:off x="952500" y="9837420"/>
            <a:ext cx="977146"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Motivation</a:t>
            </a:r>
            <a:endParaRPr lang="en-US" sz="1500" dirty="0">
              <a:solidFill>
                <a:schemeClr val="accent2"/>
              </a:solidFill>
            </a:endParaRPr>
          </a:p>
        </p:txBody>
      </p:sp>
      <p:sp>
        <p:nvSpPr>
          <p:cNvPr id="39" name="Text 1">
            <a:extLst>
              <a:ext uri="{FF2B5EF4-FFF2-40B4-BE49-F238E27FC236}">
                <a16:creationId xmlns:a16="http://schemas.microsoft.com/office/drawing/2014/main" id="{86617D59-3D65-A07E-8D1A-BAD1ECD4137D}"/>
              </a:ext>
            </a:extLst>
          </p:cNvPr>
          <p:cNvSpPr/>
          <p:nvPr/>
        </p:nvSpPr>
        <p:spPr>
          <a:xfrm>
            <a:off x="2141339" y="830580"/>
            <a:ext cx="5553599"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Motivation</a:t>
            </a:r>
            <a:endParaRPr lang="en-US" sz="3600" dirty="0"/>
          </a:p>
        </p:txBody>
      </p:sp>
      <p:sp>
        <p:nvSpPr>
          <p:cNvPr id="41" name="Text 0">
            <a:extLst>
              <a:ext uri="{FF2B5EF4-FFF2-40B4-BE49-F238E27FC236}">
                <a16:creationId xmlns:a16="http://schemas.microsoft.com/office/drawing/2014/main" id="{FBF6E281-AE3F-1506-8578-B398A61D9138}"/>
              </a:ext>
            </a:extLst>
          </p:cNvPr>
          <p:cNvSpPr/>
          <p:nvPr/>
        </p:nvSpPr>
        <p:spPr>
          <a:xfrm>
            <a:off x="952500" y="457200"/>
            <a:ext cx="1074539"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02</a:t>
            </a:r>
            <a:endParaRPr lang="en-US" sz="6600" dirty="0">
              <a:solidFill>
                <a:schemeClr val="accent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245513" cy="1097280"/>
          </a:xfrm>
          <a:prstGeom prst="rect">
            <a:avLst/>
          </a:prstGeom>
          <a:noFill/>
          <a:ln/>
        </p:spPr>
        <p:txBody>
          <a:bodyPr wrap="square" lIns="25400" tIns="25400" rIns="25400" bIns="25400" rtlCol="0" anchor="t">
            <a:normAutofit/>
          </a:bodyPr>
          <a:lstStyle/>
          <a:p>
            <a:r>
              <a:rPr lang="en-US" sz="6600" b="1" dirty="0">
                <a:solidFill>
                  <a:schemeClr val="accent2"/>
                </a:solidFill>
                <a:latin typeface="Sora" pitchFamily="34" charset="0"/>
                <a:ea typeface="Sora" pitchFamily="34" charset="-122"/>
                <a:cs typeface="Sora" pitchFamily="34" charset="-120"/>
              </a:rPr>
              <a:t>03</a:t>
            </a:r>
            <a:endParaRPr lang="en-US" sz="6600" dirty="0">
              <a:solidFill>
                <a:schemeClr val="tx1">
                  <a:alpha val="8000"/>
                </a:schemeClr>
              </a:solidFill>
            </a:endParaRPr>
          </a:p>
        </p:txBody>
      </p:sp>
      <p:sp>
        <p:nvSpPr>
          <p:cNvPr id="3" name="Text 1"/>
          <p:cNvSpPr/>
          <p:nvPr/>
        </p:nvSpPr>
        <p:spPr>
          <a:xfrm>
            <a:off x="2312313" y="830580"/>
            <a:ext cx="5341299"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System Architecture</a:t>
            </a:r>
            <a:endParaRPr lang="en-US" sz="3600" dirty="0"/>
          </a:p>
        </p:txBody>
      </p:sp>
      <p:sp>
        <p:nvSpPr>
          <p:cNvPr id="7" name="Shape 5"/>
          <p:cNvSpPr/>
          <p:nvPr/>
        </p:nvSpPr>
        <p:spPr>
          <a:xfrm>
            <a:off x="0" y="9639300"/>
            <a:ext cx="18288000" cy="9525"/>
          </a:xfrm>
          <a:prstGeom prst="rect">
            <a:avLst/>
          </a:prstGeom>
          <a:solidFill>
            <a:srgbClr val="EEEEEE"/>
          </a:solidFill>
          <a:ln/>
        </p:spPr>
        <p:txBody>
          <a:bodyPr/>
          <a:lstStyle/>
          <a:p>
            <a:endParaRPr lang="en-US"/>
          </a:p>
        </p:txBody>
      </p:sp>
      <p:sp>
        <p:nvSpPr>
          <p:cNvPr id="8" name="Text 6"/>
          <p:cNvSpPr/>
          <p:nvPr/>
        </p:nvSpPr>
        <p:spPr>
          <a:xfrm>
            <a:off x="952500" y="9837420"/>
            <a:ext cx="3087588"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System Architecture &amp; Hardware</a:t>
            </a:r>
            <a:endParaRPr lang="en-US" sz="1500" dirty="0">
              <a:solidFill>
                <a:schemeClr val="accent2"/>
              </a:solidFill>
            </a:endParaRPr>
          </a:p>
        </p:txBody>
      </p:sp>
      <p:sp>
        <p:nvSpPr>
          <p:cNvPr id="9" name="Text 7"/>
          <p:cNvSpPr/>
          <p:nvPr/>
        </p:nvSpPr>
        <p:spPr>
          <a:xfrm>
            <a:off x="16719709" y="9848850"/>
            <a:ext cx="691991"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05 / 17</a:t>
            </a:r>
            <a:endParaRPr lang="en-US" sz="1500" dirty="0"/>
          </a:p>
        </p:txBody>
      </p:sp>
      <p:pic>
        <p:nvPicPr>
          <p:cNvPr id="13" name="Picture 12">
            <a:extLst>
              <a:ext uri="{FF2B5EF4-FFF2-40B4-BE49-F238E27FC236}">
                <a16:creationId xmlns:a16="http://schemas.microsoft.com/office/drawing/2014/main" id="{CD176A1B-290C-C696-70DB-CD0E8EB19B6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6873" y="1483874"/>
            <a:ext cx="15883239" cy="811173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245513" cy="1097280"/>
          </a:xfrm>
          <a:prstGeom prst="rect">
            <a:avLst/>
          </a:prstGeom>
          <a:noFill/>
          <a:ln/>
        </p:spPr>
        <p:txBody>
          <a:bodyPr wrap="square" lIns="25400" tIns="25400" rIns="25400" bIns="25400" rtlCol="0" anchor="t">
            <a:normAutofit/>
          </a:bodyPr>
          <a:lstStyle/>
          <a:p>
            <a:r>
              <a:rPr lang="en-US" sz="6600" b="1" dirty="0">
                <a:solidFill>
                  <a:schemeClr val="accent2"/>
                </a:solidFill>
                <a:latin typeface="Sora" pitchFamily="34" charset="0"/>
                <a:ea typeface="Sora" pitchFamily="34" charset="-122"/>
                <a:cs typeface="Sora" pitchFamily="34" charset="-120"/>
              </a:rPr>
              <a:t>03</a:t>
            </a:r>
            <a:endParaRPr lang="en-US" sz="6600" dirty="0">
              <a:solidFill>
                <a:schemeClr val="tx1">
                  <a:alpha val="8000"/>
                </a:schemeClr>
              </a:solidFill>
            </a:endParaRPr>
          </a:p>
          <a:p>
            <a:pPr marL="0" indent="0" algn="l">
              <a:buNone/>
            </a:pPr>
            <a:endParaRPr lang="en-US" sz="6600" dirty="0"/>
          </a:p>
        </p:txBody>
      </p:sp>
      <p:sp>
        <p:nvSpPr>
          <p:cNvPr id="3" name="Text 1"/>
          <p:cNvSpPr/>
          <p:nvPr/>
        </p:nvSpPr>
        <p:spPr>
          <a:xfrm>
            <a:off x="2312313" y="830580"/>
            <a:ext cx="4479786"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Hardware Design</a:t>
            </a:r>
            <a:endParaRPr lang="en-US" sz="3600" dirty="0"/>
          </a:p>
        </p:txBody>
      </p:sp>
      <p:sp>
        <p:nvSpPr>
          <p:cNvPr id="4" name="Shape 2"/>
          <p:cNvSpPr/>
          <p:nvPr/>
        </p:nvSpPr>
        <p:spPr>
          <a:xfrm>
            <a:off x="1015995" y="1866900"/>
            <a:ext cx="5359361" cy="1485900"/>
          </a:xfrm>
          <a:prstGeom prst="roundRect">
            <a:avLst>
              <a:gd name="adj" fmla="val 5128"/>
            </a:avLst>
          </a:prstGeom>
          <a:solidFill>
            <a:srgbClr val="F5F3F0"/>
          </a:solidFill>
          <a:ln/>
        </p:spPr>
        <p:txBody>
          <a:bodyPr/>
          <a:lstStyle/>
          <a:p>
            <a:endParaRPr lang="en-US"/>
          </a:p>
        </p:txBody>
      </p:sp>
      <p:sp>
        <p:nvSpPr>
          <p:cNvPr id="5" name="Text 3"/>
          <p:cNvSpPr/>
          <p:nvPr/>
        </p:nvSpPr>
        <p:spPr>
          <a:xfrm>
            <a:off x="1282695" y="2133600"/>
            <a:ext cx="5308556"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ESP32-C3 Super Mini</a:t>
            </a:r>
            <a:endParaRPr lang="en-US" sz="1950" dirty="0"/>
          </a:p>
        </p:txBody>
      </p:sp>
      <p:sp>
        <p:nvSpPr>
          <p:cNvPr id="6" name="Text 4"/>
          <p:cNvSpPr/>
          <p:nvPr/>
        </p:nvSpPr>
        <p:spPr>
          <a:xfrm>
            <a:off x="1282695" y="2484120"/>
            <a:ext cx="5308556" cy="327660"/>
          </a:xfrm>
          <a:prstGeom prst="rect">
            <a:avLst/>
          </a:prstGeom>
          <a:noFill/>
          <a:ln/>
        </p:spPr>
        <p:txBody>
          <a:bodyPr wrap="square" lIns="25400" tIns="25400" rIns="25400" bIns="25400" rtlCol="0" anchor="t">
            <a:normAutofit/>
          </a:bodyPr>
          <a:lstStyle/>
          <a:p>
            <a:pPr marL="0" indent="0" algn="l">
              <a:buNone/>
            </a:pPr>
            <a:r>
              <a:rPr lang="en-US" sz="1650" dirty="0">
                <a:solidFill>
                  <a:srgbClr val="999999"/>
                </a:solidFill>
                <a:latin typeface="Nunito Sans" pitchFamily="34" charset="0"/>
                <a:ea typeface="Nunito Sans" pitchFamily="34" charset="-122"/>
                <a:cs typeface="Nunito Sans" pitchFamily="34" charset="-120"/>
              </a:rPr>
              <a:t>RISC-V 160 MHz, WiFi, single-core</a:t>
            </a:r>
            <a:endParaRPr lang="en-US" sz="1650" dirty="0"/>
          </a:p>
        </p:txBody>
      </p:sp>
      <p:sp>
        <p:nvSpPr>
          <p:cNvPr id="7" name="Text 5"/>
          <p:cNvSpPr/>
          <p:nvPr/>
        </p:nvSpPr>
        <p:spPr>
          <a:xfrm>
            <a:off x="1282695" y="2849880"/>
            <a:ext cx="5308556"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MCU</a:t>
            </a:r>
            <a:endParaRPr lang="en-US" sz="1500" dirty="0"/>
          </a:p>
        </p:txBody>
      </p:sp>
      <p:sp>
        <p:nvSpPr>
          <p:cNvPr id="8" name="Shape 6"/>
          <p:cNvSpPr/>
          <p:nvPr/>
        </p:nvSpPr>
        <p:spPr>
          <a:xfrm>
            <a:off x="6527756" y="1866900"/>
            <a:ext cx="5359361" cy="1485900"/>
          </a:xfrm>
          <a:prstGeom prst="roundRect">
            <a:avLst>
              <a:gd name="adj" fmla="val 5128"/>
            </a:avLst>
          </a:prstGeom>
          <a:solidFill>
            <a:srgbClr val="F5F3F0"/>
          </a:solidFill>
          <a:ln/>
        </p:spPr>
        <p:txBody>
          <a:bodyPr/>
          <a:lstStyle/>
          <a:p>
            <a:endParaRPr lang="en-US"/>
          </a:p>
        </p:txBody>
      </p:sp>
      <p:sp>
        <p:nvSpPr>
          <p:cNvPr id="9" name="Text 7"/>
          <p:cNvSpPr/>
          <p:nvPr/>
        </p:nvSpPr>
        <p:spPr>
          <a:xfrm>
            <a:off x="6794456" y="2133600"/>
            <a:ext cx="5308556"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MAX30102</a:t>
            </a:r>
            <a:endParaRPr lang="en-US" sz="1950" dirty="0"/>
          </a:p>
        </p:txBody>
      </p:sp>
      <p:sp>
        <p:nvSpPr>
          <p:cNvPr id="10" name="Text 8"/>
          <p:cNvSpPr/>
          <p:nvPr/>
        </p:nvSpPr>
        <p:spPr>
          <a:xfrm>
            <a:off x="6794456" y="2484120"/>
            <a:ext cx="5308556" cy="327660"/>
          </a:xfrm>
          <a:prstGeom prst="rect">
            <a:avLst/>
          </a:prstGeom>
          <a:noFill/>
          <a:ln/>
        </p:spPr>
        <p:txBody>
          <a:bodyPr wrap="square" lIns="25400" tIns="25400" rIns="25400" bIns="25400" rtlCol="0" anchor="t">
            <a:normAutofit/>
          </a:bodyPr>
          <a:lstStyle/>
          <a:p>
            <a:pPr marL="0" indent="0" algn="l">
              <a:buNone/>
            </a:pPr>
            <a:r>
              <a:rPr lang="en-US" sz="1650" dirty="0">
                <a:solidFill>
                  <a:srgbClr val="999999"/>
                </a:solidFill>
                <a:latin typeface="Nunito Sans" pitchFamily="34" charset="0"/>
                <a:ea typeface="Nunito Sans" pitchFamily="34" charset="-122"/>
                <a:cs typeface="Nunito Sans" pitchFamily="34" charset="-120"/>
              </a:rPr>
              <a:t>PPG + SpO₂ (red 660nm, IR 880nm)</a:t>
            </a:r>
            <a:endParaRPr lang="en-US" sz="1650" dirty="0"/>
          </a:p>
        </p:txBody>
      </p:sp>
      <p:sp>
        <p:nvSpPr>
          <p:cNvPr id="11" name="Text 9"/>
          <p:cNvSpPr/>
          <p:nvPr/>
        </p:nvSpPr>
        <p:spPr>
          <a:xfrm>
            <a:off x="6794456" y="2849880"/>
            <a:ext cx="5308556"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Optical</a:t>
            </a:r>
            <a:endParaRPr lang="en-US" sz="1500" dirty="0"/>
          </a:p>
        </p:txBody>
      </p:sp>
      <p:sp>
        <p:nvSpPr>
          <p:cNvPr id="12" name="Shape 10"/>
          <p:cNvSpPr/>
          <p:nvPr/>
        </p:nvSpPr>
        <p:spPr>
          <a:xfrm>
            <a:off x="12039516" y="1866900"/>
            <a:ext cx="5359361" cy="1485900"/>
          </a:xfrm>
          <a:prstGeom prst="roundRect">
            <a:avLst>
              <a:gd name="adj" fmla="val 5128"/>
            </a:avLst>
          </a:prstGeom>
          <a:solidFill>
            <a:srgbClr val="F5F3F0"/>
          </a:solidFill>
          <a:ln/>
        </p:spPr>
        <p:txBody>
          <a:bodyPr/>
          <a:lstStyle/>
          <a:p>
            <a:endParaRPr lang="en-US"/>
          </a:p>
        </p:txBody>
      </p:sp>
      <p:sp>
        <p:nvSpPr>
          <p:cNvPr id="13" name="Text 11"/>
          <p:cNvSpPr/>
          <p:nvPr/>
        </p:nvSpPr>
        <p:spPr>
          <a:xfrm>
            <a:off x="12306216" y="2133600"/>
            <a:ext cx="5308556"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MPU6050</a:t>
            </a:r>
            <a:endParaRPr lang="en-US" sz="1950" dirty="0"/>
          </a:p>
        </p:txBody>
      </p:sp>
      <p:sp>
        <p:nvSpPr>
          <p:cNvPr id="14" name="Text 12"/>
          <p:cNvSpPr/>
          <p:nvPr/>
        </p:nvSpPr>
        <p:spPr>
          <a:xfrm>
            <a:off x="12306216" y="2484120"/>
            <a:ext cx="5308556" cy="327660"/>
          </a:xfrm>
          <a:prstGeom prst="rect">
            <a:avLst/>
          </a:prstGeom>
          <a:noFill/>
          <a:ln/>
        </p:spPr>
        <p:txBody>
          <a:bodyPr wrap="square" lIns="25400" tIns="25400" rIns="25400" bIns="25400" rtlCol="0" anchor="t">
            <a:normAutofit/>
          </a:bodyPr>
          <a:lstStyle/>
          <a:p>
            <a:pPr marL="0" indent="0" algn="l">
              <a:buNone/>
            </a:pPr>
            <a:r>
              <a:rPr lang="en-US" sz="1650" dirty="0">
                <a:solidFill>
                  <a:srgbClr val="999999"/>
                </a:solidFill>
                <a:latin typeface="Nunito Sans" pitchFamily="34" charset="0"/>
                <a:ea typeface="Nunito Sans" pitchFamily="34" charset="-122"/>
                <a:cs typeface="Nunito Sans" pitchFamily="34" charset="-120"/>
              </a:rPr>
              <a:t>6-axis IMU (accel + gyro)</a:t>
            </a:r>
            <a:endParaRPr lang="en-US" sz="1650" dirty="0"/>
          </a:p>
        </p:txBody>
      </p:sp>
      <p:sp>
        <p:nvSpPr>
          <p:cNvPr id="15" name="Text 13"/>
          <p:cNvSpPr/>
          <p:nvPr/>
        </p:nvSpPr>
        <p:spPr>
          <a:xfrm>
            <a:off x="12306216" y="2849880"/>
            <a:ext cx="5308556"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Motion</a:t>
            </a:r>
            <a:endParaRPr lang="en-US" sz="1500" dirty="0"/>
          </a:p>
        </p:txBody>
      </p:sp>
      <p:sp>
        <p:nvSpPr>
          <p:cNvPr id="16" name="Shape 14"/>
          <p:cNvSpPr/>
          <p:nvPr/>
        </p:nvSpPr>
        <p:spPr>
          <a:xfrm>
            <a:off x="1015995" y="3505200"/>
            <a:ext cx="5359361" cy="1485900"/>
          </a:xfrm>
          <a:prstGeom prst="roundRect">
            <a:avLst>
              <a:gd name="adj" fmla="val 5128"/>
            </a:avLst>
          </a:prstGeom>
          <a:solidFill>
            <a:srgbClr val="F5F3F0"/>
          </a:solidFill>
          <a:ln/>
        </p:spPr>
        <p:txBody>
          <a:bodyPr/>
          <a:lstStyle/>
          <a:p>
            <a:endParaRPr lang="en-US"/>
          </a:p>
        </p:txBody>
      </p:sp>
      <p:sp>
        <p:nvSpPr>
          <p:cNvPr id="17" name="Text 15"/>
          <p:cNvSpPr/>
          <p:nvPr/>
        </p:nvSpPr>
        <p:spPr>
          <a:xfrm>
            <a:off x="1282695" y="3771900"/>
            <a:ext cx="5308556"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BMP280</a:t>
            </a:r>
            <a:endParaRPr lang="en-US" sz="1950" dirty="0"/>
          </a:p>
        </p:txBody>
      </p:sp>
      <p:sp>
        <p:nvSpPr>
          <p:cNvPr id="18" name="Text 16"/>
          <p:cNvSpPr/>
          <p:nvPr/>
        </p:nvSpPr>
        <p:spPr>
          <a:xfrm>
            <a:off x="1282695" y="4122420"/>
            <a:ext cx="5308556" cy="327660"/>
          </a:xfrm>
          <a:prstGeom prst="rect">
            <a:avLst/>
          </a:prstGeom>
          <a:noFill/>
          <a:ln/>
        </p:spPr>
        <p:txBody>
          <a:bodyPr wrap="square" lIns="25400" tIns="25400" rIns="25400" bIns="25400" rtlCol="0" anchor="t">
            <a:normAutofit/>
          </a:bodyPr>
          <a:lstStyle/>
          <a:p>
            <a:pPr marL="0" indent="0" algn="l">
              <a:buNone/>
            </a:pPr>
            <a:r>
              <a:rPr lang="en-US" sz="1650" dirty="0">
                <a:solidFill>
                  <a:srgbClr val="999999"/>
                </a:solidFill>
                <a:latin typeface="Nunito Sans" pitchFamily="34" charset="0"/>
                <a:ea typeface="Nunito Sans" pitchFamily="34" charset="-122"/>
                <a:cs typeface="Nunito Sans" pitchFamily="34" charset="-120"/>
              </a:rPr>
              <a:t>Skin temperature (±0.5°C)</a:t>
            </a:r>
            <a:endParaRPr lang="en-US" sz="1650" dirty="0"/>
          </a:p>
        </p:txBody>
      </p:sp>
      <p:sp>
        <p:nvSpPr>
          <p:cNvPr id="19" name="Text 17"/>
          <p:cNvSpPr/>
          <p:nvPr/>
        </p:nvSpPr>
        <p:spPr>
          <a:xfrm>
            <a:off x="1282695" y="4488180"/>
            <a:ext cx="5308556"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Temperature</a:t>
            </a:r>
            <a:endParaRPr lang="en-US" sz="1500" dirty="0"/>
          </a:p>
        </p:txBody>
      </p:sp>
      <p:sp>
        <p:nvSpPr>
          <p:cNvPr id="20" name="Shape 18"/>
          <p:cNvSpPr/>
          <p:nvPr/>
        </p:nvSpPr>
        <p:spPr>
          <a:xfrm>
            <a:off x="6527756" y="3505200"/>
            <a:ext cx="5359361" cy="1485900"/>
          </a:xfrm>
          <a:prstGeom prst="roundRect">
            <a:avLst>
              <a:gd name="adj" fmla="val 5128"/>
            </a:avLst>
          </a:prstGeom>
          <a:solidFill>
            <a:srgbClr val="F5F3F0"/>
          </a:solidFill>
          <a:ln/>
        </p:spPr>
        <p:txBody>
          <a:bodyPr/>
          <a:lstStyle/>
          <a:p>
            <a:endParaRPr lang="en-US"/>
          </a:p>
        </p:txBody>
      </p:sp>
      <p:sp>
        <p:nvSpPr>
          <p:cNvPr id="21" name="Text 19"/>
          <p:cNvSpPr/>
          <p:nvPr/>
        </p:nvSpPr>
        <p:spPr>
          <a:xfrm>
            <a:off x="6794456" y="3771900"/>
            <a:ext cx="5308556"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ADS1015 + Flex</a:t>
            </a:r>
            <a:endParaRPr lang="en-US" sz="1950" dirty="0"/>
          </a:p>
        </p:txBody>
      </p:sp>
      <p:sp>
        <p:nvSpPr>
          <p:cNvPr id="22" name="Text 20"/>
          <p:cNvSpPr/>
          <p:nvPr/>
        </p:nvSpPr>
        <p:spPr>
          <a:xfrm>
            <a:off x="6794456" y="4122420"/>
            <a:ext cx="5308556" cy="327660"/>
          </a:xfrm>
          <a:prstGeom prst="rect">
            <a:avLst/>
          </a:prstGeom>
          <a:noFill/>
          <a:ln/>
        </p:spPr>
        <p:txBody>
          <a:bodyPr wrap="square" lIns="25400" tIns="25400" rIns="25400" bIns="25400" rtlCol="0" anchor="t">
            <a:normAutofit/>
          </a:bodyPr>
          <a:lstStyle/>
          <a:p>
            <a:pPr marL="0" indent="0" algn="l">
              <a:buNone/>
            </a:pPr>
            <a:r>
              <a:rPr lang="en-US" sz="1650" dirty="0">
                <a:solidFill>
                  <a:srgbClr val="999999"/>
                </a:solidFill>
                <a:latin typeface="Nunito Sans" pitchFamily="34" charset="0"/>
                <a:ea typeface="Nunito Sans" pitchFamily="34" charset="-122"/>
                <a:cs typeface="Nunito Sans" pitchFamily="34" charset="-120"/>
              </a:rPr>
              <a:t>Respiration via chest band</a:t>
            </a:r>
            <a:endParaRPr lang="en-US" sz="1650" dirty="0"/>
          </a:p>
        </p:txBody>
      </p:sp>
      <p:sp>
        <p:nvSpPr>
          <p:cNvPr id="23" name="Text 21"/>
          <p:cNvSpPr/>
          <p:nvPr/>
        </p:nvSpPr>
        <p:spPr>
          <a:xfrm>
            <a:off x="6794456" y="4488180"/>
            <a:ext cx="5308556"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Respiration</a:t>
            </a:r>
            <a:endParaRPr lang="en-US" sz="1500" dirty="0"/>
          </a:p>
        </p:txBody>
      </p:sp>
      <p:sp>
        <p:nvSpPr>
          <p:cNvPr id="24" name="Shape 22"/>
          <p:cNvSpPr/>
          <p:nvPr/>
        </p:nvSpPr>
        <p:spPr>
          <a:xfrm>
            <a:off x="12039516" y="3505200"/>
            <a:ext cx="5359361" cy="1485900"/>
          </a:xfrm>
          <a:prstGeom prst="roundRect">
            <a:avLst>
              <a:gd name="adj" fmla="val 5128"/>
            </a:avLst>
          </a:prstGeom>
          <a:solidFill>
            <a:srgbClr val="F5F3F0"/>
          </a:solidFill>
          <a:ln/>
        </p:spPr>
        <p:txBody>
          <a:bodyPr/>
          <a:lstStyle/>
          <a:p>
            <a:endParaRPr lang="en-US"/>
          </a:p>
        </p:txBody>
      </p:sp>
      <p:sp>
        <p:nvSpPr>
          <p:cNvPr id="25" name="Text 23"/>
          <p:cNvSpPr/>
          <p:nvPr/>
        </p:nvSpPr>
        <p:spPr>
          <a:xfrm>
            <a:off x="12306216" y="3771900"/>
            <a:ext cx="5308556"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MAX4466</a:t>
            </a:r>
            <a:endParaRPr lang="en-US" sz="1950" dirty="0"/>
          </a:p>
        </p:txBody>
      </p:sp>
      <p:sp>
        <p:nvSpPr>
          <p:cNvPr id="26" name="Text 24"/>
          <p:cNvSpPr/>
          <p:nvPr/>
        </p:nvSpPr>
        <p:spPr>
          <a:xfrm>
            <a:off x="12306216" y="4122420"/>
            <a:ext cx="5308556" cy="327660"/>
          </a:xfrm>
          <a:prstGeom prst="rect">
            <a:avLst/>
          </a:prstGeom>
          <a:noFill/>
          <a:ln/>
        </p:spPr>
        <p:txBody>
          <a:bodyPr wrap="square" lIns="25400" tIns="25400" rIns="25400" bIns="25400" rtlCol="0" anchor="t">
            <a:normAutofit/>
          </a:bodyPr>
          <a:lstStyle/>
          <a:p>
            <a:pPr marL="0" indent="0" algn="l">
              <a:buNone/>
            </a:pPr>
            <a:r>
              <a:rPr lang="en-US" sz="1650" dirty="0">
                <a:solidFill>
                  <a:srgbClr val="999999"/>
                </a:solidFill>
                <a:latin typeface="Nunito Sans" pitchFamily="34" charset="0"/>
                <a:ea typeface="Nunito Sans" pitchFamily="34" charset="-122"/>
                <a:cs typeface="Nunito Sans" pitchFamily="34" charset="-120"/>
              </a:rPr>
              <a:t>Microphone for snoring detection</a:t>
            </a:r>
            <a:endParaRPr lang="en-US" sz="1650" dirty="0"/>
          </a:p>
        </p:txBody>
      </p:sp>
      <p:sp>
        <p:nvSpPr>
          <p:cNvPr id="27" name="Text 25"/>
          <p:cNvSpPr/>
          <p:nvPr/>
        </p:nvSpPr>
        <p:spPr>
          <a:xfrm>
            <a:off x="12306216" y="4488180"/>
            <a:ext cx="5308556"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Acoustic</a:t>
            </a:r>
            <a:endParaRPr lang="en-US" sz="1500" dirty="0"/>
          </a:p>
        </p:txBody>
      </p:sp>
      <p:sp>
        <p:nvSpPr>
          <p:cNvPr id="28" name="Text 26"/>
          <p:cNvSpPr/>
          <p:nvPr/>
        </p:nvSpPr>
        <p:spPr>
          <a:xfrm>
            <a:off x="678180" y="9326880"/>
            <a:ext cx="16931640" cy="350520"/>
          </a:xfrm>
          <a:prstGeom prst="rect">
            <a:avLst/>
          </a:prstGeom>
          <a:noFill/>
          <a:ln/>
        </p:spPr>
        <p:txBody>
          <a:bodyPr wrap="square" lIns="25400" tIns="25400" rIns="25400" bIns="25400" rtlCol="0" anchor="t">
            <a:normAutofit/>
          </a:bodyPr>
          <a:lstStyle/>
          <a:p>
            <a:pPr marL="0" indent="0" algn="ctr">
              <a:buNone/>
            </a:pPr>
            <a:r>
              <a:rPr lang="en-US" sz="1800" i="1" dirty="0">
                <a:latin typeface="Nunito Sans" pitchFamily="34" charset="0"/>
                <a:ea typeface="Nunito Sans" pitchFamily="34" charset="-122"/>
                <a:cs typeface="Nunito Sans" pitchFamily="34" charset="-120"/>
              </a:rPr>
              <a:t>TP4056 + LiPo 2500 mAh · &gt;17h runtime</a:t>
            </a:r>
            <a:endParaRPr lang="en-US" sz="1800" dirty="0"/>
          </a:p>
        </p:txBody>
      </p:sp>
      <p:sp>
        <p:nvSpPr>
          <p:cNvPr id="29" name="Shape 27"/>
          <p:cNvSpPr/>
          <p:nvPr/>
        </p:nvSpPr>
        <p:spPr>
          <a:xfrm>
            <a:off x="0" y="9639300"/>
            <a:ext cx="18288000" cy="9525"/>
          </a:xfrm>
          <a:prstGeom prst="rect">
            <a:avLst/>
          </a:prstGeom>
          <a:solidFill>
            <a:srgbClr val="EEEEEE"/>
          </a:solidFill>
          <a:ln/>
        </p:spPr>
        <p:txBody>
          <a:bodyPr/>
          <a:lstStyle/>
          <a:p>
            <a:endParaRPr lang="en-US"/>
          </a:p>
        </p:txBody>
      </p:sp>
      <p:sp>
        <p:nvSpPr>
          <p:cNvPr id="30" name="Text 28"/>
          <p:cNvSpPr/>
          <p:nvPr/>
        </p:nvSpPr>
        <p:spPr>
          <a:xfrm>
            <a:off x="952500" y="9837420"/>
            <a:ext cx="3087588"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System Architecture &amp; Hardware</a:t>
            </a:r>
            <a:endParaRPr lang="en-US" sz="1500" dirty="0">
              <a:solidFill>
                <a:schemeClr val="accent2"/>
              </a:solidFill>
            </a:endParaRPr>
          </a:p>
        </p:txBody>
      </p:sp>
      <p:sp>
        <p:nvSpPr>
          <p:cNvPr id="31" name="Text 29"/>
          <p:cNvSpPr/>
          <p:nvPr/>
        </p:nvSpPr>
        <p:spPr>
          <a:xfrm>
            <a:off x="16711969" y="9848850"/>
            <a:ext cx="699730"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06 / 17</a:t>
            </a:r>
            <a:endParaRPr lang="en-US" sz="1500" dirty="0"/>
          </a:p>
        </p:txBody>
      </p:sp>
      <p:pic>
        <p:nvPicPr>
          <p:cNvPr id="125" name="Picture 124">
            <a:extLst>
              <a:ext uri="{FF2B5EF4-FFF2-40B4-BE49-F238E27FC236}">
                <a16:creationId xmlns:a16="http://schemas.microsoft.com/office/drawing/2014/main" id="{BC06B6EC-2172-2752-F665-59B95867EB7B}"/>
              </a:ext>
            </a:extLst>
          </p:cNvPr>
          <p:cNvPicPr>
            <a:picLocks noChangeAspect="1"/>
          </p:cNvPicPr>
          <p:nvPr/>
        </p:nvPicPr>
        <p:blipFill>
          <a:blip r:embed="rId3"/>
          <a:stretch>
            <a:fillRect/>
          </a:stretch>
        </p:blipFill>
        <p:spPr>
          <a:xfrm rot="16200000">
            <a:off x="6653605" y="5153361"/>
            <a:ext cx="3538580" cy="379027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245513"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03</a:t>
            </a:r>
            <a:endParaRPr lang="en-US" sz="6600" dirty="0">
              <a:solidFill>
                <a:schemeClr val="accent2"/>
              </a:solidFill>
            </a:endParaRPr>
          </a:p>
        </p:txBody>
      </p:sp>
      <p:sp>
        <p:nvSpPr>
          <p:cNvPr id="3" name="Text 1"/>
          <p:cNvSpPr/>
          <p:nvPr/>
        </p:nvSpPr>
        <p:spPr>
          <a:xfrm>
            <a:off x="2312313" y="830580"/>
            <a:ext cx="5514570"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Wearable Integration</a:t>
            </a:r>
            <a:endParaRPr lang="en-US" sz="3600" dirty="0"/>
          </a:p>
        </p:txBody>
      </p:sp>
      <p:sp>
        <p:nvSpPr>
          <p:cNvPr id="8" name="Text 6"/>
          <p:cNvSpPr/>
          <p:nvPr/>
        </p:nvSpPr>
        <p:spPr>
          <a:xfrm>
            <a:off x="4293513" y="8477250"/>
            <a:ext cx="1408962"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Wrist Unit</a:t>
            </a:r>
            <a:endParaRPr lang="en-US" sz="1950" dirty="0"/>
          </a:p>
        </p:txBody>
      </p:sp>
      <p:sp>
        <p:nvSpPr>
          <p:cNvPr id="9" name="Text 7"/>
          <p:cNvSpPr/>
          <p:nvPr/>
        </p:nvSpPr>
        <p:spPr>
          <a:xfrm>
            <a:off x="1779044" y="8980170"/>
            <a:ext cx="6309813" cy="327660"/>
          </a:xfrm>
          <a:prstGeom prst="rect">
            <a:avLst/>
          </a:prstGeom>
          <a:noFill/>
          <a:ln/>
        </p:spPr>
        <p:txBody>
          <a:bodyPr wrap="square" lIns="25400" tIns="25400" rIns="25400" bIns="25400" rtlCol="0" anchor="t">
            <a:normAutofit/>
          </a:bodyPr>
          <a:lstStyle/>
          <a:p>
            <a:pPr marL="0" indent="0" algn="ctr">
              <a:buNone/>
            </a:pPr>
            <a:r>
              <a:rPr lang="en-US" sz="1650" dirty="0">
                <a:latin typeface="Nunito Sans" pitchFamily="34" charset="0"/>
                <a:ea typeface="Nunito Sans" pitchFamily="34" charset="-122"/>
                <a:cs typeface="Nunito Sans" pitchFamily="34" charset="-120"/>
              </a:rPr>
              <a:t>PPG, IMU, temperature, microphone sensors during recording</a:t>
            </a:r>
            <a:endParaRPr lang="en-US" sz="1650" dirty="0"/>
          </a:p>
        </p:txBody>
      </p:sp>
      <p:sp>
        <p:nvSpPr>
          <p:cNvPr id="14" name="Text 12"/>
          <p:cNvSpPr/>
          <p:nvPr/>
        </p:nvSpPr>
        <p:spPr>
          <a:xfrm>
            <a:off x="12176879" y="8477250"/>
            <a:ext cx="2589645" cy="350520"/>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Elastic Chest Band</a:t>
            </a:r>
            <a:endParaRPr lang="en-US" sz="1950" dirty="0"/>
          </a:p>
        </p:txBody>
      </p:sp>
      <p:sp>
        <p:nvSpPr>
          <p:cNvPr id="15" name="Text 13"/>
          <p:cNvSpPr/>
          <p:nvPr/>
        </p:nvSpPr>
        <p:spPr>
          <a:xfrm>
            <a:off x="11423047" y="8980170"/>
            <a:ext cx="3862007" cy="327660"/>
          </a:xfrm>
          <a:prstGeom prst="rect">
            <a:avLst/>
          </a:prstGeom>
          <a:noFill/>
          <a:ln/>
        </p:spPr>
        <p:txBody>
          <a:bodyPr wrap="square" lIns="25400" tIns="25400" rIns="25400" bIns="25400" rtlCol="0" anchor="t">
            <a:normAutofit/>
          </a:bodyPr>
          <a:lstStyle/>
          <a:p>
            <a:pPr marL="0" indent="0" algn="ctr">
              <a:buNone/>
            </a:pPr>
            <a:r>
              <a:rPr lang="en-US" sz="1650" dirty="0">
                <a:latin typeface="Nunito Sans" pitchFamily="34" charset="0"/>
                <a:ea typeface="Nunito Sans" pitchFamily="34" charset="-122"/>
                <a:cs typeface="Nunito Sans" pitchFamily="34" charset="-120"/>
              </a:rPr>
              <a:t>Flex sensor for respiration monitoring</a:t>
            </a:r>
            <a:endParaRPr lang="en-US" sz="1650" dirty="0"/>
          </a:p>
        </p:txBody>
      </p:sp>
      <p:sp>
        <p:nvSpPr>
          <p:cNvPr id="16" name="Shape 14"/>
          <p:cNvSpPr/>
          <p:nvPr/>
        </p:nvSpPr>
        <p:spPr>
          <a:xfrm>
            <a:off x="0" y="9639300"/>
            <a:ext cx="18288000" cy="9525"/>
          </a:xfrm>
          <a:prstGeom prst="rect">
            <a:avLst/>
          </a:prstGeom>
          <a:solidFill>
            <a:srgbClr val="EEEEEE"/>
          </a:solidFill>
          <a:ln/>
        </p:spPr>
        <p:txBody>
          <a:bodyPr/>
          <a:lstStyle/>
          <a:p>
            <a:endParaRPr lang="en-US"/>
          </a:p>
        </p:txBody>
      </p:sp>
      <p:sp>
        <p:nvSpPr>
          <p:cNvPr id="17" name="Text 15"/>
          <p:cNvSpPr/>
          <p:nvPr/>
        </p:nvSpPr>
        <p:spPr>
          <a:xfrm>
            <a:off x="952500" y="9837420"/>
            <a:ext cx="3087588"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System Architecture &amp; Hardware</a:t>
            </a:r>
            <a:endParaRPr lang="en-US" sz="1500" dirty="0">
              <a:solidFill>
                <a:schemeClr val="accent2"/>
              </a:solidFill>
            </a:endParaRPr>
          </a:p>
        </p:txBody>
      </p:sp>
      <p:sp>
        <p:nvSpPr>
          <p:cNvPr id="18" name="Text 16"/>
          <p:cNvSpPr/>
          <p:nvPr/>
        </p:nvSpPr>
        <p:spPr>
          <a:xfrm>
            <a:off x="16727567" y="9848850"/>
            <a:ext cx="684133"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07 / 17</a:t>
            </a:r>
            <a:endParaRPr lang="en-US" sz="1500" dirty="0"/>
          </a:p>
        </p:txBody>
      </p:sp>
      <p:pic>
        <p:nvPicPr>
          <p:cNvPr id="20" name="Picture 19">
            <a:extLst>
              <a:ext uri="{FF2B5EF4-FFF2-40B4-BE49-F238E27FC236}">
                <a16:creationId xmlns:a16="http://schemas.microsoft.com/office/drawing/2014/main" id="{21494AC3-FC67-7E3E-C630-45E4A2A410D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3093231" y="2307027"/>
            <a:ext cx="3977270" cy="5303026"/>
          </a:xfrm>
          <a:prstGeom prst="rect">
            <a:avLst/>
          </a:prstGeom>
          <a:noFill/>
        </p:spPr>
      </p:pic>
      <p:pic>
        <p:nvPicPr>
          <p:cNvPr id="22" name="Picture 21">
            <a:extLst>
              <a:ext uri="{FF2B5EF4-FFF2-40B4-BE49-F238E27FC236}">
                <a16:creationId xmlns:a16="http://schemas.microsoft.com/office/drawing/2014/main" id="{2E9109AB-EA16-7671-4677-5D69F3F38E1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80570" y="2692142"/>
            <a:ext cx="5782262" cy="4338352"/>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1005840" y="1682496"/>
            <a:ext cx="3877056" cy="6620256"/>
          </a:xfrm>
          <a:prstGeom prst="rect">
            <a:avLst/>
          </a:prstGeom>
          <a:solidFill>
            <a:srgbClr val="F5F3F0"/>
          </a:solidFill>
          <a:ln/>
        </p:spPr>
        <p:txBody>
          <a:bodyPr/>
          <a:lstStyle/>
          <a:p>
            <a:endParaRPr lang="en-US" sz="3600"/>
          </a:p>
        </p:txBody>
      </p:sp>
      <p:sp>
        <p:nvSpPr>
          <p:cNvPr id="6" name="Shape 4"/>
          <p:cNvSpPr/>
          <p:nvPr/>
        </p:nvSpPr>
        <p:spPr>
          <a:xfrm>
            <a:off x="1298448" y="1975104"/>
            <a:ext cx="548640" cy="548640"/>
          </a:xfrm>
          <a:prstGeom prst="ellipse">
            <a:avLst/>
          </a:prstGeom>
          <a:solidFill>
            <a:srgbClr val="C0562B"/>
          </a:solidFill>
          <a:ln/>
        </p:spPr>
        <p:txBody>
          <a:bodyPr/>
          <a:lstStyle/>
          <a:p>
            <a:endParaRPr lang="en-US" sz="3600"/>
          </a:p>
        </p:txBody>
      </p:sp>
      <p:sp>
        <p:nvSpPr>
          <p:cNvPr id="7" name="Text 5"/>
          <p:cNvSpPr/>
          <p:nvPr/>
        </p:nvSpPr>
        <p:spPr>
          <a:xfrm>
            <a:off x="1298448" y="1975104"/>
            <a:ext cx="548640" cy="548640"/>
          </a:xfrm>
          <a:prstGeom prst="rect">
            <a:avLst/>
          </a:prstGeom>
          <a:noFill/>
          <a:ln/>
        </p:spPr>
        <p:txBody>
          <a:bodyPr wrap="square" lIns="0" tIns="0" rIns="0" bIns="0" rtlCol="0" anchor="ctr"/>
          <a:lstStyle/>
          <a:p>
            <a:pPr algn="ctr"/>
            <a:r>
              <a:rPr lang="en-US" sz="2400" b="1" dirty="0">
                <a:solidFill>
                  <a:srgbClr val="FFFFFF"/>
                </a:solidFill>
                <a:latin typeface="Sora" pitchFamily="34" charset="0"/>
                <a:ea typeface="Sora" pitchFamily="34" charset="-122"/>
                <a:cs typeface="Sora" pitchFamily="34" charset="-120"/>
              </a:rPr>
              <a:t>1</a:t>
            </a:r>
            <a:endParaRPr lang="en-US" sz="2400" dirty="0"/>
          </a:p>
        </p:txBody>
      </p:sp>
      <p:sp>
        <p:nvSpPr>
          <p:cNvPr id="8" name="Text 6"/>
          <p:cNvSpPr/>
          <p:nvPr/>
        </p:nvSpPr>
        <p:spPr>
          <a:xfrm>
            <a:off x="1298448" y="2633472"/>
            <a:ext cx="3291840" cy="548640"/>
          </a:xfrm>
          <a:prstGeom prst="rect">
            <a:avLst/>
          </a:prstGeom>
          <a:noFill/>
          <a:ln/>
        </p:spPr>
        <p:txBody>
          <a:bodyPr wrap="square" lIns="0" tIns="0" rIns="0" bIns="0" rtlCol="0" anchor="ctr"/>
          <a:lstStyle/>
          <a:p>
            <a:r>
              <a:rPr lang="en-US" sz="2600" b="1" dirty="0">
                <a:solidFill>
                  <a:srgbClr val="1A1A1A"/>
                </a:solidFill>
                <a:latin typeface="Sora" pitchFamily="34" charset="0"/>
                <a:ea typeface="Sora" pitchFamily="34" charset="-122"/>
                <a:cs typeface="Sora" pitchFamily="34" charset="-120"/>
              </a:rPr>
              <a:t>Sensor Reading</a:t>
            </a:r>
            <a:endParaRPr lang="en-US" sz="2600" dirty="0"/>
          </a:p>
        </p:txBody>
      </p:sp>
      <p:sp>
        <p:nvSpPr>
          <p:cNvPr id="9" name="Shape 7"/>
          <p:cNvSpPr/>
          <p:nvPr/>
        </p:nvSpPr>
        <p:spPr>
          <a:xfrm>
            <a:off x="1298448" y="3364992"/>
            <a:ext cx="3291840" cy="694944"/>
          </a:xfrm>
          <a:prstGeom prst="rect">
            <a:avLst/>
          </a:prstGeom>
          <a:solidFill>
            <a:srgbClr val="FFFFFF"/>
          </a:solidFill>
          <a:ln/>
        </p:spPr>
        <p:txBody>
          <a:bodyPr/>
          <a:lstStyle/>
          <a:p>
            <a:endParaRPr lang="en-US" sz="3600"/>
          </a:p>
        </p:txBody>
      </p:sp>
      <p:sp>
        <p:nvSpPr>
          <p:cNvPr id="10" name="Text 8"/>
          <p:cNvSpPr/>
          <p:nvPr/>
        </p:nvSpPr>
        <p:spPr>
          <a:xfrm>
            <a:off x="1408176" y="3364992"/>
            <a:ext cx="2103120" cy="694944"/>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PPG (IR+Red)</a:t>
            </a:r>
            <a:endParaRPr lang="en-US" sz="1660" dirty="0"/>
          </a:p>
        </p:txBody>
      </p:sp>
      <p:sp>
        <p:nvSpPr>
          <p:cNvPr id="11" name="Text 9"/>
          <p:cNvSpPr/>
          <p:nvPr/>
        </p:nvSpPr>
        <p:spPr>
          <a:xfrm>
            <a:off x="3328416" y="3364992"/>
            <a:ext cx="1133856" cy="694944"/>
          </a:xfrm>
          <a:prstGeom prst="rect">
            <a:avLst/>
          </a:prstGeom>
          <a:noFill/>
          <a:ln/>
        </p:spPr>
        <p:txBody>
          <a:bodyPr wrap="square" lIns="0" tIns="0" rIns="0" bIns="0" rtlCol="0" anchor="ctr"/>
          <a:lstStyle/>
          <a:p>
            <a:pPr algn="r"/>
            <a:r>
              <a:rPr lang="en-US" sz="1660" b="1" dirty="0">
                <a:solidFill>
                  <a:srgbClr val="C0562B"/>
                </a:solidFill>
                <a:latin typeface="Nunito Sans" pitchFamily="34" charset="0"/>
                <a:ea typeface="Nunito Sans" pitchFamily="34" charset="-122"/>
                <a:cs typeface="Nunito Sans" pitchFamily="34" charset="-120"/>
              </a:rPr>
              <a:t>12.5 Hz</a:t>
            </a:r>
            <a:endParaRPr lang="en-US" sz="1660" dirty="0"/>
          </a:p>
        </p:txBody>
      </p:sp>
      <p:sp>
        <p:nvSpPr>
          <p:cNvPr id="12" name="Shape 10"/>
          <p:cNvSpPr/>
          <p:nvPr/>
        </p:nvSpPr>
        <p:spPr>
          <a:xfrm>
            <a:off x="1298448" y="4133088"/>
            <a:ext cx="3291840" cy="694944"/>
          </a:xfrm>
          <a:prstGeom prst="rect">
            <a:avLst/>
          </a:prstGeom>
          <a:solidFill>
            <a:srgbClr val="FFFFFF"/>
          </a:solidFill>
          <a:ln/>
        </p:spPr>
        <p:txBody>
          <a:bodyPr/>
          <a:lstStyle/>
          <a:p>
            <a:endParaRPr lang="en-US" sz="3600"/>
          </a:p>
        </p:txBody>
      </p:sp>
      <p:sp>
        <p:nvSpPr>
          <p:cNvPr id="13" name="Text 11"/>
          <p:cNvSpPr/>
          <p:nvPr/>
        </p:nvSpPr>
        <p:spPr>
          <a:xfrm>
            <a:off x="1408176" y="4133088"/>
            <a:ext cx="2103120" cy="694944"/>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IMU (Acc+Gyro)</a:t>
            </a:r>
            <a:endParaRPr lang="en-US" sz="1660" dirty="0"/>
          </a:p>
        </p:txBody>
      </p:sp>
      <p:sp>
        <p:nvSpPr>
          <p:cNvPr id="14" name="Text 12"/>
          <p:cNvSpPr/>
          <p:nvPr/>
        </p:nvSpPr>
        <p:spPr>
          <a:xfrm>
            <a:off x="3328416" y="4133088"/>
            <a:ext cx="1133856" cy="694944"/>
          </a:xfrm>
          <a:prstGeom prst="rect">
            <a:avLst/>
          </a:prstGeom>
          <a:noFill/>
          <a:ln/>
        </p:spPr>
        <p:txBody>
          <a:bodyPr wrap="square" lIns="0" tIns="0" rIns="0" bIns="0" rtlCol="0" anchor="ctr"/>
          <a:lstStyle/>
          <a:p>
            <a:pPr algn="r"/>
            <a:r>
              <a:rPr lang="en-US" sz="1660" b="1" dirty="0">
                <a:solidFill>
                  <a:srgbClr val="C0562B"/>
                </a:solidFill>
                <a:latin typeface="Nunito Sans" pitchFamily="34" charset="0"/>
                <a:ea typeface="Nunito Sans" pitchFamily="34" charset="-122"/>
                <a:cs typeface="Nunito Sans" pitchFamily="34" charset="-120"/>
              </a:rPr>
              <a:t>10 Hz</a:t>
            </a:r>
            <a:endParaRPr lang="en-US" sz="1660" dirty="0"/>
          </a:p>
        </p:txBody>
      </p:sp>
      <p:sp>
        <p:nvSpPr>
          <p:cNvPr id="15" name="Shape 13"/>
          <p:cNvSpPr/>
          <p:nvPr/>
        </p:nvSpPr>
        <p:spPr>
          <a:xfrm>
            <a:off x="1298448" y="4901184"/>
            <a:ext cx="3291840" cy="694944"/>
          </a:xfrm>
          <a:prstGeom prst="rect">
            <a:avLst/>
          </a:prstGeom>
          <a:solidFill>
            <a:srgbClr val="FFFFFF"/>
          </a:solidFill>
          <a:ln/>
        </p:spPr>
        <p:txBody>
          <a:bodyPr/>
          <a:lstStyle/>
          <a:p>
            <a:endParaRPr lang="en-US" sz="3600"/>
          </a:p>
        </p:txBody>
      </p:sp>
      <p:sp>
        <p:nvSpPr>
          <p:cNvPr id="16" name="Text 14"/>
          <p:cNvSpPr/>
          <p:nvPr/>
        </p:nvSpPr>
        <p:spPr>
          <a:xfrm>
            <a:off x="1408176" y="4901184"/>
            <a:ext cx="2103120" cy="694944"/>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Flex (Resp.)</a:t>
            </a:r>
            <a:endParaRPr lang="en-US" sz="1660" dirty="0"/>
          </a:p>
        </p:txBody>
      </p:sp>
      <p:sp>
        <p:nvSpPr>
          <p:cNvPr id="17" name="Text 15"/>
          <p:cNvSpPr/>
          <p:nvPr/>
        </p:nvSpPr>
        <p:spPr>
          <a:xfrm>
            <a:off x="3328416" y="4901184"/>
            <a:ext cx="1133856" cy="694944"/>
          </a:xfrm>
          <a:prstGeom prst="rect">
            <a:avLst/>
          </a:prstGeom>
          <a:noFill/>
          <a:ln/>
        </p:spPr>
        <p:txBody>
          <a:bodyPr wrap="square" lIns="0" tIns="0" rIns="0" bIns="0" rtlCol="0" anchor="ctr"/>
          <a:lstStyle/>
          <a:p>
            <a:pPr algn="r"/>
            <a:r>
              <a:rPr lang="en-US" sz="1660" b="1" dirty="0">
                <a:solidFill>
                  <a:srgbClr val="C0562B"/>
                </a:solidFill>
                <a:latin typeface="Nunito Sans" pitchFamily="34" charset="0"/>
                <a:ea typeface="Nunito Sans" pitchFamily="34" charset="-122"/>
                <a:cs typeface="Nunito Sans" pitchFamily="34" charset="-120"/>
              </a:rPr>
              <a:t>4 Hz</a:t>
            </a:r>
            <a:endParaRPr lang="en-US" sz="1660" dirty="0"/>
          </a:p>
        </p:txBody>
      </p:sp>
      <p:sp>
        <p:nvSpPr>
          <p:cNvPr id="18" name="Shape 16"/>
          <p:cNvSpPr/>
          <p:nvPr/>
        </p:nvSpPr>
        <p:spPr>
          <a:xfrm>
            <a:off x="1298448" y="5669280"/>
            <a:ext cx="3291840" cy="694944"/>
          </a:xfrm>
          <a:prstGeom prst="rect">
            <a:avLst/>
          </a:prstGeom>
          <a:solidFill>
            <a:srgbClr val="FFFFFF"/>
          </a:solidFill>
          <a:ln/>
        </p:spPr>
        <p:txBody>
          <a:bodyPr/>
          <a:lstStyle/>
          <a:p>
            <a:endParaRPr lang="en-US" sz="3600"/>
          </a:p>
        </p:txBody>
      </p:sp>
      <p:sp>
        <p:nvSpPr>
          <p:cNvPr id="19" name="Text 17"/>
          <p:cNvSpPr/>
          <p:nvPr/>
        </p:nvSpPr>
        <p:spPr>
          <a:xfrm>
            <a:off x="1408176" y="5669280"/>
            <a:ext cx="2103120" cy="694944"/>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Temperature</a:t>
            </a:r>
            <a:endParaRPr lang="en-US" sz="1660" dirty="0"/>
          </a:p>
        </p:txBody>
      </p:sp>
      <p:sp>
        <p:nvSpPr>
          <p:cNvPr id="20" name="Text 18"/>
          <p:cNvSpPr/>
          <p:nvPr/>
        </p:nvSpPr>
        <p:spPr>
          <a:xfrm>
            <a:off x="3328416" y="5669280"/>
            <a:ext cx="1133856" cy="694944"/>
          </a:xfrm>
          <a:prstGeom prst="rect">
            <a:avLst/>
          </a:prstGeom>
          <a:noFill/>
          <a:ln/>
        </p:spPr>
        <p:txBody>
          <a:bodyPr wrap="square" lIns="0" tIns="0" rIns="0" bIns="0" rtlCol="0" anchor="ctr"/>
          <a:lstStyle/>
          <a:p>
            <a:pPr algn="r"/>
            <a:r>
              <a:rPr lang="en-US" sz="1660" b="1" dirty="0">
                <a:solidFill>
                  <a:srgbClr val="C0562B"/>
                </a:solidFill>
                <a:latin typeface="Nunito Sans" pitchFamily="34" charset="0"/>
                <a:ea typeface="Nunito Sans" pitchFamily="34" charset="-122"/>
                <a:cs typeface="Nunito Sans" pitchFamily="34" charset="-120"/>
              </a:rPr>
              <a:t>1 Hz</a:t>
            </a:r>
            <a:endParaRPr lang="en-US" sz="1660" dirty="0"/>
          </a:p>
        </p:txBody>
      </p:sp>
      <p:sp>
        <p:nvSpPr>
          <p:cNvPr id="21" name="Shape 19"/>
          <p:cNvSpPr/>
          <p:nvPr/>
        </p:nvSpPr>
        <p:spPr>
          <a:xfrm>
            <a:off x="1298448" y="6437376"/>
            <a:ext cx="3291840" cy="694944"/>
          </a:xfrm>
          <a:prstGeom prst="rect">
            <a:avLst/>
          </a:prstGeom>
          <a:solidFill>
            <a:srgbClr val="FFFFFF"/>
          </a:solidFill>
          <a:ln/>
        </p:spPr>
        <p:txBody>
          <a:bodyPr/>
          <a:lstStyle/>
          <a:p>
            <a:endParaRPr lang="en-US" sz="3600"/>
          </a:p>
        </p:txBody>
      </p:sp>
      <p:sp>
        <p:nvSpPr>
          <p:cNvPr id="22" name="Text 20"/>
          <p:cNvSpPr/>
          <p:nvPr/>
        </p:nvSpPr>
        <p:spPr>
          <a:xfrm>
            <a:off x="1408176" y="6437376"/>
            <a:ext cx="2103120" cy="694944"/>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Microphone</a:t>
            </a:r>
            <a:endParaRPr lang="en-US" sz="1660" dirty="0"/>
          </a:p>
        </p:txBody>
      </p:sp>
      <p:sp>
        <p:nvSpPr>
          <p:cNvPr id="23" name="Text 21"/>
          <p:cNvSpPr/>
          <p:nvPr/>
        </p:nvSpPr>
        <p:spPr>
          <a:xfrm>
            <a:off x="3328416" y="6437376"/>
            <a:ext cx="1133856" cy="694944"/>
          </a:xfrm>
          <a:prstGeom prst="rect">
            <a:avLst/>
          </a:prstGeom>
          <a:noFill/>
          <a:ln/>
        </p:spPr>
        <p:txBody>
          <a:bodyPr wrap="square" lIns="0" tIns="0" rIns="0" bIns="0" rtlCol="0" anchor="ctr"/>
          <a:lstStyle/>
          <a:p>
            <a:pPr algn="r"/>
            <a:r>
              <a:rPr lang="en-US" sz="1660" b="1" dirty="0">
                <a:solidFill>
                  <a:srgbClr val="C0562B"/>
                </a:solidFill>
                <a:latin typeface="Nunito Sans" pitchFamily="34" charset="0"/>
                <a:ea typeface="Nunito Sans" pitchFamily="34" charset="-122"/>
                <a:cs typeface="Nunito Sans" pitchFamily="34" charset="-120"/>
              </a:rPr>
              <a:t>200 Hz</a:t>
            </a:r>
            <a:endParaRPr lang="en-US" sz="1660" dirty="0"/>
          </a:p>
        </p:txBody>
      </p:sp>
      <p:sp>
        <p:nvSpPr>
          <p:cNvPr id="24" name="Text 22"/>
          <p:cNvSpPr/>
          <p:nvPr/>
        </p:nvSpPr>
        <p:spPr>
          <a:xfrm>
            <a:off x="4892040" y="4773168"/>
            <a:ext cx="146304" cy="457200"/>
          </a:xfrm>
          <a:prstGeom prst="rect">
            <a:avLst/>
          </a:prstGeom>
          <a:noFill/>
          <a:ln/>
        </p:spPr>
        <p:txBody>
          <a:bodyPr wrap="square" lIns="0" tIns="0" rIns="0" bIns="0" rtlCol="0" anchor="ctr"/>
          <a:lstStyle/>
          <a:p>
            <a:pPr algn="ctr"/>
            <a:r>
              <a:rPr lang="en-US" sz="2800" b="1" dirty="0">
                <a:solidFill>
                  <a:srgbClr val="C0562B"/>
                </a:solidFill>
              </a:rPr>
              <a:t>→</a:t>
            </a:r>
            <a:endParaRPr lang="en-US" sz="2800" dirty="0"/>
          </a:p>
        </p:txBody>
      </p:sp>
      <p:sp>
        <p:nvSpPr>
          <p:cNvPr id="25" name="Shape 23"/>
          <p:cNvSpPr/>
          <p:nvPr/>
        </p:nvSpPr>
        <p:spPr>
          <a:xfrm>
            <a:off x="5047488" y="1682496"/>
            <a:ext cx="3877056" cy="6620256"/>
          </a:xfrm>
          <a:prstGeom prst="rect">
            <a:avLst/>
          </a:prstGeom>
          <a:solidFill>
            <a:srgbClr val="F5F3F0"/>
          </a:solidFill>
          <a:ln/>
        </p:spPr>
        <p:txBody>
          <a:bodyPr/>
          <a:lstStyle/>
          <a:p>
            <a:endParaRPr lang="en-US" sz="3600"/>
          </a:p>
        </p:txBody>
      </p:sp>
      <p:sp>
        <p:nvSpPr>
          <p:cNvPr id="26" name="Shape 24"/>
          <p:cNvSpPr/>
          <p:nvPr/>
        </p:nvSpPr>
        <p:spPr>
          <a:xfrm>
            <a:off x="5340096" y="1975104"/>
            <a:ext cx="548640" cy="548640"/>
          </a:xfrm>
          <a:prstGeom prst="ellipse">
            <a:avLst/>
          </a:prstGeom>
          <a:solidFill>
            <a:srgbClr val="C0562B"/>
          </a:solidFill>
          <a:ln/>
        </p:spPr>
        <p:txBody>
          <a:bodyPr/>
          <a:lstStyle/>
          <a:p>
            <a:endParaRPr lang="en-US" sz="3600"/>
          </a:p>
        </p:txBody>
      </p:sp>
      <p:sp>
        <p:nvSpPr>
          <p:cNvPr id="27" name="Text 25"/>
          <p:cNvSpPr/>
          <p:nvPr/>
        </p:nvSpPr>
        <p:spPr>
          <a:xfrm>
            <a:off x="5340096" y="1975104"/>
            <a:ext cx="548640" cy="548640"/>
          </a:xfrm>
          <a:prstGeom prst="rect">
            <a:avLst/>
          </a:prstGeom>
          <a:noFill/>
          <a:ln/>
        </p:spPr>
        <p:txBody>
          <a:bodyPr wrap="square" lIns="0" tIns="0" rIns="0" bIns="0" rtlCol="0" anchor="ctr"/>
          <a:lstStyle/>
          <a:p>
            <a:pPr algn="ctr"/>
            <a:r>
              <a:rPr lang="en-US" sz="2400" b="1" dirty="0">
                <a:solidFill>
                  <a:srgbClr val="FFFFFF"/>
                </a:solidFill>
                <a:latin typeface="Sora" pitchFamily="34" charset="0"/>
                <a:ea typeface="Sora" pitchFamily="34" charset="-122"/>
                <a:cs typeface="Sora" pitchFamily="34" charset="-120"/>
              </a:rPr>
              <a:t>2</a:t>
            </a:r>
            <a:endParaRPr lang="en-US" sz="2400" dirty="0"/>
          </a:p>
        </p:txBody>
      </p:sp>
      <p:sp>
        <p:nvSpPr>
          <p:cNvPr id="28" name="Text 26"/>
          <p:cNvSpPr/>
          <p:nvPr/>
        </p:nvSpPr>
        <p:spPr>
          <a:xfrm>
            <a:off x="5340096" y="2633472"/>
            <a:ext cx="3291840" cy="548640"/>
          </a:xfrm>
          <a:prstGeom prst="rect">
            <a:avLst/>
          </a:prstGeom>
          <a:noFill/>
          <a:ln/>
        </p:spPr>
        <p:txBody>
          <a:bodyPr wrap="square" lIns="0" tIns="0" rIns="0" bIns="0" rtlCol="0" anchor="ctr"/>
          <a:lstStyle/>
          <a:p>
            <a:r>
              <a:rPr lang="en-US" sz="2600" b="1" dirty="0">
                <a:solidFill>
                  <a:srgbClr val="1A1A1A"/>
                </a:solidFill>
                <a:latin typeface="Sora" pitchFamily="34" charset="0"/>
                <a:ea typeface="Sora" pitchFamily="34" charset="-122"/>
                <a:cs typeface="Sora" pitchFamily="34" charset="-120"/>
              </a:rPr>
              <a:t>JSON Assembly</a:t>
            </a:r>
            <a:endParaRPr lang="en-US" sz="2600" dirty="0"/>
          </a:p>
        </p:txBody>
      </p:sp>
      <p:sp>
        <p:nvSpPr>
          <p:cNvPr id="29" name="Text 27"/>
          <p:cNvSpPr/>
          <p:nvPr/>
        </p:nvSpPr>
        <p:spPr>
          <a:xfrm>
            <a:off x="5340096" y="3255264"/>
            <a:ext cx="3291840" cy="877824"/>
          </a:xfrm>
          <a:prstGeom prst="rect">
            <a:avLst/>
          </a:prstGeom>
          <a:noFill/>
          <a:ln/>
        </p:spPr>
        <p:txBody>
          <a:bodyPr wrap="square" lIns="0" tIns="0" rIns="0" bIns="0" rtlCol="0" anchor="ctr"/>
          <a:lstStyle/>
          <a:p>
            <a:pPr>
              <a:lnSpc>
                <a:spcPct val="115000"/>
              </a:lnSpc>
            </a:pPr>
            <a:r>
              <a:rPr lang="en-US" sz="1740" dirty="0">
                <a:solidFill>
                  <a:srgbClr val="666666"/>
                </a:solidFill>
                <a:latin typeface="Nunito Sans" pitchFamily="34" charset="0"/>
                <a:ea typeface="Nunito Sans" pitchFamily="34" charset="-122"/>
                <a:cs typeface="Nunito Sans" pitchFamily="34" charset="-120"/>
              </a:rPr>
              <a:t>Single combined HTTP POST every 2s (single-core constraint)</a:t>
            </a:r>
            <a:endParaRPr lang="en-US" sz="1740" dirty="0"/>
          </a:p>
        </p:txBody>
      </p:sp>
      <p:sp>
        <p:nvSpPr>
          <p:cNvPr id="30" name="Shape 28"/>
          <p:cNvSpPr/>
          <p:nvPr/>
        </p:nvSpPr>
        <p:spPr>
          <a:xfrm>
            <a:off x="5285232" y="4242816"/>
            <a:ext cx="3401568" cy="3383280"/>
          </a:xfrm>
          <a:prstGeom prst="rect">
            <a:avLst/>
          </a:prstGeom>
          <a:solidFill>
            <a:srgbClr val="1A1A1A"/>
          </a:solidFill>
          <a:ln/>
        </p:spPr>
        <p:txBody>
          <a:bodyPr/>
          <a:lstStyle/>
          <a:p>
            <a:endParaRPr lang="en-US" sz="3600"/>
          </a:p>
        </p:txBody>
      </p:sp>
      <p:sp>
        <p:nvSpPr>
          <p:cNvPr id="31" name="Text 29"/>
          <p:cNvSpPr/>
          <p:nvPr/>
        </p:nvSpPr>
        <p:spPr>
          <a:xfrm>
            <a:off x="5449824" y="4389120"/>
            <a:ext cx="3072384" cy="3090672"/>
          </a:xfrm>
          <a:prstGeom prst="rect">
            <a:avLst/>
          </a:prstGeom>
          <a:noFill/>
          <a:ln/>
        </p:spPr>
        <p:txBody>
          <a:bodyPr wrap="square" lIns="0" tIns="0" rIns="0" bIns="0" rtlCol="0" anchor="ctr"/>
          <a:lstStyle/>
          <a:p>
            <a:pPr>
              <a:lnSpc>
                <a:spcPct val="118000"/>
              </a:lnSpc>
            </a:pPr>
            <a:r>
              <a:rPr lang="en-US" sz="1360" dirty="0">
                <a:solidFill>
                  <a:srgbClr val="B8D8C8"/>
                </a:solidFill>
                <a:latin typeface="Consolas" pitchFamily="34" charset="0"/>
                <a:ea typeface="Consolas" pitchFamily="34" charset="-122"/>
                <a:cs typeface="Consolas" pitchFamily="34" charset="-120"/>
              </a:rPr>
              <a:t>{ "t":"23:35:01",</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"ir":54231,</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"red":48120,</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"ax":0.01,</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"ay":-0.99,"az":0.03,</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"fr":612,"fd":-8,</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"tmp":35.3,</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"ppg_ir":"54231,...",</a:t>
            </a:r>
            <a:endParaRPr lang="en-US" sz="1360" dirty="0"/>
          </a:p>
          <a:p>
            <a:pPr>
              <a:lnSpc>
                <a:spcPct val="118000"/>
              </a:lnSpc>
            </a:pPr>
            <a:r>
              <a:rPr lang="en-US" sz="1360" dirty="0">
                <a:solidFill>
                  <a:srgbClr val="B8D8C8"/>
                </a:solidFill>
                <a:latin typeface="Consolas" pitchFamily="34" charset="0"/>
                <a:ea typeface="Consolas" pitchFamily="34" charset="-122"/>
                <a:cs typeface="Consolas" pitchFamily="34" charset="-120"/>
              </a:rPr>
              <a:t>  "mic_s":"1066,..." }</a:t>
            </a:r>
            <a:endParaRPr lang="en-US" sz="1360" dirty="0"/>
          </a:p>
        </p:txBody>
      </p:sp>
      <p:sp>
        <p:nvSpPr>
          <p:cNvPr id="33" name="Text 31"/>
          <p:cNvSpPr/>
          <p:nvPr/>
        </p:nvSpPr>
        <p:spPr>
          <a:xfrm>
            <a:off x="8933688" y="4773168"/>
            <a:ext cx="146304" cy="457200"/>
          </a:xfrm>
          <a:prstGeom prst="rect">
            <a:avLst/>
          </a:prstGeom>
          <a:noFill/>
          <a:ln/>
        </p:spPr>
        <p:txBody>
          <a:bodyPr wrap="square" lIns="0" tIns="0" rIns="0" bIns="0" rtlCol="0" anchor="ctr"/>
          <a:lstStyle/>
          <a:p>
            <a:pPr algn="ctr"/>
            <a:r>
              <a:rPr lang="en-US" sz="2800" b="1" dirty="0">
                <a:solidFill>
                  <a:srgbClr val="C0562B"/>
                </a:solidFill>
              </a:rPr>
              <a:t>→</a:t>
            </a:r>
            <a:endParaRPr lang="en-US" sz="2800" dirty="0"/>
          </a:p>
        </p:txBody>
      </p:sp>
      <p:sp>
        <p:nvSpPr>
          <p:cNvPr id="34" name="Shape 32"/>
          <p:cNvSpPr/>
          <p:nvPr/>
        </p:nvSpPr>
        <p:spPr>
          <a:xfrm>
            <a:off x="9089136" y="1682496"/>
            <a:ext cx="3877056" cy="6620256"/>
          </a:xfrm>
          <a:prstGeom prst="rect">
            <a:avLst/>
          </a:prstGeom>
          <a:solidFill>
            <a:srgbClr val="F5F3F0"/>
          </a:solidFill>
          <a:ln/>
        </p:spPr>
        <p:txBody>
          <a:bodyPr/>
          <a:lstStyle/>
          <a:p>
            <a:endParaRPr lang="en-US" sz="3600" dirty="0"/>
          </a:p>
        </p:txBody>
      </p:sp>
      <p:sp>
        <p:nvSpPr>
          <p:cNvPr id="35" name="Shape 33"/>
          <p:cNvSpPr/>
          <p:nvPr/>
        </p:nvSpPr>
        <p:spPr>
          <a:xfrm>
            <a:off x="9381744" y="1975104"/>
            <a:ext cx="548640" cy="548640"/>
          </a:xfrm>
          <a:prstGeom prst="ellipse">
            <a:avLst/>
          </a:prstGeom>
          <a:solidFill>
            <a:srgbClr val="C0562B"/>
          </a:solidFill>
          <a:ln/>
        </p:spPr>
        <p:txBody>
          <a:bodyPr/>
          <a:lstStyle/>
          <a:p>
            <a:endParaRPr lang="en-US" sz="3600"/>
          </a:p>
        </p:txBody>
      </p:sp>
      <p:sp>
        <p:nvSpPr>
          <p:cNvPr id="36" name="Text 34"/>
          <p:cNvSpPr/>
          <p:nvPr/>
        </p:nvSpPr>
        <p:spPr>
          <a:xfrm>
            <a:off x="9381744" y="1975104"/>
            <a:ext cx="548640" cy="548640"/>
          </a:xfrm>
          <a:prstGeom prst="rect">
            <a:avLst/>
          </a:prstGeom>
          <a:noFill/>
          <a:ln/>
        </p:spPr>
        <p:txBody>
          <a:bodyPr wrap="square" lIns="0" tIns="0" rIns="0" bIns="0" rtlCol="0" anchor="ctr"/>
          <a:lstStyle/>
          <a:p>
            <a:pPr algn="ctr"/>
            <a:r>
              <a:rPr lang="en-US" sz="2400" b="1" dirty="0">
                <a:solidFill>
                  <a:srgbClr val="FFFFFF"/>
                </a:solidFill>
                <a:latin typeface="Sora" pitchFamily="34" charset="0"/>
                <a:ea typeface="Sora" pitchFamily="34" charset="-122"/>
                <a:cs typeface="Sora" pitchFamily="34" charset="-120"/>
              </a:rPr>
              <a:t>3</a:t>
            </a:r>
            <a:endParaRPr lang="en-US" sz="2400" dirty="0"/>
          </a:p>
        </p:txBody>
      </p:sp>
      <p:sp>
        <p:nvSpPr>
          <p:cNvPr id="37" name="Text 35"/>
          <p:cNvSpPr/>
          <p:nvPr/>
        </p:nvSpPr>
        <p:spPr>
          <a:xfrm>
            <a:off x="9381744" y="2633472"/>
            <a:ext cx="3291840" cy="548640"/>
          </a:xfrm>
          <a:prstGeom prst="rect">
            <a:avLst/>
          </a:prstGeom>
          <a:noFill/>
          <a:ln/>
        </p:spPr>
        <p:txBody>
          <a:bodyPr wrap="square" lIns="0" tIns="0" rIns="0" bIns="0" rtlCol="0" anchor="ctr"/>
          <a:lstStyle/>
          <a:p>
            <a:r>
              <a:rPr lang="en-US" sz="2600" b="1" dirty="0">
                <a:solidFill>
                  <a:srgbClr val="1A1A1A"/>
                </a:solidFill>
                <a:latin typeface="Sora" pitchFamily="34" charset="0"/>
                <a:ea typeface="Sora" pitchFamily="34" charset="-122"/>
                <a:cs typeface="Sora" pitchFamily="34" charset="-120"/>
              </a:rPr>
              <a:t>SQLite Storage</a:t>
            </a:r>
            <a:endParaRPr lang="en-US" sz="2600" dirty="0"/>
          </a:p>
        </p:txBody>
      </p:sp>
      <p:sp>
        <p:nvSpPr>
          <p:cNvPr id="38" name="Text 36"/>
          <p:cNvSpPr/>
          <p:nvPr/>
        </p:nvSpPr>
        <p:spPr>
          <a:xfrm>
            <a:off x="9381744" y="3255264"/>
            <a:ext cx="3291840" cy="877824"/>
          </a:xfrm>
          <a:prstGeom prst="rect">
            <a:avLst/>
          </a:prstGeom>
          <a:noFill/>
          <a:ln/>
        </p:spPr>
        <p:txBody>
          <a:bodyPr wrap="square" lIns="0" tIns="0" rIns="0" bIns="0" rtlCol="0" anchor="ctr"/>
          <a:lstStyle/>
          <a:p>
            <a:pPr>
              <a:lnSpc>
                <a:spcPct val="115000"/>
              </a:lnSpc>
            </a:pPr>
            <a:r>
              <a:rPr lang="en-US" sz="1740" dirty="0">
                <a:solidFill>
                  <a:srgbClr val="666666"/>
                </a:solidFill>
                <a:latin typeface="Nunito Sans" pitchFamily="34" charset="0"/>
                <a:ea typeface="Nunito Sans" pitchFamily="34" charset="-122"/>
                <a:cs typeface="Nunito Sans" pitchFamily="34" charset="-120"/>
              </a:rPr>
              <a:t>Raspberry Pi stores all raw data in structured tables</a:t>
            </a:r>
            <a:endParaRPr lang="en-US" sz="1740" dirty="0"/>
          </a:p>
        </p:txBody>
      </p:sp>
      <p:sp>
        <p:nvSpPr>
          <p:cNvPr id="39" name="Shape 37"/>
          <p:cNvSpPr/>
          <p:nvPr/>
        </p:nvSpPr>
        <p:spPr>
          <a:xfrm>
            <a:off x="9381744" y="4279392"/>
            <a:ext cx="54864" cy="585216"/>
          </a:xfrm>
          <a:prstGeom prst="rect">
            <a:avLst/>
          </a:prstGeom>
          <a:solidFill>
            <a:srgbClr val="C0562B"/>
          </a:solidFill>
          <a:ln/>
        </p:spPr>
        <p:txBody>
          <a:bodyPr/>
          <a:lstStyle/>
          <a:p>
            <a:endParaRPr lang="en-US" sz="3600"/>
          </a:p>
        </p:txBody>
      </p:sp>
      <p:sp>
        <p:nvSpPr>
          <p:cNvPr id="40" name="Text 38"/>
          <p:cNvSpPr/>
          <p:nvPr/>
        </p:nvSpPr>
        <p:spPr>
          <a:xfrm>
            <a:off x="9528048" y="4279392"/>
            <a:ext cx="1828800" cy="585216"/>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raw_data</a:t>
            </a:r>
            <a:endParaRPr lang="en-US" sz="1660" dirty="0"/>
          </a:p>
        </p:txBody>
      </p:sp>
      <p:sp>
        <p:nvSpPr>
          <p:cNvPr id="41" name="Text 39"/>
          <p:cNvSpPr/>
          <p:nvPr/>
        </p:nvSpPr>
        <p:spPr>
          <a:xfrm>
            <a:off x="11009376" y="4279392"/>
            <a:ext cx="1682496" cy="585216"/>
          </a:xfrm>
          <a:prstGeom prst="rect">
            <a:avLst/>
          </a:prstGeom>
          <a:noFill/>
          <a:ln/>
        </p:spPr>
        <p:txBody>
          <a:bodyPr wrap="square" lIns="0" tIns="0" rIns="0" bIns="0" rtlCol="0" anchor="ctr"/>
          <a:lstStyle/>
          <a:p>
            <a:pPr algn="r"/>
            <a:r>
              <a:rPr lang="en-US" sz="1400" dirty="0">
                <a:solidFill>
                  <a:srgbClr val="999999"/>
                </a:solidFill>
                <a:latin typeface="Nunito Sans" pitchFamily="34" charset="0"/>
                <a:ea typeface="Nunito Sans" pitchFamily="34" charset="-122"/>
                <a:cs typeface="Nunito Sans" pitchFamily="34" charset="-120"/>
              </a:rPr>
              <a:t>timestamp, JSON</a:t>
            </a:r>
            <a:endParaRPr lang="en-US" sz="1400" dirty="0"/>
          </a:p>
        </p:txBody>
      </p:sp>
      <p:sp>
        <p:nvSpPr>
          <p:cNvPr id="42" name="Shape 40"/>
          <p:cNvSpPr/>
          <p:nvPr/>
        </p:nvSpPr>
        <p:spPr>
          <a:xfrm>
            <a:off x="9381744" y="4937760"/>
            <a:ext cx="54864" cy="585216"/>
          </a:xfrm>
          <a:prstGeom prst="rect">
            <a:avLst/>
          </a:prstGeom>
          <a:solidFill>
            <a:srgbClr val="C0562B"/>
          </a:solidFill>
          <a:ln/>
        </p:spPr>
        <p:txBody>
          <a:bodyPr/>
          <a:lstStyle/>
          <a:p>
            <a:endParaRPr lang="en-US" sz="3600"/>
          </a:p>
        </p:txBody>
      </p:sp>
      <p:sp>
        <p:nvSpPr>
          <p:cNvPr id="43" name="Text 41"/>
          <p:cNvSpPr/>
          <p:nvPr/>
        </p:nvSpPr>
        <p:spPr>
          <a:xfrm>
            <a:off x="9528048" y="4937760"/>
            <a:ext cx="1828800" cy="585216"/>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ppg_data</a:t>
            </a:r>
            <a:endParaRPr lang="en-US" sz="1660" dirty="0"/>
          </a:p>
        </p:txBody>
      </p:sp>
      <p:sp>
        <p:nvSpPr>
          <p:cNvPr id="44" name="Text 42"/>
          <p:cNvSpPr/>
          <p:nvPr/>
        </p:nvSpPr>
        <p:spPr>
          <a:xfrm>
            <a:off x="11009376" y="4937760"/>
            <a:ext cx="1682496" cy="585216"/>
          </a:xfrm>
          <a:prstGeom prst="rect">
            <a:avLst/>
          </a:prstGeom>
          <a:noFill/>
          <a:ln/>
        </p:spPr>
        <p:txBody>
          <a:bodyPr wrap="square" lIns="0" tIns="0" rIns="0" bIns="0" rtlCol="0" anchor="ctr"/>
          <a:lstStyle/>
          <a:p>
            <a:pPr algn="r"/>
            <a:r>
              <a:rPr lang="en-US" sz="1400" dirty="0">
                <a:solidFill>
                  <a:srgbClr val="999999"/>
                </a:solidFill>
                <a:latin typeface="Nunito Sans" pitchFamily="34" charset="0"/>
                <a:ea typeface="Nunito Sans" pitchFamily="34" charset="-122"/>
                <a:cs typeface="Nunito Sans" pitchFamily="34" charset="-120"/>
              </a:rPr>
              <a:t>IR, Red, BPM</a:t>
            </a:r>
            <a:endParaRPr lang="en-US" sz="1400" dirty="0"/>
          </a:p>
        </p:txBody>
      </p:sp>
      <p:sp>
        <p:nvSpPr>
          <p:cNvPr id="45" name="Shape 43"/>
          <p:cNvSpPr/>
          <p:nvPr/>
        </p:nvSpPr>
        <p:spPr>
          <a:xfrm>
            <a:off x="9381744" y="5596128"/>
            <a:ext cx="54864" cy="585216"/>
          </a:xfrm>
          <a:prstGeom prst="rect">
            <a:avLst/>
          </a:prstGeom>
          <a:solidFill>
            <a:srgbClr val="C0562B"/>
          </a:solidFill>
          <a:ln/>
        </p:spPr>
        <p:txBody>
          <a:bodyPr/>
          <a:lstStyle/>
          <a:p>
            <a:endParaRPr lang="en-US" sz="3600"/>
          </a:p>
        </p:txBody>
      </p:sp>
      <p:sp>
        <p:nvSpPr>
          <p:cNvPr id="46" name="Text 44"/>
          <p:cNvSpPr/>
          <p:nvPr/>
        </p:nvSpPr>
        <p:spPr>
          <a:xfrm>
            <a:off x="9528048" y="5596128"/>
            <a:ext cx="1828800" cy="585216"/>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flex_data</a:t>
            </a:r>
            <a:endParaRPr lang="en-US" sz="1660" dirty="0"/>
          </a:p>
        </p:txBody>
      </p:sp>
      <p:sp>
        <p:nvSpPr>
          <p:cNvPr id="47" name="Text 45"/>
          <p:cNvSpPr/>
          <p:nvPr/>
        </p:nvSpPr>
        <p:spPr>
          <a:xfrm>
            <a:off x="11009376" y="5596128"/>
            <a:ext cx="1682496" cy="585216"/>
          </a:xfrm>
          <a:prstGeom prst="rect">
            <a:avLst/>
          </a:prstGeom>
          <a:noFill/>
          <a:ln/>
        </p:spPr>
        <p:txBody>
          <a:bodyPr wrap="square" lIns="0" tIns="0" rIns="0" bIns="0" rtlCol="0" anchor="ctr"/>
          <a:lstStyle/>
          <a:p>
            <a:pPr algn="r"/>
            <a:r>
              <a:rPr lang="en-US" sz="1400" dirty="0">
                <a:solidFill>
                  <a:srgbClr val="999999"/>
                </a:solidFill>
                <a:latin typeface="Nunito Sans" pitchFamily="34" charset="0"/>
                <a:ea typeface="Nunito Sans" pitchFamily="34" charset="-122"/>
                <a:cs typeface="Nunito Sans" pitchFamily="34" charset="-120"/>
              </a:rPr>
              <a:t>ADC, resp. rate</a:t>
            </a:r>
            <a:endParaRPr lang="en-US" sz="1400" dirty="0"/>
          </a:p>
        </p:txBody>
      </p:sp>
      <p:sp>
        <p:nvSpPr>
          <p:cNvPr id="48" name="Shape 46"/>
          <p:cNvSpPr/>
          <p:nvPr/>
        </p:nvSpPr>
        <p:spPr>
          <a:xfrm>
            <a:off x="9381744" y="6254496"/>
            <a:ext cx="54864" cy="585216"/>
          </a:xfrm>
          <a:prstGeom prst="rect">
            <a:avLst/>
          </a:prstGeom>
          <a:solidFill>
            <a:srgbClr val="C0562B"/>
          </a:solidFill>
          <a:ln/>
        </p:spPr>
        <p:txBody>
          <a:bodyPr/>
          <a:lstStyle/>
          <a:p>
            <a:endParaRPr lang="en-US" sz="3600"/>
          </a:p>
        </p:txBody>
      </p:sp>
      <p:sp>
        <p:nvSpPr>
          <p:cNvPr id="49" name="Text 47"/>
          <p:cNvSpPr/>
          <p:nvPr/>
        </p:nvSpPr>
        <p:spPr>
          <a:xfrm>
            <a:off x="9528048" y="6254496"/>
            <a:ext cx="1828800" cy="585216"/>
          </a:xfrm>
          <a:prstGeom prst="rect">
            <a:avLst/>
          </a:prstGeom>
          <a:noFill/>
          <a:ln/>
        </p:spPr>
        <p:txBody>
          <a:bodyPr wrap="square" lIns="0" tIns="0" rIns="0" bIns="0" rtlCol="0" anchor="ctr"/>
          <a:lstStyle/>
          <a:p>
            <a:r>
              <a:rPr lang="en-US" sz="1660" b="1" dirty="0">
                <a:solidFill>
                  <a:srgbClr val="1A1A1A"/>
                </a:solidFill>
                <a:latin typeface="Nunito Sans" pitchFamily="34" charset="0"/>
                <a:ea typeface="Nunito Sans" pitchFamily="34" charset="-122"/>
                <a:cs typeface="Nunito Sans" pitchFamily="34" charset="-120"/>
              </a:rPr>
              <a:t>mic_data</a:t>
            </a:r>
            <a:endParaRPr lang="en-US" sz="1660" dirty="0"/>
          </a:p>
        </p:txBody>
      </p:sp>
      <p:sp>
        <p:nvSpPr>
          <p:cNvPr id="50" name="Text 48"/>
          <p:cNvSpPr/>
          <p:nvPr/>
        </p:nvSpPr>
        <p:spPr>
          <a:xfrm>
            <a:off x="11009376" y="6254496"/>
            <a:ext cx="1682496" cy="585216"/>
          </a:xfrm>
          <a:prstGeom prst="rect">
            <a:avLst/>
          </a:prstGeom>
          <a:noFill/>
          <a:ln/>
        </p:spPr>
        <p:txBody>
          <a:bodyPr wrap="square" lIns="0" tIns="0" rIns="0" bIns="0" rtlCol="0" anchor="ctr"/>
          <a:lstStyle/>
          <a:p>
            <a:pPr algn="r"/>
            <a:r>
              <a:rPr lang="en-US" sz="1400" dirty="0">
                <a:solidFill>
                  <a:srgbClr val="999999"/>
                </a:solidFill>
                <a:latin typeface="Nunito Sans" pitchFamily="34" charset="0"/>
                <a:ea typeface="Nunito Sans" pitchFamily="34" charset="-122"/>
                <a:cs typeface="Nunito Sans" pitchFamily="34" charset="-120"/>
              </a:rPr>
              <a:t>RMS amplitude</a:t>
            </a:r>
            <a:endParaRPr lang="en-US" sz="1400" dirty="0"/>
          </a:p>
        </p:txBody>
      </p:sp>
      <p:sp>
        <p:nvSpPr>
          <p:cNvPr id="54" name="Text 52"/>
          <p:cNvSpPr/>
          <p:nvPr/>
        </p:nvSpPr>
        <p:spPr>
          <a:xfrm>
            <a:off x="12975336" y="4773168"/>
            <a:ext cx="146304" cy="457200"/>
          </a:xfrm>
          <a:prstGeom prst="rect">
            <a:avLst/>
          </a:prstGeom>
          <a:noFill/>
          <a:ln/>
        </p:spPr>
        <p:txBody>
          <a:bodyPr wrap="square" lIns="0" tIns="0" rIns="0" bIns="0" rtlCol="0" anchor="ctr"/>
          <a:lstStyle/>
          <a:p>
            <a:pPr algn="ctr"/>
            <a:r>
              <a:rPr lang="en-US" sz="2800" b="1" dirty="0">
                <a:solidFill>
                  <a:srgbClr val="C0562B"/>
                </a:solidFill>
              </a:rPr>
              <a:t>→</a:t>
            </a:r>
            <a:endParaRPr lang="en-US" sz="2800" dirty="0"/>
          </a:p>
        </p:txBody>
      </p:sp>
      <p:sp>
        <p:nvSpPr>
          <p:cNvPr id="55" name="Shape 53"/>
          <p:cNvSpPr/>
          <p:nvPr/>
        </p:nvSpPr>
        <p:spPr>
          <a:xfrm>
            <a:off x="13130784" y="1682496"/>
            <a:ext cx="3877056" cy="6620256"/>
          </a:xfrm>
          <a:prstGeom prst="rect">
            <a:avLst/>
          </a:prstGeom>
          <a:solidFill>
            <a:srgbClr val="1A1A1A"/>
          </a:solidFill>
          <a:ln/>
        </p:spPr>
        <p:txBody>
          <a:bodyPr/>
          <a:lstStyle/>
          <a:p>
            <a:endParaRPr lang="en-US" sz="3600"/>
          </a:p>
        </p:txBody>
      </p:sp>
      <p:sp>
        <p:nvSpPr>
          <p:cNvPr id="56" name="Shape 54"/>
          <p:cNvSpPr/>
          <p:nvPr/>
        </p:nvSpPr>
        <p:spPr>
          <a:xfrm>
            <a:off x="13423392" y="1975104"/>
            <a:ext cx="548640" cy="548640"/>
          </a:xfrm>
          <a:prstGeom prst="ellipse">
            <a:avLst/>
          </a:prstGeom>
          <a:solidFill>
            <a:srgbClr val="C0562B"/>
          </a:solidFill>
          <a:ln/>
        </p:spPr>
        <p:txBody>
          <a:bodyPr/>
          <a:lstStyle/>
          <a:p>
            <a:endParaRPr lang="en-US" sz="3600"/>
          </a:p>
        </p:txBody>
      </p:sp>
      <p:sp>
        <p:nvSpPr>
          <p:cNvPr id="57" name="Text 55"/>
          <p:cNvSpPr/>
          <p:nvPr/>
        </p:nvSpPr>
        <p:spPr>
          <a:xfrm>
            <a:off x="13423392" y="1975104"/>
            <a:ext cx="548640" cy="548640"/>
          </a:xfrm>
          <a:prstGeom prst="rect">
            <a:avLst/>
          </a:prstGeom>
          <a:noFill/>
          <a:ln/>
        </p:spPr>
        <p:txBody>
          <a:bodyPr wrap="square" lIns="0" tIns="0" rIns="0" bIns="0" rtlCol="0" anchor="ctr"/>
          <a:lstStyle/>
          <a:p>
            <a:pPr algn="ctr"/>
            <a:r>
              <a:rPr lang="en-US" sz="2400" b="1" dirty="0">
                <a:solidFill>
                  <a:srgbClr val="FFFFFF"/>
                </a:solidFill>
                <a:latin typeface="Sora" pitchFamily="34" charset="0"/>
                <a:ea typeface="Sora" pitchFamily="34" charset="-122"/>
                <a:cs typeface="Sora" pitchFamily="34" charset="-120"/>
              </a:rPr>
              <a:t>4</a:t>
            </a:r>
            <a:endParaRPr lang="en-US" sz="2400" dirty="0"/>
          </a:p>
        </p:txBody>
      </p:sp>
      <p:sp>
        <p:nvSpPr>
          <p:cNvPr id="58" name="Text 56"/>
          <p:cNvSpPr/>
          <p:nvPr/>
        </p:nvSpPr>
        <p:spPr>
          <a:xfrm>
            <a:off x="13423392" y="2633472"/>
            <a:ext cx="3291840" cy="731520"/>
          </a:xfrm>
          <a:prstGeom prst="rect">
            <a:avLst/>
          </a:prstGeom>
          <a:noFill/>
          <a:ln/>
        </p:spPr>
        <p:txBody>
          <a:bodyPr wrap="square" lIns="0" tIns="0" rIns="0" bIns="0" rtlCol="0" anchor="ctr"/>
          <a:lstStyle/>
          <a:p>
            <a:r>
              <a:rPr lang="en-US" sz="2600" b="1" dirty="0">
                <a:solidFill>
                  <a:srgbClr val="FFFFFF"/>
                </a:solidFill>
                <a:latin typeface="Sora" pitchFamily="34" charset="0"/>
                <a:ea typeface="Sora" pitchFamily="34" charset="-122"/>
                <a:cs typeface="Sora" pitchFamily="34" charset="-120"/>
              </a:rPr>
              <a:t>Analysis Pipeline</a:t>
            </a:r>
            <a:endParaRPr lang="en-US" sz="2600" dirty="0"/>
          </a:p>
        </p:txBody>
      </p:sp>
      <p:sp>
        <p:nvSpPr>
          <p:cNvPr id="59" name="Text 57"/>
          <p:cNvSpPr/>
          <p:nvPr/>
        </p:nvSpPr>
        <p:spPr>
          <a:xfrm>
            <a:off x="13423392" y="3364992"/>
            <a:ext cx="3291840" cy="768096"/>
          </a:xfrm>
          <a:prstGeom prst="rect">
            <a:avLst/>
          </a:prstGeom>
          <a:noFill/>
          <a:ln/>
        </p:spPr>
        <p:txBody>
          <a:bodyPr wrap="square" lIns="0" tIns="0" rIns="0" bIns="0" rtlCol="0" anchor="ctr"/>
          <a:lstStyle/>
          <a:p>
            <a:pPr>
              <a:lnSpc>
                <a:spcPct val="115000"/>
              </a:lnSpc>
            </a:pPr>
            <a:r>
              <a:rPr lang="en-US" sz="1660" dirty="0">
                <a:solidFill>
                  <a:srgbClr val="CCCCCC"/>
                </a:solidFill>
                <a:latin typeface="Nunito Sans" pitchFamily="34" charset="0"/>
                <a:ea typeface="Nunito Sans" pitchFamily="34" charset="-122"/>
                <a:cs typeface="Nunito Sans" pitchFamily="34" charset="-120"/>
              </a:rPr>
              <a:t>21 features/window. K-Means+KNN. Quality score.</a:t>
            </a:r>
            <a:endParaRPr lang="en-US" sz="1660" dirty="0"/>
          </a:p>
        </p:txBody>
      </p:sp>
      <p:sp>
        <p:nvSpPr>
          <p:cNvPr id="60" name="Shape 58"/>
          <p:cNvSpPr/>
          <p:nvPr/>
        </p:nvSpPr>
        <p:spPr>
          <a:xfrm>
            <a:off x="13423392" y="4279392"/>
            <a:ext cx="3291840" cy="914400"/>
          </a:xfrm>
          <a:prstGeom prst="rect">
            <a:avLst/>
          </a:prstGeom>
          <a:solidFill>
            <a:srgbClr val="2A2A2A"/>
          </a:solidFill>
          <a:ln/>
        </p:spPr>
        <p:txBody>
          <a:bodyPr/>
          <a:lstStyle/>
          <a:p>
            <a:endParaRPr lang="en-US" sz="3600"/>
          </a:p>
        </p:txBody>
      </p:sp>
      <p:sp>
        <p:nvSpPr>
          <p:cNvPr id="61" name="Text 59"/>
          <p:cNvSpPr/>
          <p:nvPr/>
        </p:nvSpPr>
        <p:spPr>
          <a:xfrm>
            <a:off x="13569696" y="4370832"/>
            <a:ext cx="3145536" cy="329184"/>
          </a:xfrm>
          <a:prstGeom prst="rect">
            <a:avLst/>
          </a:prstGeom>
          <a:noFill/>
          <a:ln/>
        </p:spPr>
        <p:txBody>
          <a:bodyPr wrap="square" lIns="0" tIns="0" rIns="0" bIns="0" rtlCol="0" anchor="ctr"/>
          <a:lstStyle/>
          <a:p>
            <a:r>
              <a:rPr lang="en-US" sz="1600" b="1" dirty="0">
                <a:solidFill>
                  <a:srgbClr val="C0562B"/>
                </a:solidFill>
                <a:latin typeface="Nunito Sans" pitchFamily="34" charset="0"/>
                <a:ea typeface="Nunito Sans" pitchFamily="34" charset="-122"/>
                <a:cs typeface="Nunito Sans" pitchFamily="34" charset="-120"/>
              </a:rPr>
              <a:t>Step A</a:t>
            </a:r>
            <a:endParaRPr lang="en-US" sz="1600" dirty="0"/>
          </a:p>
        </p:txBody>
      </p:sp>
      <p:sp>
        <p:nvSpPr>
          <p:cNvPr id="62" name="Text 60"/>
          <p:cNvSpPr/>
          <p:nvPr/>
        </p:nvSpPr>
        <p:spPr>
          <a:xfrm>
            <a:off x="13569696" y="4681728"/>
            <a:ext cx="3145536" cy="475488"/>
          </a:xfrm>
          <a:prstGeom prst="rect">
            <a:avLst/>
          </a:prstGeom>
          <a:noFill/>
          <a:ln/>
        </p:spPr>
        <p:txBody>
          <a:bodyPr wrap="square" lIns="0" tIns="0" rIns="0" bIns="0" rtlCol="0" anchor="ctr"/>
          <a:lstStyle/>
          <a:p>
            <a:pPr>
              <a:lnSpc>
                <a:spcPct val="105000"/>
              </a:lnSpc>
            </a:pPr>
            <a:r>
              <a:rPr lang="en-US" sz="1460" dirty="0">
                <a:solidFill>
                  <a:srgbClr val="FFFFFF"/>
                </a:solidFill>
                <a:latin typeface="Nunito Sans" pitchFamily="34" charset="0"/>
                <a:ea typeface="Nunito Sans" pitchFamily="34" charset="-122"/>
                <a:cs typeface="Nunito Sans" pitchFamily="34" charset="-120"/>
              </a:rPr>
              <a:t>Signal filtering</a:t>
            </a:r>
            <a:endParaRPr lang="en-US" sz="1460" dirty="0"/>
          </a:p>
          <a:p>
            <a:pPr>
              <a:lnSpc>
                <a:spcPct val="105000"/>
              </a:lnSpc>
            </a:pPr>
            <a:r>
              <a:rPr lang="en-US" sz="1460" dirty="0">
                <a:solidFill>
                  <a:srgbClr val="FFFFFF"/>
                </a:solidFill>
                <a:latin typeface="Nunito Sans" pitchFamily="34" charset="0"/>
                <a:ea typeface="Nunito Sans" pitchFamily="34" charset="-122"/>
                <a:cs typeface="Nunito Sans" pitchFamily="34" charset="-120"/>
              </a:rPr>
              <a:t>(sensor-specific)</a:t>
            </a:r>
            <a:endParaRPr lang="en-US" sz="1460" dirty="0"/>
          </a:p>
        </p:txBody>
      </p:sp>
      <p:sp>
        <p:nvSpPr>
          <p:cNvPr id="63" name="Shape 61"/>
          <p:cNvSpPr/>
          <p:nvPr/>
        </p:nvSpPr>
        <p:spPr>
          <a:xfrm>
            <a:off x="13423392" y="5285232"/>
            <a:ext cx="3291840" cy="914400"/>
          </a:xfrm>
          <a:prstGeom prst="rect">
            <a:avLst/>
          </a:prstGeom>
          <a:solidFill>
            <a:srgbClr val="2A2A2A"/>
          </a:solidFill>
          <a:ln/>
        </p:spPr>
        <p:txBody>
          <a:bodyPr/>
          <a:lstStyle/>
          <a:p>
            <a:endParaRPr lang="en-US" sz="3600"/>
          </a:p>
        </p:txBody>
      </p:sp>
      <p:sp>
        <p:nvSpPr>
          <p:cNvPr id="64" name="Text 62"/>
          <p:cNvSpPr/>
          <p:nvPr/>
        </p:nvSpPr>
        <p:spPr>
          <a:xfrm>
            <a:off x="13569696" y="5376672"/>
            <a:ext cx="3145536" cy="329184"/>
          </a:xfrm>
          <a:prstGeom prst="rect">
            <a:avLst/>
          </a:prstGeom>
          <a:noFill/>
          <a:ln/>
        </p:spPr>
        <p:txBody>
          <a:bodyPr wrap="square" lIns="0" tIns="0" rIns="0" bIns="0" rtlCol="0" anchor="ctr"/>
          <a:lstStyle/>
          <a:p>
            <a:r>
              <a:rPr lang="en-US" sz="1600" b="1" dirty="0">
                <a:solidFill>
                  <a:srgbClr val="C0562B"/>
                </a:solidFill>
                <a:latin typeface="Nunito Sans" pitchFamily="34" charset="0"/>
                <a:ea typeface="Nunito Sans" pitchFamily="34" charset="-122"/>
                <a:cs typeface="Nunito Sans" pitchFamily="34" charset="-120"/>
              </a:rPr>
              <a:t>Step B</a:t>
            </a:r>
            <a:endParaRPr lang="en-US" sz="1600" dirty="0"/>
          </a:p>
        </p:txBody>
      </p:sp>
      <p:sp>
        <p:nvSpPr>
          <p:cNvPr id="65" name="Text 63"/>
          <p:cNvSpPr/>
          <p:nvPr/>
        </p:nvSpPr>
        <p:spPr>
          <a:xfrm>
            <a:off x="13569696" y="5687568"/>
            <a:ext cx="3145536" cy="475488"/>
          </a:xfrm>
          <a:prstGeom prst="rect">
            <a:avLst/>
          </a:prstGeom>
          <a:noFill/>
          <a:ln/>
        </p:spPr>
        <p:txBody>
          <a:bodyPr wrap="square" lIns="0" tIns="0" rIns="0" bIns="0" rtlCol="0" anchor="ctr"/>
          <a:lstStyle/>
          <a:p>
            <a:pPr>
              <a:lnSpc>
                <a:spcPct val="105000"/>
              </a:lnSpc>
            </a:pPr>
            <a:r>
              <a:rPr lang="en-US" sz="1460" dirty="0">
                <a:solidFill>
                  <a:srgbClr val="FFFFFF"/>
                </a:solidFill>
                <a:latin typeface="Nunito Sans" pitchFamily="34" charset="0"/>
                <a:ea typeface="Nunito Sans" pitchFamily="34" charset="-122"/>
                <a:cs typeface="Nunito Sans" pitchFamily="34" charset="-120"/>
              </a:rPr>
              <a:t>Feature extraction</a:t>
            </a:r>
            <a:endParaRPr lang="en-US" sz="1460" dirty="0"/>
          </a:p>
          <a:p>
            <a:pPr>
              <a:lnSpc>
                <a:spcPct val="105000"/>
              </a:lnSpc>
            </a:pPr>
            <a:r>
              <a:rPr lang="en-US" sz="1460" dirty="0">
                <a:solidFill>
                  <a:srgbClr val="FFFFFF"/>
                </a:solidFill>
                <a:latin typeface="Nunito Sans" pitchFamily="34" charset="0"/>
                <a:ea typeface="Nunito Sans" pitchFamily="34" charset="-122"/>
                <a:cs typeface="Nunito Sans" pitchFamily="34" charset="-120"/>
              </a:rPr>
              <a:t>(21 features)</a:t>
            </a:r>
            <a:endParaRPr lang="en-US" sz="1460" dirty="0"/>
          </a:p>
        </p:txBody>
      </p:sp>
      <p:sp>
        <p:nvSpPr>
          <p:cNvPr id="66" name="Shape 64"/>
          <p:cNvSpPr/>
          <p:nvPr/>
        </p:nvSpPr>
        <p:spPr>
          <a:xfrm>
            <a:off x="13423392" y="6291072"/>
            <a:ext cx="3291840" cy="914400"/>
          </a:xfrm>
          <a:prstGeom prst="rect">
            <a:avLst/>
          </a:prstGeom>
          <a:solidFill>
            <a:srgbClr val="2A2A2A"/>
          </a:solidFill>
          <a:ln/>
        </p:spPr>
        <p:txBody>
          <a:bodyPr/>
          <a:lstStyle/>
          <a:p>
            <a:endParaRPr lang="en-US" sz="3600"/>
          </a:p>
        </p:txBody>
      </p:sp>
      <p:sp>
        <p:nvSpPr>
          <p:cNvPr id="67" name="Text 65"/>
          <p:cNvSpPr/>
          <p:nvPr/>
        </p:nvSpPr>
        <p:spPr>
          <a:xfrm>
            <a:off x="13569696" y="6382512"/>
            <a:ext cx="3145536" cy="329184"/>
          </a:xfrm>
          <a:prstGeom prst="rect">
            <a:avLst/>
          </a:prstGeom>
          <a:noFill/>
          <a:ln/>
        </p:spPr>
        <p:txBody>
          <a:bodyPr wrap="square" lIns="0" tIns="0" rIns="0" bIns="0" rtlCol="0" anchor="ctr"/>
          <a:lstStyle/>
          <a:p>
            <a:r>
              <a:rPr lang="en-US" sz="1600" b="1" dirty="0">
                <a:solidFill>
                  <a:srgbClr val="C0562B"/>
                </a:solidFill>
                <a:latin typeface="Nunito Sans" pitchFamily="34" charset="0"/>
                <a:ea typeface="Nunito Sans" pitchFamily="34" charset="-122"/>
                <a:cs typeface="Nunito Sans" pitchFamily="34" charset="-120"/>
              </a:rPr>
              <a:t>Step C</a:t>
            </a:r>
            <a:endParaRPr lang="en-US" sz="1600" dirty="0"/>
          </a:p>
        </p:txBody>
      </p:sp>
      <p:sp>
        <p:nvSpPr>
          <p:cNvPr id="68" name="Text 66"/>
          <p:cNvSpPr/>
          <p:nvPr/>
        </p:nvSpPr>
        <p:spPr>
          <a:xfrm>
            <a:off x="13569696" y="6693408"/>
            <a:ext cx="3145536" cy="475488"/>
          </a:xfrm>
          <a:prstGeom prst="rect">
            <a:avLst/>
          </a:prstGeom>
          <a:noFill/>
          <a:ln/>
        </p:spPr>
        <p:txBody>
          <a:bodyPr wrap="square" lIns="0" tIns="0" rIns="0" bIns="0" rtlCol="0" anchor="ctr"/>
          <a:lstStyle/>
          <a:p>
            <a:pPr>
              <a:lnSpc>
                <a:spcPct val="105000"/>
              </a:lnSpc>
            </a:pPr>
            <a:r>
              <a:rPr lang="en-US" sz="1460" dirty="0">
                <a:solidFill>
                  <a:srgbClr val="FFFFFF"/>
                </a:solidFill>
                <a:latin typeface="Nunito Sans" pitchFamily="34" charset="0"/>
                <a:ea typeface="Nunito Sans" pitchFamily="34" charset="-122"/>
                <a:cs typeface="Nunito Sans" pitchFamily="34" charset="-120"/>
              </a:rPr>
              <a:t>K-Means clustering</a:t>
            </a:r>
            <a:endParaRPr lang="en-US" sz="1460" dirty="0"/>
          </a:p>
          <a:p>
            <a:pPr>
              <a:lnSpc>
                <a:spcPct val="105000"/>
              </a:lnSpc>
            </a:pPr>
            <a:r>
              <a:rPr lang="en-US" sz="1460" dirty="0">
                <a:solidFill>
                  <a:srgbClr val="FFFFFF"/>
                </a:solidFill>
                <a:latin typeface="Nunito Sans" pitchFamily="34" charset="0"/>
                <a:ea typeface="Nunito Sans" pitchFamily="34" charset="-122"/>
                <a:cs typeface="Nunito Sans" pitchFamily="34" charset="-120"/>
              </a:rPr>
              <a:t>(k=4)</a:t>
            </a:r>
            <a:endParaRPr lang="en-US" sz="1460" dirty="0"/>
          </a:p>
        </p:txBody>
      </p:sp>
      <p:sp>
        <p:nvSpPr>
          <p:cNvPr id="69" name="Shape 67"/>
          <p:cNvSpPr/>
          <p:nvPr/>
        </p:nvSpPr>
        <p:spPr>
          <a:xfrm>
            <a:off x="13423392" y="7296912"/>
            <a:ext cx="3291840" cy="914400"/>
          </a:xfrm>
          <a:prstGeom prst="rect">
            <a:avLst/>
          </a:prstGeom>
          <a:solidFill>
            <a:srgbClr val="2A2A2A"/>
          </a:solidFill>
          <a:ln/>
        </p:spPr>
        <p:txBody>
          <a:bodyPr/>
          <a:lstStyle/>
          <a:p>
            <a:endParaRPr lang="en-US" sz="3600"/>
          </a:p>
        </p:txBody>
      </p:sp>
      <p:sp>
        <p:nvSpPr>
          <p:cNvPr id="70" name="Text 68"/>
          <p:cNvSpPr/>
          <p:nvPr/>
        </p:nvSpPr>
        <p:spPr>
          <a:xfrm>
            <a:off x="13569696" y="7388352"/>
            <a:ext cx="3145536" cy="329184"/>
          </a:xfrm>
          <a:prstGeom prst="rect">
            <a:avLst/>
          </a:prstGeom>
          <a:noFill/>
          <a:ln/>
        </p:spPr>
        <p:txBody>
          <a:bodyPr wrap="square" lIns="0" tIns="0" rIns="0" bIns="0" rtlCol="0" anchor="ctr"/>
          <a:lstStyle/>
          <a:p>
            <a:r>
              <a:rPr lang="en-US" sz="1600" b="1" dirty="0">
                <a:solidFill>
                  <a:srgbClr val="C0562B"/>
                </a:solidFill>
                <a:latin typeface="Nunito Sans" pitchFamily="34" charset="0"/>
                <a:ea typeface="Nunito Sans" pitchFamily="34" charset="-122"/>
                <a:cs typeface="Nunito Sans" pitchFamily="34" charset="-120"/>
              </a:rPr>
              <a:t>Step D</a:t>
            </a:r>
            <a:endParaRPr lang="en-US" sz="1600" dirty="0"/>
          </a:p>
        </p:txBody>
      </p:sp>
      <p:sp>
        <p:nvSpPr>
          <p:cNvPr id="71" name="Text 69"/>
          <p:cNvSpPr/>
          <p:nvPr/>
        </p:nvSpPr>
        <p:spPr>
          <a:xfrm>
            <a:off x="13569696" y="7699248"/>
            <a:ext cx="3145536" cy="475488"/>
          </a:xfrm>
          <a:prstGeom prst="rect">
            <a:avLst/>
          </a:prstGeom>
          <a:noFill/>
          <a:ln/>
        </p:spPr>
        <p:txBody>
          <a:bodyPr wrap="square" lIns="0" tIns="0" rIns="0" bIns="0" rtlCol="0" anchor="ctr"/>
          <a:lstStyle/>
          <a:p>
            <a:pPr>
              <a:lnSpc>
                <a:spcPct val="105000"/>
              </a:lnSpc>
            </a:pPr>
            <a:r>
              <a:rPr lang="en-US" sz="1460" dirty="0">
                <a:solidFill>
                  <a:srgbClr val="FFFFFF"/>
                </a:solidFill>
                <a:latin typeface="Nunito Sans" pitchFamily="34" charset="0"/>
                <a:ea typeface="Nunito Sans" pitchFamily="34" charset="-122"/>
                <a:cs typeface="Nunito Sans" pitchFamily="34" charset="-120"/>
              </a:rPr>
              <a:t>KNN + smoothing</a:t>
            </a:r>
            <a:endParaRPr lang="en-US" sz="1460" dirty="0"/>
          </a:p>
          <a:p>
            <a:pPr>
              <a:lnSpc>
                <a:spcPct val="105000"/>
              </a:lnSpc>
            </a:pPr>
            <a:r>
              <a:rPr lang="en-US" sz="1460" dirty="0">
                <a:solidFill>
                  <a:srgbClr val="FFFFFF"/>
                </a:solidFill>
                <a:latin typeface="Nunito Sans" pitchFamily="34" charset="0"/>
                <a:ea typeface="Nunito Sans" pitchFamily="34" charset="-122"/>
                <a:cs typeface="Nunito Sans" pitchFamily="34" charset="-120"/>
              </a:rPr>
              <a:t>+ scoring</a:t>
            </a:r>
            <a:endParaRPr lang="en-US" sz="1460" dirty="0"/>
          </a:p>
        </p:txBody>
      </p:sp>
      <p:sp>
        <p:nvSpPr>
          <p:cNvPr id="72" name="Shape 70"/>
          <p:cNvSpPr/>
          <p:nvPr/>
        </p:nvSpPr>
        <p:spPr>
          <a:xfrm>
            <a:off x="1005840" y="8558784"/>
            <a:ext cx="3877056" cy="1060704"/>
          </a:xfrm>
          <a:prstGeom prst="rect">
            <a:avLst/>
          </a:prstGeom>
          <a:solidFill>
            <a:srgbClr val="F5F3F0"/>
          </a:solidFill>
          <a:ln/>
        </p:spPr>
        <p:txBody>
          <a:bodyPr/>
          <a:lstStyle/>
          <a:p>
            <a:endParaRPr lang="en-US" sz="3600"/>
          </a:p>
        </p:txBody>
      </p:sp>
      <p:sp>
        <p:nvSpPr>
          <p:cNvPr id="73" name="Text 71"/>
          <p:cNvSpPr/>
          <p:nvPr/>
        </p:nvSpPr>
        <p:spPr>
          <a:xfrm>
            <a:off x="1243584" y="8558784"/>
            <a:ext cx="1737360" cy="1060704"/>
          </a:xfrm>
          <a:prstGeom prst="rect">
            <a:avLst/>
          </a:prstGeom>
          <a:noFill/>
          <a:ln/>
        </p:spPr>
        <p:txBody>
          <a:bodyPr wrap="square" lIns="0" tIns="0" rIns="0" bIns="0" rtlCol="0" anchor="ctr"/>
          <a:lstStyle/>
          <a:p>
            <a:r>
              <a:rPr lang="en-US" sz="3200" b="1" dirty="0">
                <a:solidFill>
                  <a:srgbClr val="C0562B"/>
                </a:solidFill>
                <a:latin typeface="Sora" pitchFamily="34" charset="0"/>
                <a:ea typeface="Sora" pitchFamily="34" charset="-122"/>
                <a:cs typeface="Sora" pitchFamily="34" charset="-120"/>
              </a:rPr>
              <a:t>~227</a:t>
            </a:r>
            <a:endParaRPr lang="en-US" sz="3200" dirty="0"/>
          </a:p>
        </p:txBody>
      </p:sp>
      <p:sp>
        <p:nvSpPr>
          <p:cNvPr id="74" name="Text 72"/>
          <p:cNvSpPr/>
          <p:nvPr/>
        </p:nvSpPr>
        <p:spPr>
          <a:xfrm>
            <a:off x="2834640" y="8558784"/>
            <a:ext cx="1865376" cy="1060704"/>
          </a:xfrm>
          <a:prstGeom prst="rect">
            <a:avLst/>
          </a:prstGeom>
          <a:noFill/>
          <a:ln/>
        </p:spPr>
        <p:txBody>
          <a:bodyPr wrap="square" lIns="0" tIns="0" rIns="0" bIns="0" rtlCol="0" anchor="ctr"/>
          <a:lstStyle/>
          <a:p>
            <a:pPr>
              <a:lnSpc>
                <a:spcPct val="110000"/>
              </a:lnSpc>
            </a:pPr>
            <a:r>
              <a:rPr lang="en-US" sz="1460" dirty="0">
                <a:solidFill>
                  <a:srgbClr val="666666"/>
                </a:solidFill>
                <a:latin typeface="Nunito Sans" pitchFamily="34" charset="0"/>
                <a:ea typeface="Nunito Sans" pitchFamily="34" charset="-122"/>
                <a:cs typeface="Nunito Sans" pitchFamily="34" charset="-120"/>
              </a:rPr>
              <a:t>samples/sec across</a:t>
            </a:r>
            <a:endParaRPr lang="en-US" sz="1460" dirty="0"/>
          </a:p>
          <a:p>
            <a:pPr>
              <a:lnSpc>
                <a:spcPct val="110000"/>
              </a:lnSpc>
            </a:pPr>
            <a:r>
              <a:rPr lang="en-US" sz="1460" dirty="0">
                <a:solidFill>
                  <a:srgbClr val="666666"/>
                </a:solidFill>
                <a:latin typeface="Nunito Sans" pitchFamily="34" charset="0"/>
                <a:ea typeface="Nunito Sans" pitchFamily="34" charset="-122"/>
                <a:cs typeface="Nunito Sans" pitchFamily="34" charset="-120"/>
              </a:rPr>
              <a:t>all sensors</a:t>
            </a:r>
            <a:endParaRPr lang="en-US" sz="1460" dirty="0"/>
          </a:p>
        </p:txBody>
      </p:sp>
      <p:sp>
        <p:nvSpPr>
          <p:cNvPr id="75" name="Shape 73"/>
          <p:cNvSpPr/>
          <p:nvPr/>
        </p:nvSpPr>
        <p:spPr>
          <a:xfrm>
            <a:off x="5047488" y="8558784"/>
            <a:ext cx="3877056" cy="1060704"/>
          </a:xfrm>
          <a:prstGeom prst="rect">
            <a:avLst/>
          </a:prstGeom>
          <a:solidFill>
            <a:srgbClr val="F5F3F0"/>
          </a:solidFill>
          <a:ln/>
        </p:spPr>
        <p:txBody>
          <a:bodyPr/>
          <a:lstStyle/>
          <a:p>
            <a:endParaRPr lang="en-US" sz="3600"/>
          </a:p>
        </p:txBody>
      </p:sp>
      <p:sp>
        <p:nvSpPr>
          <p:cNvPr id="76" name="Text 74"/>
          <p:cNvSpPr/>
          <p:nvPr/>
        </p:nvSpPr>
        <p:spPr>
          <a:xfrm>
            <a:off x="5285232" y="8558784"/>
            <a:ext cx="1737360" cy="1060704"/>
          </a:xfrm>
          <a:prstGeom prst="rect">
            <a:avLst/>
          </a:prstGeom>
          <a:noFill/>
          <a:ln/>
        </p:spPr>
        <p:txBody>
          <a:bodyPr wrap="square" lIns="0" tIns="0" rIns="0" bIns="0" rtlCol="0" anchor="ctr"/>
          <a:lstStyle/>
          <a:p>
            <a:r>
              <a:rPr lang="en-US" sz="3200" b="1" dirty="0">
                <a:solidFill>
                  <a:srgbClr val="C0562B"/>
                </a:solidFill>
                <a:latin typeface="Sora" pitchFamily="34" charset="0"/>
                <a:ea typeface="Sora" pitchFamily="34" charset="-122"/>
                <a:cs typeface="Sora" pitchFamily="34" charset="-120"/>
              </a:rPr>
              <a:t>2s</a:t>
            </a:r>
            <a:endParaRPr lang="en-US" sz="3200" dirty="0"/>
          </a:p>
        </p:txBody>
      </p:sp>
      <p:sp>
        <p:nvSpPr>
          <p:cNvPr id="77" name="Text 75"/>
          <p:cNvSpPr/>
          <p:nvPr/>
        </p:nvSpPr>
        <p:spPr>
          <a:xfrm>
            <a:off x="6876288" y="8558784"/>
            <a:ext cx="1865376" cy="1060704"/>
          </a:xfrm>
          <a:prstGeom prst="rect">
            <a:avLst/>
          </a:prstGeom>
          <a:noFill/>
          <a:ln/>
        </p:spPr>
        <p:txBody>
          <a:bodyPr wrap="square" lIns="0" tIns="0" rIns="0" bIns="0" rtlCol="0" anchor="ctr"/>
          <a:lstStyle/>
          <a:p>
            <a:pPr>
              <a:lnSpc>
                <a:spcPct val="110000"/>
              </a:lnSpc>
            </a:pPr>
            <a:r>
              <a:rPr lang="en-US" sz="1460" dirty="0">
                <a:solidFill>
                  <a:srgbClr val="666666"/>
                </a:solidFill>
                <a:latin typeface="Nunito Sans" pitchFamily="34" charset="0"/>
                <a:ea typeface="Nunito Sans" pitchFamily="34" charset="-122"/>
                <a:cs typeface="Nunito Sans" pitchFamily="34" charset="-120"/>
              </a:rPr>
              <a:t>POST interval</a:t>
            </a:r>
            <a:endParaRPr lang="en-US" sz="1460" dirty="0"/>
          </a:p>
          <a:p>
            <a:pPr>
              <a:lnSpc>
                <a:spcPct val="110000"/>
              </a:lnSpc>
            </a:pPr>
            <a:r>
              <a:rPr lang="en-US" sz="1460" dirty="0">
                <a:solidFill>
                  <a:srgbClr val="666666"/>
                </a:solidFill>
                <a:latin typeface="Nunito Sans" pitchFamily="34" charset="0"/>
                <a:ea typeface="Nunito Sans" pitchFamily="34" charset="-122"/>
                <a:cs typeface="Nunito Sans" pitchFamily="34" charset="-120"/>
              </a:rPr>
              <a:t>single-core ESP32</a:t>
            </a:r>
            <a:endParaRPr lang="en-US" sz="1460" dirty="0"/>
          </a:p>
        </p:txBody>
      </p:sp>
      <p:sp>
        <p:nvSpPr>
          <p:cNvPr id="78" name="Shape 76"/>
          <p:cNvSpPr/>
          <p:nvPr/>
        </p:nvSpPr>
        <p:spPr>
          <a:xfrm>
            <a:off x="9089136" y="8558784"/>
            <a:ext cx="3877056" cy="1060704"/>
          </a:xfrm>
          <a:prstGeom prst="rect">
            <a:avLst/>
          </a:prstGeom>
          <a:solidFill>
            <a:srgbClr val="F5F3F0"/>
          </a:solidFill>
          <a:ln/>
        </p:spPr>
        <p:txBody>
          <a:bodyPr/>
          <a:lstStyle/>
          <a:p>
            <a:endParaRPr lang="en-US" sz="3600"/>
          </a:p>
        </p:txBody>
      </p:sp>
      <p:sp>
        <p:nvSpPr>
          <p:cNvPr id="79" name="Text 77"/>
          <p:cNvSpPr/>
          <p:nvPr/>
        </p:nvSpPr>
        <p:spPr>
          <a:xfrm>
            <a:off x="9326880" y="8558784"/>
            <a:ext cx="1737360" cy="1060704"/>
          </a:xfrm>
          <a:prstGeom prst="rect">
            <a:avLst/>
          </a:prstGeom>
          <a:noFill/>
          <a:ln/>
        </p:spPr>
        <p:txBody>
          <a:bodyPr wrap="square" lIns="0" tIns="0" rIns="0" bIns="0" rtlCol="0" anchor="ctr"/>
          <a:lstStyle/>
          <a:p>
            <a:r>
              <a:rPr lang="en-US" sz="3200" b="1" dirty="0">
                <a:solidFill>
                  <a:srgbClr val="C0562B"/>
                </a:solidFill>
                <a:latin typeface="Sora" pitchFamily="34" charset="0"/>
                <a:ea typeface="Sora" pitchFamily="34" charset="-122"/>
                <a:cs typeface="Sora" pitchFamily="34" charset="-120"/>
              </a:rPr>
              <a:t>6–10h</a:t>
            </a:r>
            <a:endParaRPr lang="en-US" sz="3200" dirty="0"/>
          </a:p>
        </p:txBody>
      </p:sp>
      <p:sp>
        <p:nvSpPr>
          <p:cNvPr id="80" name="Text 78"/>
          <p:cNvSpPr/>
          <p:nvPr/>
        </p:nvSpPr>
        <p:spPr>
          <a:xfrm>
            <a:off x="10917936" y="8558784"/>
            <a:ext cx="1865376" cy="1060704"/>
          </a:xfrm>
          <a:prstGeom prst="rect">
            <a:avLst/>
          </a:prstGeom>
          <a:noFill/>
          <a:ln/>
        </p:spPr>
        <p:txBody>
          <a:bodyPr wrap="square" lIns="0" tIns="0" rIns="0" bIns="0" rtlCol="0" anchor="ctr"/>
          <a:lstStyle/>
          <a:p>
            <a:pPr>
              <a:lnSpc>
                <a:spcPct val="110000"/>
              </a:lnSpc>
            </a:pPr>
            <a:r>
              <a:rPr lang="en-US" sz="1460" dirty="0">
                <a:solidFill>
                  <a:srgbClr val="666666"/>
                </a:solidFill>
                <a:latin typeface="Nunito Sans" pitchFamily="34" charset="0"/>
                <a:ea typeface="Nunito Sans" pitchFamily="34" charset="-122"/>
                <a:cs typeface="Nunito Sans" pitchFamily="34" charset="-120"/>
              </a:rPr>
              <a:t>recording duration</a:t>
            </a:r>
            <a:endParaRPr lang="en-US" sz="1460" dirty="0"/>
          </a:p>
          <a:p>
            <a:pPr>
              <a:lnSpc>
                <a:spcPct val="110000"/>
              </a:lnSpc>
            </a:pPr>
            <a:r>
              <a:rPr lang="en-US" sz="1460" dirty="0">
                <a:solidFill>
                  <a:srgbClr val="666666"/>
                </a:solidFill>
                <a:latin typeface="Nunito Sans" pitchFamily="34" charset="0"/>
                <a:ea typeface="Nunito Sans" pitchFamily="34" charset="-122"/>
                <a:cs typeface="Nunito Sans" pitchFamily="34" charset="-120"/>
              </a:rPr>
              <a:t>per session</a:t>
            </a:r>
            <a:endParaRPr lang="en-US" sz="1460" dirty="0"/>
          </a:p>
        </p:txBody>
      </p:sp>
      <p:sp>
        <p:nvSpPr>
          <p:cNvPr id="81" name="Shape 79"/>
          <p:cNvSpPr/>
          <p:nvPr/>
        </p:nvSpPr>
        <p:spPr>
          <a:xfrm>
            <a:off x="13130784" y="8558784"/>
            <a:ext cx="3877056" cy="1060704"/>
          </a:xfrm>
          <a:prstGeom prst="rect">
            <a:avLst/>
          </a:prstGeom>
          <a:solidFill>
            <a:srgbClr val="F5F3F0"/>
          </a:solidFill>
          <a:ln/>
        </p:spPr>
        <p:txBody>
          <a:bodyPr/>
          <a:lstStyle/>
          <a:p>
            <a:endParaRPr lang="en-US" sz="3600"/>
          </a:p>
        </p:txBody>
      </p:sp>
      <p:sp>
        <p:nvSpPr>
          <p:cNvPr id="82" name="Text 80"/>
          <p:cNvSpPr/>
          <p:nvPr/>
        </p:nvSpPr>
        <p:spPr>
          <a:xfrm>
            <a:off x="13368528" y="8558784"/>
            <a:ext cx="1737360" cy="1060704"/>
          </a:xfrm>
          <a:prstGeom prst="rect">
            <a:avLst/>
          </a:prstGeom>
          <a:noFill/>
          <a:ln/>
        </p:spPr>
        <p:txBody>
          <a:bodyPr wrap="square" lIns="0" tIns="0" rIns="0" bIns="0" rtlCol="0" anchor="ctr"/>
          <a:lstStyle/>
          <a:p>
            <a:r>
              <a:rPr lang="en-US" sz="3200" b="1" dirty="0">
                <a:solidFill>
                  <a:srgbClr val="C0562B"/>
                </a:solidFill>
                <a:latin typeface="Sora" pitchFamily="34" charset="0"/>
                <a:ea typeface="Sora" pitchFamily="34" charset="-122"/>
                <a:cs typeface="Sora" pitchFamily="34" charset="-120"/>
              </a:rPr>
              <a:t>WiFi</a:t>
            </a:r>
            <a:endParaRPr lang="en-US" sz="3200" dirty="0"/>
          </a:p>
        </p:txBody>
      </p:sp>
      <p:sp>
        <p:nvSpPr>
          <p:cNvPr id="83" name="Text 81"/>
          <p:cNvSpPr/>
          <p:nvPr/>
        </p:nvSpPr>
        <p:spPr>
          <a:xfrm>
            <a:off x="14959584" y="8558784"/>
            <a:ext cx="1865376" cy="1060704"/>
          </a:xfrm>
          <a:prstGeom prst="rect">
            <a:avLst/>
          </a:prstGeom>
          <a:noFill/>
          <a:ln/>
        </p:spPr>
        <p:txBody>
          <a:bodyPr wrap="square" lIns="0" tIns="0" rIns="0" bIns="0" rtlCol="0" anchor="ctr"/>
          <a:lstStyle/>
          <a:p>
            <a:pPr>
              <a:lnSpc>
                <a:spcPct val="110000"/>
              </a:lnSpc>
            </a:pPr>
            <a:r>
              <a:rPr lang="en-US" sz="1460" dirty="0">
                <a:solidFill>
                  <a:srgbClr val="666666"/>
                </a:solidFill>
                <a:latin typeface="Nunito Sans" pitchFamily="34" charset="0"/>
                <a:ea typeface="Nunito Sans" pitchFamily="34" charset="-122"/>
                <a:cs typeface="Nunito Sans" pitchFamily="34" charset="-120"/>
              </a:rPr>
              <a:t>HTTP POST :5000</a:t>
            </a:r>
            <a:endParaRPr lang="en-US" sz="1460" dirty="0"/>
          </a:p>
          <a:p>
            <a:pPr>
              <a:lnSpc>
                <a:spcPct val="110000"/>
              </a:lnSpc>
            </a:pPr>
            <a:r>
              <a:rPr lang="en-US" sz="1460" dirty="0">
                <a:solidFill>
                  <a:srgbClr val="666666"/>
                </a:solidFill>
                <a:latin typeface="Nunito Sans" pitchFamily="34" charset="0"/>
                <a:ea typeface="Nunito Sans" pitchFamily="34" charset="-122"/>
                <a:cs typeface="Nunito Sans" pitchFamily="34" charset="-120"/>
              </a:rPr>
              <a:t>to Raspberry Pi</a:t>
            </a:r>
            <a:endParaRPr lang="en-US" sz="1460" dirty="0"/>
          </a:p>
        </p:txBody>
      </p:sp>
      <p:sp>
        <p:nvSpPr>
          <p:cNvPr id="93" name="Text 0">
            <a:extLst>
              <a:ext uri="{FF2B5EF4-FFF2-40B4-BE49-F238E27FC236}">
                <a16:creationId xmlns:a16="http://schemas.microsoft.com/office/drawing/2014/main" id="{3FAAE9CD-A332-BB21-AA1B-D011E8CD2ED3}"/>
              </a:ext>
            </a:extLst>
          </p:cNvPr>
          <p:cNvSpPr/>
          <p:nvPr/>
        </p:nvSpPr>
        <p:spPr>
          <a:xfrm>
            <a:off x="952500" y="457200"/>
            <a:ext cx="1323177" cy="1097280"/>
          </a:xfrm>
          <a:prstGeom prst="rect">
            <a:avLst/>
          </a:prstGeom>
          <a:noFill/>
          <a:ln/>
        </p:spPr>
        <p:txBody>
          <a:bodyPr wrap="square" lIns="25400" tIns="25400" rIns="25400" bIns="25400" rtlCol="0" anchor="t">
            <a:normAutofit/>
          </a:bodyPr>
          <a:lstStyle/>
          <a:p>
            <a:pPr marL="0" indent="0" algn="l">
              <a:buNone/>
            </a:pPr>
            <a:r>
              <a:rPr lang="en-US" sz="6600" b="1" dirty="0">
                <a:solidFill>
                  <a:srgbClr val="C0562B">
                    <a:alpha val="8000"/>
                  </a:srgbClr>
                </a:solidFill>
                <a:latin typeface="Sora" pitchFamily="34" charset="0"/>
                <a:ea typeface="Sora" pitchFamily="34" charset="-122"/>
                <a:cs typeface="Sora" pitchFamily="34" charset="-120"/>
              </a:rPr>
              <a:t>04</a:t>
            </a:r>
            <a:endParaRPr lang="en-US" sz="6600" dirty="0"/>
          </a:p>
        </p:txBody>
      </p:sp>
      <p:sp>
        <p:nvSpPr>
          <p:cNvPr id="95" name="Text 1">
            <a:extLst>
              <a:ext uri="{FF2B5EF4-FFF2-40B4-BE49-F238E27FC236}">
                <a16:creationId xmlns:a16="http://schemas.microsoft.com/office/drawing/2014/main" id="{6F75A814-6ECF-A0C9-0038-68FEBD1D1CF3}"/>
              </a:ext>
            </a:extLst>
          </p:cNvPr>
          <p:cNvSpPr/>
          <p:nvPr/>
        </p:nvSpPr>
        <p:spPr>
          <a:xfrm>
            <a:off x="2345888" y="830580"/>
            <a:ext cx="4359426"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Data Acquisition</a:t>
            </a:r>
            <a:endParaRPr lang="en-US" sz="3600" dirty="0"/>
          </a:p>
        </p:txBody>
      </p:sp>
      <p:sp>
        <p:nvSpPr>
          <p:cNvPr id="97" name="Text 26">
            <a:extLst>
              <a:ext uri="{FF2B5EF4-FFF2-40B4-BE49-F238E27FC236}">
                <a16:creationId xmlns:a16="http://schemas.microsoft.com/office/drawing/2014/main" id="{F6807D83-5FAD-C61F-9D4C-CC09B3974481}"/>
              </a:ext>
            </a:extLst>
          </p:cNvPr>
          <p:cNvSpPr/>
          <p:nvPr/>
        </p:nvSpPr>
        <p:spPr>
          <a:xfrm>
            <a:off x="-323850" y="8285988"/>
            <a:ext cx="18021300" cy="327660"/>
          </a:xfrm>
          <a:prstGeom prst="rect">
            <a:avLst/>
          </a:prstGeom>
          <a:noFill/>
          <a:ln/>
        </p:spPr>
        <p:txBody>
          <a:bodyPr wrap="square" lIns="25400" tIns="25400" rIns="25400" bIns="25400" rtlCol="0" anchor="t">
            <a:normAutofit/>
          </a:bodyPr>
          <a:lstStyle/>
          <a:p>
            <a:pPr marL="0" indent="0" algn="ctr">
              <a:buNone/>
            </a:pPr>
            <a:r>
              <a:rPr lang="en-US" sz="1650" i="1" dirty="0">
                <a:latin typeface="Nunito Sans" pitchFamily="34" charset="0"/>
                <a:ea typeface="Nunito Sans" pitchFamily="34" charset="-122"/>
                <a:cs typeface="Nunito Sans" pitchFamily="34" charset="-120"/>
              </a:rPr>
              <a:t>Key design decision: single combined POST per cycle avoids sample loss on single-core ESP32-C3</a:t>
            </a:r>
            <a:endParaRPr lang="en-US" sz="1650" dirty="0"/>
          </a:p>
        </p:txBody>
      </p:sp>
      <p:sp>
        <p:nvSpPr>
          <p:cNvPr id="99" name="Text 28">
            <a:extLst>
              <a:ext uri="{FF2B5EF4-FFF2-40B4-BE49-F238E27FC236}">
                <a16:creationId xmlns:a16="http://schemas.microsoft.com/office/drawing/2014/main" id="{E7509FEE-B028-3C84-3DE0-C207E5CD8FF2}"/>
              </a:ext>
            </a:extLst>
          </p:cNvPr>
          <p:cNvSpPr/>
          <p:nvPr/>
        </p:nvSpPr>
        <p:spPr>
          <a:xfrm>
            <a:off x="952500" y="9837420"/>
            <a:ext cx="2831675" cy="297180"/>
          </a:xfrm>
          <a:prstGeom prst="rect">
            <a:avLst/>
          </a:prstGeom>
          <a:noFill/>
          <a:ln/>
        </p:spPr>
        <p:txBody>
          <a:bodyPr wrap="square" lIns="25400" tIns="25400" rIns="25400" bIns="25400" rtlCol="0" anchor="t">
            <a:normAutofit/>
          </a:bodyPr>
          <a:lstStyle/>
          <a:p>
            <a:pPr marL="0" indent="0" algn="l">
              <a:buNone/>
            </a:pPr>
            <a:r>
              <a:rPr lang="en-US" sz="1500" dirty="0">
                <a:solidFill>
                  <a:srgbClr val="CCCCCC"/>
                </a:solidFill>
                <a:latin typeface="Nunito Sans" pitchFamily="34" charset="0"/>
                <a:ea typeface="Nunito Sans" pitchFamily="34" charset="-122"/>
                <a:cs typeface="Nunito Sans" pitchFamily="34" charset="-120"/>
              </a:rPr>
              <a:t>Data Acquisition &amp; Dashboard</a:t>
            </a:r>
            <a:endParaRPr lang="en-US" sz="1500" dirty="0"/>
          </a:p>
        </p:txBody>
      </p:sp>
      <p:sp>
        <p:nvSpPr>
          <p:cNvPr id="101" name="Text 29">
            <a:extLst>
              <a:ext uri="{FF2B5EF4-FFF2-40B4-BE49-F238E27FC236}">
                <a16:creationId xmlns:a16="http://schemas.microsoft.com/office/drawing/2014/main" id="{B9C27C26-D7FD-2131-45C1-86EA3F4203C2}"/>
              </a:ext>
            </a:extLst>
          </p:cNvPr>
          <p:cNvSpPr/>
          <p:nvPr/>
        </p:nvSpPr>
        <p:spPr>
          <a:xfrm>
            <a:off x="16715899" y="9848850"/>
            <a:ext cx="695801"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08 / 17</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323177"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04</a:t>
            </a:r>
            <a:endParaRPr lang="en-US" sz="6600" dirty="0">
              <a:solidFill>
                <a:schemeClr val="accent2"/>
              </a:solidFill>
            </a:endParaRPr>
          </a:p>
        </p:txBody>
      </p:sp>
      <p:sp>
        <p:nvSpPr>
          <p:cNvPr id="3" name="Text 1"/>
          <p:cNvSpPr/>
          <p:nvPr/>
        </p:nvSpPr>
        <p:spPr>
          <a:xfrm>
            <a:off x="2345888" y="830580"/>
            <a:ext cx="4019431"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Live Dashboard</a:t>
            </a:r>
            <a:endParaRPr lang="en-US" sz="3600" dirty="0"/>
          </a:p>
        </p:txBody>
      </p:sp>
      <p:sp>
        <p:nvSpPr>
          <p:cNvPr id="4" name="Text 2"/>
          <p:cNvSpPr/>
          <p:nvPr/>
        </p:nvSpPr>
        <p:spPr>
          <a:xfrm>
            <a:off x="952500" y="1592580"/>
            <a:ext cx="18021300" cy="350520"/>
          </a:xfrm>
          <a:prstGeom prst="rect">
            <a:avLst/>
          </a:prstGeom>
          <a:noFill/>
          <a:ln/>
        </p:spPr>
        <p:txBody>
          <a:bodyPr wrap="square" lIns="25400" tIns="25400" rIns="25400" bIns="25400" rtlCol="0" anchor="t">
            <a:normAutofit/>
          </a:bodyPr>
          <a:lstStyle/>
          <a:p>
            <a:pPr marL="0" indent="0" algn="l">
              <a:buNone/>
            </a:pPr>
            <a:r>
              <a:rPr lang="en-US" sz="1800" dirty="0">
                <a:solidFill>
                  <a:srgbClr val="999999"/>
                </a:solidFill>
                <a:latin typeface="Nunito Sans" pitchFamily="34" charset="0"/>
                <a:ea typeface="Nunito Sans" pitchFamily="34" charset="-122"/>
                <a:cs typeface="Nunito Sans" pitchFamily="34" charset="-120"/>
              </a:rPr>
              <a:t>Real-time signal monitoring on port 8080 during active recording sessions</a:t>
            </a:r>
            <a:endParaRPr lang="en-US" sz="1800" dirty="0"/>
          </a:p>
        </p:txBody>
      </p:sp>
      <p:sp>
        <p:nvSpPr>
          <p:cNvPr id="9" name="Shape 7"/>
          <p:cNvSpPr/>
          <p:nvPr/>
        </p:nvSpPr>
        <p:spPr>
          <a:xfrm>
            <a:off x="0" y="9639300"/>
            <a:ext cx="18288000" cy="9525"/>
          </a:xfrm>
          <a:prstGeom prst="rect">
            <a:avLst/>
          </a:prstGeom>
          <a:solidFill>
            <a:srgbClr val="EEEEEE"/>
          </a:solidFill>
          <a:ln/>
        </p:spPr>
        <p:txBody>
          <a:bodyPr/>
          <a:lstStyle/>
          <a:p>
            <a:endParaRPr lang="en-US"/>
          </a:p>
        </p:txBody>
      </p:sp>
      <p:sp>
        <p:nvSpPr>
          <p:cNvPr id="10" name="Text 8"/>
          <p:cNvSpPr/>
          <p:nvPr/>
        </p:nvSpPr>
        <p:spPr>
          <a:xfrm>
            <a:off x="952500" y="9837420"/>
            <a:ext cx="2831675"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Data Acquisition &amp; Dashboard</a:t>
            </a:r>
            <a:endParaRPr lang="en-US" sz="1500" dirty="0">
              <a:solidFill>
                <a:schemeClr val="accent2"/>
              </a:solidFill>
            </a:endParaRPr>
          </a:p>
        </p:txBody>
      </p:sp>
      <p:sp>
        <p:nvSpPr>
          <p:cNvPr id="11" name="Text 9"/>
          <p:cNvSpPr/>
          <p:nvPr/>
        </p:nvSpPr>
        <p:spPr>
          <a:xfrm>
            <a:off x="16711969" y="9848850"/>
            <a:ext cx="699730"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09 / 17</a:t>
            </a:r>
            <a:endParaRPr lang="en-US" sz="1500" dirty="0"/>
          </a:p>
        </p:txBody>
      </p:sp>
      <p:pic>
        <p:nvPicPr>
          <p:cNvPr id="13" name="Picture 12">
            <a:extLst>
              <a:ext uri="{FF2B5EF4-FFF2-40B4-BE49-F238E27FC236}">
                <a16:creationId xmlns:a16="http://schemas.microsoft.com/office/drawing/2014/main" id="{6A5BE14B-D039-23A1-F4F3-D486A2A90BA2}"/>
              </a:ext>
            </a:extLst>
          </p:cNvPr>
          <p:cNvPicPr>
            <a:picLocks noChangeAspect="1"/>
          </p:cNvPicPr>
          <p:nvPr/>
        </p:nvPicPr>
        <p:blipFill>
          <a:blip r:embed="rId3"/>
          <a:stretch>
            <a:fillRect/>
          </a:stretch>
        </p:blipFill>
        <p:spPr>
          <a:xfrm>
            <a:off x="1910397" y="2219657"/>
            <a:ext cx="14467205" cy="72196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266700"/>
            <a:ext cx="933926" cy="807720"/>
          </a:xfrm>
          <a:prstGeom prst="rect">
            <a:avLst/>
          </a:prstGeom>
          <a:noFill/>
          <a:ln/>
        </p:spPr>
        <p:txBody>
          <a:bodyPr wrap="square" lIns="25400" tIns="25400" rIns="25400" bIns="25400" rtlCol="0" anchor="t">
            <a:normAutofit/>
          </a:bodyPr>
          <a:lstStyle/>
          <a:p>
            <a:pPr marL="0" indent="0" algn="l">
              <a:buNone/>
            </a:pPr>
            <a:r>
              <a:rPr lang="en-US" sz="4800" b="1" dirty="0">
                <a:solidFill>
                  <a:schemeClr val="accent2"/>
                </a:solidFill>
                <a:latin typeface="Sora" pitchFamily="34" charset="0"/>
                <a:ea typeface="Sora" pitchFamily="34" charset="-122"/>
                <a:cs typeface="Sora" pitchFamily="34" charset="-120"/>
              </a:rPr>
              <a:t>05</a:t>
            </a:r>
            <a:endParaRPr lang="en-US" sz="4800" dirty="0">
              <a:solidFill>
                <a:schemeClr val="accent2"/>
              </a:solidFill>
            </a:endParaRPr>
          </a:p>
        </p:txBody>
      </p:sp>
      <p:sp>
        <p:nvSpPr>
          <p:cNvPr id="3" name="Text 1"/>
          <p:cNvSpPr/>
          <p:nvPr/>
        </p:nvSpPr>
        <p:spPr>
          <a:xfrm>
            <a:off x="1962626" y="472440"/>
            <a:ext cx="4069723" cy="541020"/>
          </a:xfrm>
          <a:prstGeom prst="rect">
            <a:avLst/>
          </a:prstGeom>
          <a:noFill/>
          <a:ln/>
        </p:spPr>
        <p:txBody>
          <a:bodyPr wrap="square" lIns="25400" tIns="25400" rIns="25400" bIns="25400" rtlCol="0" anchor="t">
            <a:normAutofit/>
          </a:bodyPr>
          <a:lstStyle/>
          <a:p>
            <a:pPr marL="0" indent="0" algn="l">
              <a:buNone/>
            </a:pPr>
            <a:r>
              <a:rPr lang="en-US" sz="3150" b="1" dirty="0">
                <a:solidFill>
                  <a:srgbClr val="1A1A1A"/>
                </a:solidFill>
                <a:latin typeface="Sora" pitchFamily="34" charset="0"/>
                <a:ea typeface="Sora" pitchFamily="34" charset="-122"/>
                <a:cs typeface="Sora" pitchFamily="34" charset="-120"/>
              </a:rPr>
              <a:t>Signal Processing</a:t>
            </a:r>
            <a:endParaRPr lang="en-US" sz="3150" dirty="0"/>
          </a:p>
        </p:txBody>
      </p:sp>
      <p:sp>
        <p:nvSpPr>
          <p:cNvPr id="4" name="Shape 2"/>
          <p:cNvSpPr/>
          <p:nvPr/>
        </p:nvSpPr>
        <p:spPr>
          <a:xfrm>
            <a:off x="710355" y="1135574"/>
            <a:ext cx="8324850" cy="4187190"/>
          </a:xfrm>
          <a:prstGeom prst="roundRect">
            <a:avLst>
              <a:gd name="adj" fmla="val 1820"/>
            </a:avLst>
          </a:prstGeom>
          <a:solidFill>
            <a:srgbClr val="F5F3F0"/>
          </a:solidFill>
          <a:ln/>
        </p:spPr>
        <p:txBody>
          <a:bodyPr/>
          <a:lstStyle/>
          <a:p>
            <a:endParaRPr lang="en-US"/>
          </a:p>
        </p:txBody>
      </p:sp>
      <p:sp>
        <p:nvSpPr>
          <p:cNvPr id="5" name="Text 3"/>
          <p:cNvSpPr/>
          <p:nvPr/>
        </p:nvSpPr>
        <p:spPr>
          <a:xfrm>
            <a:off x="914400" y="1283970"/>
            <a:ext cx="1363385" cy="232465"/>
          </a:xfrm>
          <a:prstGeom prst="rect">
            <a:avLst/>
          </a:prstGeom>
          <a:noFill/>
          <a:ln/>
        </p:spPr>
        <p:txBody>
          <a:bodyPr wrap="square" lIns="25400" tIns="25400" rIns="25400" bIns="25400" rtlCol="0" anchor="t">
            <a:noAutofit/>
          </a:bodyPr>
          <a:lstStyle/>
          <a:p>
            <a:pPr marL="0" indent="0" algn="l">
              <a:buNone/>
            </a:pPr>
            <a:r>
              <a:rPr lang="en-US" sz="2200" b="1" dirty="0">
                <a:solidFill>
                  <a:srgbClr val="1A1A1A"/>
                </a:solidFill>
                <a:latin typeface="Sora" pitchFamily="34" charset="0"/>
                <a:ea typeface="Sora" pitchFamily="34" charset="-122"/>
                <a:cs typeface="Sora" pitchFamily="34" charset="-120"/>
              </a:rPr>
              <a:t>PPG (IR)</a:t>
            </a:r>
            <a:endParaRPr lang="en-US" sz="2200" dirty="0"/>
          </a:p>
        </p:txBody>
      </p:sp>
      <p:sp>
        <p:nvSpPr>
          <p:cNvPr id="6" name="Text 4"/>
          <p:cNvSpPr/>
          <p:nvPr/>
        </p:nvSpPr>
        <p:spPr>
          <a:xfrm>
            <a:off x="4470006" y="1236340"/>
            <a:ext cx="4509860" cy="280095"/>
          </a:xfrm>
          <a:prstGeom prst="rect">
            <a:avLst/>
          </a:prstGeom>
          <a:noFill/>
          <a:ln/>
        </p:spPr>
        <p:txBody>
          <a:bodyPr wrap="square" lIns="25400" tIns="25400" rIns="25400" bIns="25400" rtlCol="0" anchor="t">
            <a:noAutofit/>
          </a:bodyPr>
          <a:lstStyle/>
          <a:p>
            <a:pPr marL="0" indent="0" algn="l">
              <a:buNone/>
            </a:pPr>
            <a:r>
              <a:rPr lang="en-US" sz="2200" b="1" dirty="0">
                <a:solidFill>
                  <a:srgbClr val="C0562B"/>
                </a:solidFill>
                <a:latin typeface="Nunito Sans" pitchFamily="34" charset="0"/>
                <a:ea typeface="Nunito Sans" pitchFamily="34" charset="-122"/>
                <a:cs typeface="Nunito Sans" pitchFamily="34" charset="-120"/>
              </a:rPr>
              <a:t>Butterworth 0.5–3.5 Hz, order 3</a:t>
            </a:r>
            <a:endParaRPr lang="en-US" sz="2200" dirty="0"/>
          </a:p>
        </p:txBody>
      </p:sp>
      <p:sp>
        <p:nvSpPr>
          <p:cNvPr id="8" name="Text 6"/>
          <p:cNvSpPr/>
          <p:nvPr/>
        </p:nvSpPr>
        <p:spPr>
          <a:xfrm>
            <a:off x="4535448" y="3278505"/>
            <a:ext cx="854035" cy="274320"/>
          </a:xfrm>
          <a:prstGeom prst="rect">
            <a:avLst/>
          </a:prstGeom>
          <a:noFill/>
          <a:ln/>
        </p:spPr>
        <p:txBody>
          <a:bodyPr wrap="square" lIns="25400" tIns="25400" rIns="25400" bIns="25400" rtlCol="0" anchor="t">
            <a:normAutofit/>
          </a:bodyPr>
          <a:lstStyle/>
          <a:p>
            <a:pPr marL="0" indent="0" algn="l">
              <a:buNone/>
            </a:pPr>
            <a:r>
              <a:rPr lang="en-US" sz="1350" dirty="0">
                <a:solidFill>
                  <a:srgbClr val="999999"/>
                </a:solidFill>
                <a:latin typeface="Nunito Sans" pitchFamily="34" charset="0"/>
                <a:ea typeface="Nunito Sans" pitchFamily="34" charset="-122"/>
                <a:cs typeface="Nunito Sans" pitchFamily="34" charset="-120"/>
              </a:rPr>
              <a:t>PPG chart</a:t>
            </a:r>
            <a:endParaRPr lang="en-US" sz="1350" dirty="0"/>
          </a:p>
        </p:txBody>
      </p:sp>
      <p:sp>
        <p:nvSpPr>
          <p:cNvPr id="9" name="Shape 7"/>
          <p:cNvSpPr/>
          <p:nvPr/>
        </p:nvSpPr>
        <p:spPr>
          <a:xfrm>
            <a:off x="9201150" y="1150620"/>
            <a:ext cx="8324850" cy="4187190"/>
          </a:xfrm>
          <a:prstGeom prst="roundRect">
            <a:avLst>
              <a:gd name="adj" fmla="val 1820"/>
            </a:avLst>
          </a:prstGeom>
          <a:solidFill>
            <a:srgbClr val="F5F3F0"/>
          </a:solidFill>
          <a:ln/>
        </p:spPr>
        <p:txBody>
          <a:bodyPr/>
          <a:lstStyle/>
          <a:p>
            <a:endParaRPr lang="en-US" dirty="0"/>
          </a:p>
        </p:txBody>
      </p:sp>
      <p:sp>
        <p:nvSpPr>
          <p:cNvPr id="10" name="Text 8"/>
          <p:cNvSpPr/>
          <p:nvPr/>
        </p:nvSpPr>
        <p:spPr>
          <a:xfrm>
            <a:off x="9353550" y="1208739"/>
            <a:ext cx="2134405" cy="286060"/>
          </a:xfrm>
          <a:prstGeom prst="rect">
            <a:avLst/>
          </a:prstGeom>
          <a:noFill/>
          <a:ln/>
        </p:spPr>
        <p:txBody>
          <a:bodyPr wrap="square" lIns="25400" tIns="25400" rIns="25400" bIns="25400" rtlCol="0" anchor="t">
            <a:noAutofit/>
          </a:bodyPr>
          <a:lstStyle/>
          <a:p>
            <a:pPr marL="0" indent="0" algn="l">
              <a:buNone/>
            </a:pPr>
            <a:r>
              <a:rPr lang="en-US" sz="2200" b="1" dirty="0">
                <a:solidFill>
                  <a:srgbClr val="1A1A1A"/>
                </a:solidFill>
                <a:latin typeface="Sora" pitchFamily="34" charset="0"/>
                <a:ea typeface="Sora" pitchFamily="34" charset="-122"/>
                <a:cs typeface="Sora" pitchFamily="34" charset="-120"/>
              </a:rPr>
              <a:t>Gyroscope</a:t>
            </a:r>
            <a:endParaRPr lang="en-US" sz="2200" dirty="0"/>
          </a:p>
        </p:txBody>
      </p:sp>
      <p:sp>
        <p:nvSpPr>
          <p:cNvPr id="11" name="Text 9"/>
          <p:cNvSpPr/>
          <p:nvPr/>
        </p:nvSpPr>
        <p:spPr>
          <a:xfrm>
            <a:off x="13587127" y="1230630"/>
            <a:ext cx="3681212" cy="205740"/>
          </a:xfrm>
          <a:prstGeom prst="rect">
            <a:avLst/>
          </a:prstGeom>
          <a:noFill/>
          <a:ln/>
        </p:spPr>
        <p:txBody>
          <a:bodyPr wrap="square" lIns="25400" tIns="25400" rIns="25400" bIns="25400" rtlCol="0" anchor="t">
            <a:noAutofit/>
          </a:bodyPr>
          <a:lstStyle/>
          <a:p>
            <a:pPr marL="0" indent="0" algn="l">
              <a:buNone/>
            </a:pPr>
            <a:r>
              <a:rPr lang="en-US" sz="2200" b="1" dirty="0">
                <a:solidFill>
                  <a:srgbClr val="C0562B"/>
                </a:solidFill>
                <a:latin typeface="Nunito Sans" pitchFamily="34" charset="0"/>
                <a:ea typeface="Nunito Sans" pitchFamily="34" charset="-122"/>
                <a:cs typeface="Nunito Sans" pitchFamily="34" charset="-120"/>
              </a:rPr>
              <a:t>Median filter, kernel size 5</a:t>
            </a:r>
            <a:endParaRPr lang="en-US" sz="2200" dirty="0"/>
          </a:p>
        </p:txBody>
      </p:sp>
      <p:sp>
        <p:nvSpPr>
          <p:cNvPr id="14" name="Shape 12"/>
          <p:cNvSpPr/>
          <p:nvPr/>
        </p:nvSpPr>
        <p:spPr>
          <a:xfrm>
            <a:off x="761999" y="5379171"/>
            <a:ext cx="8217867" cy="4187190"/>
          </a:xfrm>
          <a:prstGeom prst="roundRect">
            <a:avLst>
              <a:gd name="adj" fmla="val 1820"/>
            </a:avLst>
          </a:prstGeom>
          <a:solidFill>
            <a:srgbClr val="F5F3F0"/>
          </a:solidFill>
          <a:ln/>
        </p:spPr>
        <p:txBody>
          <a:bodyPr/>
          <a:lstStyle/>
          <a:p>
            <a:endParaRPr lang="en-US"/>
          </a:p>
        </p:txBody>
      </p:sp>
      <p:sp>
        <p:nvSpPr>
          <p:cNvPr id="15" name="Text 13"/>
          <p:cNvSpPr/>
          <p:nvPr/>
        </p:nvSpPr>
        <p:spPr>
          <a:xfrm>
            <a:off x="914400" y="5543376"/>
            <a:ext cx="1363385" cy="304800"/>
          </a:xfrm>
          <a:prstGeom prst="rect">
            <a:avLst/>
          </a:prstGeom>
          <a:noFill/>
          <a:ln/>
        </p:spPr>
        <p:txBody>
          <a:bodyPr wrap="square" lIns="25400" tIns="25400" rIns="25400" bIns="25400" rtlCol="0" anchor="t">
            <a:noAutofit/>
          </a:bodyPr>
          <a:lstStyle/>
          <a:p>
            <a:pPr marL="0" indent="0" algn="l">
              <a:buNone/>
            </a:pPr>
            <a:r>
              <a:rPr lang="en-US" sz="2200" b="1" dirty="0">
                <a:solidFill>
                  <a:srgbClr val="1A1A1A"/>
                </a:solidFill>
                <a:latin typeface="Sora" pitchFamily="34" charset="0"/>
                <a:ea typeface="Sora" pitchFamily="34" charset="-122"/>
                <a:cs typeface="Sora" pitchFamily="34" charset="-120"/>
              </a:rPr>
              <a:t>Flex Sensor</a:t>
            </a:r>
            <a:endParaRPr lang="en-US" sz="2200" dirty="0"/>
          </a:p>
        </p:txBody>
      </p:sp>
      <p:sp>
        <p:nvSpPr>
          <p:cNvPr id="16" name="Text 14"/>
          <p:cNvSpPr/>
          <p:nvPr/>
        </p:nvSpPr>
        <p:spPr>
          <a:xfrm>
            <a:off x="5241800" y="5499461"/>
            <a:ext cx="4166280" cy="230910"/>
          </a:xfrm>
          <a:prstGeom prst="rect">
            <a:avLst/>
          </a:prstGeom>
          <a:noFill/>
          <a:ln/>
        </p:spPr>
        <p:txBody>
          <a:bodyPr wrap="square" lIns="25400" tIns="25400" rIns="25400" bIns="25400" rtlCol="0" anchor="t">
            <a:noAutofit/>
          </a:bodyPr>
          <a:lstStyle/>
          <a:p>
            <a:pPr marL="0" indent="0" algn="l">
              <a:buNone/>
            </a:pPr>
            <a:r>
              <a:rPr lang="en-US" sz="2200" b="1" dirty="0">
                <a:solidFill>
                  <a:srgbClr val="C0562B"/>
                </a:solidFill>
                <a:latin typeface="Nunito Sans" pitchFamily="34" charset="0"/>
                <a:ea typeface="Nunito Sans" pitchFamily="34" charset="-122"/>
                <a:cs typeface="Nunito Sans" pitchFamily="34" charset="-120"/>
              </a:rPr>
              <a:t>Moving average, window 3</a:t>
            </a:r>
            <a:endParaRPr lang="en-US" sz="2200" dirty="0"/>
          </a:p>
        </p:txBody>
      </p:sp>
      <p:sp>
        <p:nvSpPr>
          <p:cNvPr id="19" name="Shape 17"/>
          <p:cNvSpPr/>
          <p:nvPr/>
        </p:nvSpPr>
        <p:spPr>
          <a:xfrm>
            <a:off x="9201150" y="5452110"/>
            <a:ext cx="8324850" cy="4187190"/>
          </a:xfrm>
          <a:prstGeom prst="roundRect">
            <a:avLst>
              <a:gd name="adj" fmla="val 1820"/>
            </a:avLst>
          </a:prstGeom>
          <a:solidFill>
            <a:srgbClr val="F5F3F0"/>
          </a:solidFill>
          <a:ln/>
        </p:spPr>
        <p:txBody>
          <a:bodyPr/>
          <a:lstStyle/>
          <a:p>
            <a:endParaRPr lang="en-US"/>
          </a:p>
        </p:txBody>
      </p:sp>
      <p:sp>
        <p:nvSpPr>
          <p:cNvPr id="20" name="Text 18"/>
          <p:cNvSpPr/>
          <p:nvPr/>
        </p:nvSpPr>
        <p:spPr>
          <a:xfrm>
            <a:off x="9353550" y="5495490"/>
            <a:ext cx="1902585" cy="248705"/>
          </a:xfrm>
          <a:prstGeom prst="rect">
            <a:avLst/>
          </a:prstGeom>
          <a:noFill/>
          <a:ln/>
        </p:spPr>
        <p:txBody>
          <a:bodyPr wrap="square" lIns="25400" tIns="25400" rIns="25400" bIns="25400" rtlCol="0" anchor="t">
            <a:noAutofit/>
          </a:bodyPr>
          <a:lstStyle/>
          <a:p>
            <a:pPr marL="0" indent="0" algn="l">
              <a:buNone/>
            </a:pPr>
            <a:r>
              <a:rPr lang="en-US" sz="2200" b="1" dirty="0">
                <a:solidFill>
                  <a:srgbClr val="1A1A1A"/>
                </a:solidFill>
                <a:latin typeface="Sora" pitchFamily="34" charset="0"/>
                <a:ea typeface="Sora" pitchFamily="34" charset="-122"/>
                <a:cs typeface="Sora" pitchFamily="34" charset="-120"/>
              </a:rPr>
              <a:t>Temperature</a:t>
            </a:r>
            <a:endParaRPr lang="en-US" sz="2200" dirty="0"/>
          </a:p>
        </p:txBody>
      </p:sp>
      <p:sp>
        <p:nvSpPr>
          <p:cNvPr id="21" name="Text 19"/>
          <p:cNvSpPr/>
          <p:nvPr/>
        </p:nvSpPr>
        <p:spPr>
          <a:xfrm>
            <a:off x="12286823" y="5510891"/>
            <a:ext cx="4907798" cy="230910"/>
          </a:xfrm>
          <a:prstGeom prst="rect">
            <a:avLst/>
          </a:prstGeom>
          <a:noFill/>
          <a:ln/>
        </p:spPr>
        <p:txBody>
          <a:bodyPr wrap="square" lIns="25400" tIns="25400" rIns="25400" bIns="25400" rtlCol="0" anchor="t">
            <a:noAutofit/>
          </a:bodyPr>
          <a:lstStyle/>
          <a:p>
            <a:pPr marL="0" indent="0" algn="l">
              <a:buNone/>
            </a:pPr>
            <a:r>
              <a:rPr lang="en-US" sz="2200" b="1" dirty="0">
                <a:solidFill>
                  <a:srgbClr val="C0562B"/>
                </a:solidFill>
                <a:latin typeface="Nunito Sans" pitchFamily="34" charset="0"/>
                <a:ea typeface="Nunito Sans" pitchFamily="34" charset="-122"/>
                <a:cs typeface="Nunito Sans" pitchFamily="34" charset="-120"/>
              </a:rPr>
              <a:t>Butterworth lowpass 0.1 Hz, order 3</a:t>
            </a:r>
            <a:endParaRPr lang="en-US" sz="2200" dirty="0"/>
          </a:p>
        </p:txBody>
      </p:sp>
      <p:sp>
        <p:nvSpPr>
          <p:cNvPr id="24" name="Shape 22"/>
          <p:cNvSpPr/>
          <p:nvPr/>
        </p:nvSpPr>
        <p:spPr>
          <a:xfrm>
            <a:off x="0" y="9753600"/>
            <a:ext cx="18288000" cy="9525"/>
          </a:xfrm>
          <a:prstGeom prst="rect">
            <a:avLst/>
          </a:prstGeom>
          <a:solidFill>
            <a:srgbClr val="EEEEEE"/>
          </a:solidFill>
          <a:ln/>
        </p:spPr>
        <p:txBody>
          <a:bodyPr/>
          <a:lstStyle/>
          <a:p>
            <a:endParaRPr lang="en-US"/>
          </a:p>
        </p:txBody>
      </p:sp>
      <p:sp>
        <p:nvSpPr>
          <p:cNvPr id="25" name="Text 23"/>
          <p:cNvSpPr/>
          <p:nvPr/>
        </p:nvSpPr>
        <p:spPr>
          <a:xfrm>
            <a:off x="952500" y="9894570"/>
            <a:ext cx="2728603"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Signal Processing &amp; Features</a:t>
            </a:r>
            <a:endParaRPr lang="en-US" sz="1500" dirty="0">
              <a:solidFill>
                <a:schemeClr val="accent2"/>
              </a:solidFill>
            </a:endParaRPr>
          </a:p>
        </p:txBody>
      </p:sp>
      <p:sp>
        <p:nvSpPr>
          <p:cNvPr id="26" name="Text 24"/>
          <p:cNvSpPr/>
          <p:nvPr/>
        </p:nvSpPr>
        <p:spPr>
          <a:xfrm>
            <a:off x="16760189" y="9906000"/>
            <a:ext cx="858109" cy="297180"/>
          </a:xfrm>
          <a:prstGeom prst="rect">
            <a:avLst/>
          </a:prstGeom>
          <a:noFill/>
          <a:ln/>
        </p:spPr>
        <p:txBody>
          <a:bodyPr wrap="square" lIns="25400" tIns="25400" rIns="25400" bIns="25400" rtlCol="0" anchor="t">
            <a:normAutofit/>
          </a:bodyPr>
          <a:lstStyle/>
          <a:p>
            <a:pPr marL="0" indent="0" algn="l">
              <a:buNone/>
            </a:pPr>
            <a:r>
              <a:rPr lang="en-US" sz="1500" b="1" dirty="0">
                <a:solidFill>
                  <a:srgbClr val="C0562B"/>
                </a:solidFill>
                <a:latin typeface="Sora" pitchFamily="34" charset="0"/>
                <a:ea typeface="Sora" pitchFamily="34" charset="-122"/>
                <a:cs typeface="Sora" pitchFamily="34" charset="-120"/>
              </a:rPr>
              <a:t>10 / 17</a:t>
            </a:r>
            <a:endParaRPr lang="en-US" sz="1500" dirty="0"/>
          </a:p>
        </p:txBody>
      </p:sp>
      <p:pic>
        <p:nvPicPr>
          <p:cNvPr id="28" name="Picture 27">
            <a:extLst>
              <a:ext uri="{FF2B5EF4-FFF2-40B4-BE49-F238E27FC236}">
                <a16:creationId xmlns:a16="http://schemas.microsoft.com/office/drawing/2014/main" id="{B803A9DC-D8C3-0560-231B-118C9E39C172}"/>
              </a:ext>
            </a:extLst>
          </p:cNvPr>
          <p:cNvPicPr>
            <a:picLocks noChangeAspect="1"/>
          </p:cNvPicPr>
          <p:nvPr/>
        </p:nvPicPr>
        <p:blipFill>
          <a:blip r:embed="rId3"/>
          <a:stretch>
            <a:fillRect/>
          </a:stretch>
        </p:blipFill>
        <p:spPr>
          <a:xfrm>
            <a:off x="914400" y="1575621"/>
            <a:ext cx="7821186" cy="3747143"/>
          </a:xfrm>
          <a:prstGeom prst="rect">
            <a:avLst/>
          </a:prstGeom>
        </p:spPr>
      </p:pic>
      <p:pic>
        <p:nvPicPr>
          <p:cNvPr id="30" name="Picture 29">
            <a:extLst>
              <a:ext uri="{FF2B5EF4-FFF2-40B4-BE49-F238E27FC236}">
                <a16:creationId xmlns:a16="http://schemas.microsoft.com/office/drawing/2014/main" id="{54C81686-AFB7-3C2F-172B-B05A2D8F7697}"/>
              </a:ext>
            </a:extLst>
          </p:cNvPr>
          <p:cNvPicPr>
            <a:picLocks noChangeAspect="1"/>
          </p:cNvPicPr>
          <p:nvPr/>
        </p:nvPicPr>
        <p:blipFill>
          <a:blip r:embed="rId4"/>
          <a:stretch>
            <a:fillRect/>
          </a:stretch>
        </p:blipFill>
        <p:spPr>
          <a:xfrm>
            <a:off x="9808194" y="1570030"/>
            <a:ext cx="7252242" cy="3736990"/>
          </a:xfrm>
          <a:prstGeom prst="rect">
            <a:avLst/>
          </a:prstGeom>
        </p:spPr>
      </p:pic>
      <p:pic>
        <p:nvPicPr>
          <p:cNvPr id="32" name="Picture 31">
            <a:extLst>
              <a:ext uri="{FF2B5EF4-FFF2-40B4-BE49-F238E27FC236}">
                <a16:creationId xmlns:a16="http://schemas.microsoft.com/office/drawing/2014/main" id="{EBE0CDFD-7714-5EC4-91D5-79553DCF45A2}"/>
              </a:ext>
            </a:extLst>
          </p:cNvPr>
          <p:cNvPicPr>
            <a:picLocks noChangeAspect="1"/>
          </p:cNvPicPr>
          <p:nvPr/>
        </p:nvPicPr>
        <p:blipFill>
          <a:blip r:embed="rId5"/>
          <a:stretch>
            <a:fillRect/>
          </a:stretch>
        </p:blipFill>
        <p:spPr>
          <a:xfrm>
            <a:off x="9674008" y="5873245"/>
            <a:ext cx="8083123" cy="3693115"/>
          </a:xfrm>
          <a:prstGeom prst="rect">
            <a:avLst/>
          </a:prstGeom>
        </p:spPr>
      </p:pic>
      <p:pic>
        <p:nvPicPr>
          <p:cNvPr id="34" name="Picture 33">
            <a:extLst>
              <a:ext uri="{FF2B5EF4-FFF2-40B4-BE49-F238E27FC236}">
                <a16:creationId xmlns:a16="http://schemas.microsoft.com/office/drawing/2014/main" id="{292A30B3-00FB-C7AF-217A-704764D7A535}"/>
              </a:ext>
            </a:extLst>
          </p:cNvPr>
          <p:cNvPicPr>
            <a:picLocks noChangeAspect="1"/>
          </p:cNvPicPr>
          <p:nvPr/>
        </p:nvPicPr>
        <p:blipFill>
          <a:blip r:embed="rId6"/>
          <a:stretch>
            <a:fillRect/>
          </a:stretch>
        </p:blipFill>
        <p:spPr>
          <a:xfrm>
            <a:off x="803757" y="5848176"/>
            <a:ext cx="8134350" cy="36202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005840" y="1444752"/>
            <a:ext cx="2194560" cy="1280160"/>
          </a:xfrm>
          <a:prstGeom prst="rect">
            <a:avLst/>
          </a:prstGeom>
          <a:noFill/>
          <a:ln/>
        </p:spPr>
        <p:txBody>
          <a:bodyPr wrap="square" lIns="0" tIns="0" rIns="0" bIns="0" rtlCol="0" anchor="ctr"/>
          <a:lstStyle/>
          <a:p>
            <a:r>
              <a:rPr lang="en-US" sz="6600" b="1" dirty="0">
                <a:solidFill>
                  <a:srgbClr val="C0562B">
                    <a:alpha val="8000"/>
                  </a:srgbClr>
                </a:solidFill>
                <a:latin typeface="Sora" pitchFamily="34" charset="0"/>
                <a:ea typeface="Sora" pitchFamily="34" charset="-122"/>
                <a:cs typeface="Sora" pitchFamily="34" charset="-120"/>
              </a:rPr>
              <a:t>05</a:t>
            </a:r>
            <a:endParaRPr lang="en-US" sz="6600" dirty="0"/>
          </a:p>
          <a:p>
            <a:endParaRPr lang="en-US" sz="9600" dirty="0"/>
          </a:p>
        </p:txBody>
      </p:sp>
      <p:sp>
        <p:nvSpPr>
          <p:cNvPr id="4" name="Text 2"/>
          <p:cNvSpPr/>
          <p:nvPr/>
        </p:nvSpPr>
        <p:spPr>
          <a:xfrm>
            <a:off x="2834640" y="822960"/>
            <a:ext cx="12801600" cy="1005840"/>
          </a:xfrm>
          <a:prstGeom prst="rect">
            <a:avLst/>
          </a:prstGeom>
          <a:noFill/>
          <a:ln/>
        </p:spPr>
        <p:txBody>
          <a:bodyPr wrap="square" lIns="0" tIns="0" rIns="0" bIns="0" rtlCol="0" anchor="ctr"/>
          <a:lstStyle/>
          <a:p>
            <a:r>
              <a:rPr lang="en-US" sz="5600" b="1" dirty="0">
                <a:solidFill>
                  <a:srgbClr val="2D2D2D"/>
                </a:solidFill>
                <a:latin typeface="Calibri" pitchFamily="34" charset="0"/>
                <a:ea typeface="Calibri" pitchFamily="34" charset="-122"/>
                <a:cs typeface="Calibri" pitchFamily="34" charset="-120"/>
              </a:rPr>
              <a:t>Feature Extraction</a:t>
            </a:r>
            <a:endParaRPr lang="en-US" sz="5600" dirty="0"/>
          </a:p>
        </p:txBody>
      </p:sp>
      <p:sp>
        <p:nvSpPr>
          <p:cNvPr id="5" name="Text 3"/>
          <p:cNvSpPr/>
          <p:nvPr/>
        </p:nvSpPr>
        <p:spPr>
          <a:xfrm>
            <a:off x="1005840" y="1920240"/>
            <a:ext cx="15544800" cy="548640"/>
          </a:xfrm>
          <a:prstGeom prst="rect">
            <a:avLst/>
          </a:prstGeom>
          <a:noFill/>
          <a:ln/>
        </p:spPr>
        <p:txBody>
          <a:bodyPr wrap="square" lIns="0" tIns="0" rIns="0" bIns="0" rtlCol="0" anchor="ctr"/>
          <a:lstStyle/>
          <a:p>
            <a:r>
              <a:rPr lang="en-US" sz="2400" dirty="0">
                <a:solidFill>
                  <a:srgbClr val="999999"/>
                </a:solidFill>
                <a:latin typeface="Calibri" pitchFamily="34" charset="0"/>
                <a:ea typeface="Calibri" pitchFamily="34" charset="-122"/>
                <a:cs typeface="Calibri" pitchFamily="34" charset="-120"/>
              </a:rPr>
              <a:t>21 features per 30-second window  ·  </a:t>
            </a:r>
            <a:r>
              <a:rPr lang="en-US" sz="2400" dirty="0" err="1">
                <a:solidFill>
                  <a:srgbClr val="999999"/>
                </a:solidFill>
                <a:latin typeface="Calibri" pitchFamily="34" charset="0"/>
                <a:ea typeface="Calibri" pitchFamily="34" charset="-122"/>
                <a:cs typeface="Calibri" pitchFamily="34" charset="-120"/>
              </a:rPr>
              <a:t>StandardScaler</a:t>
            </a:r>
            <a:r>
              <a:rPr lang="en-US" sz="2400" dirty="0">
                <a:solidFill>
                  <a:srgbClr val="999999"/>
                </a:solidFill>
                <a:latin typeface="Calibri" pitchFamily="34" charset="0"/>
                <a:ea typeface="Calibri" pitchFamily="34" charset="-122"/>
                <a:cs typeface="Calibri" pitchFamily="34" charset="-120"/>
              </a:rPr>
              <a:t>  ·  weighted by physiological relevance</a:t>
            </a:r>
            <a:endParaRPr lang="en-US" sz="2400" dirty="0"/>
          </a:p>
        </p:txBody>
      </p:sp>
      <p:sp>
        <p:nvSpPr>
          <p:cNvPr id="606" name="RBg0"/>
          <p:cNvSpPr/>
          <p:nvPr/>
        </p:nvSpPr>
        <p:spPr>
          <a:xfrm>
            <a:off x="1005840" y="2651760"/>
            <a:ext cx="16276320" cy="1050000"/>
          </a:xfrm>
          <a:prstGeom prst="rect">
            <a:avLst/>
          </a:prstGeom>
          <a:solidFill>
            <a:srgbClr val="F5F0EA"/>
          </a:solidFill>
          <a:ln/>
        </p:spPr>
        <p:txBody>
          <a:bodyPr/>
          <a:lstStyle/>
          <a:p>
            <a:endParaRPr lang="en-US"/>
          </a:p>
        </p:txBody>
      </p:sp>
      <p:sp>
        <p:nvSpPr>
          <p:cNvPr id="607" name="RBd0"/>
          <p:cNvSpPr/>
          <p:nvPr/>
        </p:nvSpPr>
        <p:spPr>
          <a:xfrm>
            <a:off x="1005840" y="2651760"/>
            <a:ext cx="73152" cy="1050000"/>
          </a:xfrm>
          <a:prstGeom prst="rect">
            <a:avLst/>
          </a:prstGeom>
          <a:solidFill>
            <a:srgbClr val="C05A3C"/>
          </a:solidFill>
          <a:ln/>
        </p:spPr>
        <p:txBody>
          <a:bodyPr/>
          <a:lstStyle/>
          <a:p>
            <a:endParaRPr lang="en-US"/>
          </a:p>
        </p:txBody>
      </p:sp>
      <p:sp>
        <p:nvSpPr>
          <p:cNvPr id="608" name="RS0"/>
          <p:cNvSpPr/>
          <p:nvPr/>
        </p:nvSpPr>
        <p:spPr>
          <a:xfrm>
            <a:off x="3838605" y="2852910"/>
            <a:ext cx="9525" cy="647700"/>
          </a:xfrm>
          <a:prstGeom prst="rect">
            <a:avLst/>
          </a:prstGeom>
          <a:solidFill>
            <a:srgbClr val="CEC5B5"/>
          </a:solidFill>
          <a:ln/>
        </p:spPr>
        <p:txBody>
          <a:bodyPr/>
          <a:lstStyle/>
          <a:p>
            <a:endParaRPr lang="en-US"/>
          </a:p>
        </p:txBody>
      </p:sp>
      <p:sp>
        <p:nvSpPr>
          <p:cNvPr id="609" name="Cat0"/>
          <p:cNvSpPr/>
          <p:nvPr/>
        </p:nvSpPr>
        <p:spPr>
          <a:xfrm>
            <a:off x="1371600" y="2651760"/>
            <a:ext cx="2466720" cy="1050000"/>
          </a:xfrm>
          <a:prstGeom prst="rect">
            <a:avLst/>
          </a:prstGeom>
          <a:noFill/>
          <a:ln/>
        </p:spPr>
        <p:txBody>
          <a:bodyPr wrap="square" lIns="25400" tIns="25400" rIns="25400" bIns="25400" rtlCol="0" anchor="ctr">
            <a:normAutofit/>
          </a:bodyPr>
          <a:lstStyle/>
          <a:p>
            <a:r>
              <a:rPr lang="en-US" sz="2800" b="1" dirty="0">
                <a:solidFill>
                  <a:srgbClr val="2D2D2D"/>
                </a:solidFill>
                <a:latin typeface="Calibri" pitchFamily="34" charset="0"/>
                <a:ea typeface="Calibri" pitchFamily="34" charset="-122"/>
                <a:cs typeface="Calibri" pitchFamily="34" charset="-120"/>
              </a:rPr>
              <a:t>PPG / Cardiac</a:t>
            </a:r>
            <a:endParaRPr lang="en-US" sz="2800" dirty="0"/>
          </a:p>
        </p:txBody>
      </p:sp>
      <p:sp>
        <p:nvSpPr>
          <p:cNvPr id="610" name="Bd_bpm_mean"/>
          <p:cNvSpPr/>
          <p:nvPr/>
        </p:nvSpPr>
        <p:spPr>
          <a:xfrm>
            <a:off x="4133821" y="2795760"/>
            <a:ext cx="153162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×1.8</a:t>
            </a:r>
            <a:endParaRPr lang="en-US" sz="2400" dirty="0"/>
          </a:p>
        </p:txBody>
      </p:sp>
      <p:sp>
        <p:nvSpPr>
          <p:cNvPr id="611" name="Bg_bpm_mean"/>
          <p:cNvSpPr/>
          <p:nvPr/>
        </p:nvSpPr>
        <p:spPr>
          <a:xfrm>
            <a:off x="4133821" y="3138660"/>
            <a:ext cx="1531620" cy="419100"/>
          </a:xfrm>
          <a:prstGeom prst="roundRect">
            <a:avLst>
              <a:gd name="adj" fmla="val 11261"/>
            </a:avLst>
          </a:prstGeom>
          <a:solidFill>
            <a:srgbClr val="FFFFFF"/>
          </a:solidFill>
          <a:ln/>
        </p:spPr>
        <p:txBody>
          <a:bodyPr/>
          <a:lstStyle/>
          <a:p>
            <a:endParaRPr lang="en-US"/>
          </a:p>
        </p:txBody>
      </p:sp>
      <p:sp>
        <p:nvSpPr>
          <p:cNvPr id="612" name="Tx_bpm_mean"/>
          <p:cNvSpPr/>
          <p:nvPr/>
        </p:nvSpPr>
        <p:spPr>
          <a:xfrm>
            <a:off x="4133821" y="3138660"/>
            <a:ext cx="153162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bpm_mean</a:t>
            </a:r>
            <a:endParaRPr lang="en-US" sz="2200" dirty="0"/>
          </a:p>
        </p:txBody>
      </p:sp>
      <p:sp>
        <p:nvSpPr>
          <p:cNvPr id="613" name="Bd_bpm_std"/>
          <p:cNvSpPr/>
          <p:nvPr/>
        </p:nvSpPr>
        <p:spPr>
          <a:xfrm>
            <a:off x="5808316" y="2795760"/>
            <a:ext cx="136398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×1.5</a:t>
            </a:r>
            <a:endParaRPr lang="en-US" sz="2400" dirty="0"/>
          </a:p>
        </p:txBody>
      </p:sp>
      <p:sp>
        <p:nvSpPr>
          <p:cNvPr id="614" name="Bg_bpm_std"/>
          <p:cNvSpPr/>
          <p:nvPr/>
        </p:nvSpPr>
        <p:spPr>
          <a:xfrm>
            <a:off x="5808316" y="3138660"/>
            <a:ext cx="1363980" cy="419100"/>
          </a:xfrm>
          <a:prstGeom prst="roundRect">
            <a:avLst>
              <a:gd name="adj" fmla="val 11261"/>
            </a:avLst>
          </a:prstGeom>
          <a:solidFill>
            <a:srgbClr val="FFFFFF"/>
          </a:solidFill>
          <a:ln/>
        </p:spPr>
        <p:txBody>
          <a:bodyPr/>
          <a:lstStyle/>
          <a:p>
            <a:endParaRPr lang="en-US"/>
          </a:p>
        </p:txBody>
      </p:sp>
      <p:sp>
        <p:nvSpPr>
          <p:cNvPr id="615" name="Tx_bpm_std"/>
          <p:cNvSpPr/>
          <p:nvPr/>
        </p:nvSpPr>
        <p:spPr>
          <a:xfrm>
            <a:off x="5808316" y="3138660"/>
            <a:ext cx="136398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bpm_std</a:t>
            </a:r>
            <a:endParaRPr lang="en-US" sz="2200" dirty="0"/>
          </a:p>
        </p:txBody>
      </p:sp>
      <p:sp>
        <p:nvSpPr>
          <p:cNvPr id="616" name="Bd_bpm_min"/>
          <p:cNvSpPr/>
          <p:nvPr/>
        </p:nvSpPr>
        <p:spPr>
          <a:xfrm>
            <a:off x="7315171" y="2795760"/>
            <a:ext cx="136398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×1.0</a:t>
            </a:r>
            <a:endParaRPr lang="en-US" sz="2400" dirty="0"/>
          </a:p>
        </p:txBody>
      </p:sp>
      <p:sp>
        <p:nvSpPr>
          <p:cNvPr id="617" name="Bg_bpm_min"/>
          <p:cNvSpPr/>
          <p:nvPr/>
        </p:nvSpPr>
        <p:spPr>
          <a:xfrm>
            <a:off x="7315171" y="3138660"/>
            <a:ext cx="1363980" cy="419100"/>
          </a:xfrm>
          <a:prstGeom prst="roundRect">
            <a:avLst>
              <a:gd name="adj" fmla="val 11261"/>
            </a:avLst>
          </a:prstGeom>
          <a:solidFill>
            <a:srgbClr val="FFFFFF"/>
          </a:solidFill>
          <a:ln/>
        </p:spPr>
        <p:txBody>
          <a:bodyPr/>
          <a:lstStyle/>
          <a:p>
            <a:endParaRPr lang="en-US"/>
          </a:p>
        </p:txBody>
      </p:sp>
      <p:sp>
        <p:nvSpPr>
          <p:cNvPr id="618" name="Tx_bpm_min"/>
          <p:cNvSpPr/>
          <p:nvPr/>
        </p:nvSpPr>
        <p:spPr>
          <a:xfrm>
            <a:off x="7315171" y="3138660"/>
            <a:ext cx="136398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bpm_min</a:t>
            </a:r>
            <a:endParaRPr lang="en-US" sz="2200" dirty="0"/>
          </a:p>
        </p:txBody>
      </p:sp>
      <p:sp>
        <p:nvSpPr>
          <p:cNvPr id="619" name="Bd_bpm_max"/>
          <p:cNvSpPr/>
          <p:nvPr/>
        </p:nvSpPr>
        <p:spPr>
          <a:xfrm>
            <a:off x="8822026" y="2795760"/>
            <a:ext cx="136398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×1.0</a:t>
            </a:r>
            <a:endParaRPr lang="en-US" sz="2400" dirty="0"/>
          </a:p>
        </p:txBody>
      </p:sp>
      <p:sp>
        <p:nvSpPr>
          <p:cNvPr id="620" name="Bg_bpm_max"/>
          <p:cNvSpPr/>
          <p:nvPr/>
        </p:nvSpPr>
        <p:spPr>
          <a:xfrm>
            <a:off x="8822026" y="3138660"/>
            <a:ext cx="1363980" cy="419100"/>
          </a:xfrm>
          <a:prstGeom prst="roundRect">
            <a:avLst>
              <a:gd name="adj" fmla="val 11261"/>
            </a:avLst>
          </a:prstGeom>
          <a:solidFill>
            <a:srgbClr val="FFFFFF"/>
          </a:solidFill>
          <a:ln/>
        </p:spPr>
        <p:txBody>
          <a:bodyPr/>
          <a:lstStyle/>
          <a:p>
            <a:endParaRPr lang="en-US"/>
          </a:p>
        </p:txBody>
      </p:sp>
      <p:sp>
        <p:nvSpPr>
          <p:cNvPr id="621" name="Tx_bpm_max"/>
          <p:cNvSpPr/>
          <p:nvPr/>
        </p:nvSpPr>
        <p:spPr>
          <a:xfrm>
            <a:off x="8822026" y="3138660"/>
            <a:ext cx="136398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bpm_max</a:t>
            </a:r>
            <a:endParaRPr lang="en-US" sz="2200" dirty="0"/>
          </a:p>
        </p:txBody>
      </p:sp>
      <p:sp>
        <p:nvSpPr>
          <p:cNvPr id="622" name="Bd_hrv_simple"/>
          <p:cNvSpPr/>
          <p:nvPr/>
        </p:nvSpPr>
        <p:spPr>
          <a:xfrm>
            <a:off x="10328881" y="2795760"/>
            <a:ext cx="186690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×1.6</a:t>
            </a:r>
            <a:endParaRPr lang="en-US" sz="2400" dirty="0"/>
          </a:p>
        </p:txBody>
      </p:sp>
      <p:sp>
        <p:nvSpPr>
          <p:cNvPr id="623" name="Bg_hrv_simple"/>
          <p:cNvSpPr/>
          <p:nvPr/>
        </p:nvSpPr>
        <p:spPr>
          <a:xfrm>
            <a:off x="10328881" y="3138660"/>
            <a:ext cx="1866900" cy="419100"/>
          </a:xfrm>
          <a:prstGeom prst="roundRect">
            <a:avLst>
              <a:gd name="adj" fmla="val 11261"/>
            </a:avLst>
          </a:prstGeom>
          <a:solidFill>
            <a:srgbClr val="FFFFFF"/>
          </a:solidFill>
          <a:ln/>
        </p:spPr>
        <p:txBody>
          <a:bodyPr/>
          <a:lstStyle/>
          <a:p>
            <a:endParaRPr lang="en-US"/>
          </a:p>
        </p:txBody>
      </p:sp>
      <p:sp>
        <p:nvSpPr>
          <p:cNvPr id="624" name="Tx_hrv_simple"/>
          <p:cNvSpPr/>
          <p:nvPr/>
        </p:nvSpPr>
        <p:spPr>
          <a:xfrm>
            <a:off x="10328881" y="3138660"/>
            <a:ext cx="186690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hrv_simple</a:t>
            </a:r>
            <a:endParaRPr lang="en-US" sz="2200" dirty="0"/>
          </a:p>
        </p:txBody>
      </p:sp>
      <p:sp>
        <p:nvSpPr>
          <p:cNvPr id="625" name="Bd_spo2_est"/>
          <p:cNvSpPr/>
          <p:nvPr/>
        </p:nvSpPr>
        <p:spPr>
          <a:xfrm>
            <a:off x="12338656" y="2795760"/>
            <a:ext cx="153162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×1.2</a:t>
            </a:r>
            <a:endParaRPr lang="en-US" sz="2400" dirty="0"/>
          </a:p>
        </p:txBody>
      </p:sp>
      <p:sp>
        <p:nvSpPr>
          <p:cNvPr id="626" name="Bg_spo2_est"/>
          <p:cNvSpPr/>
          <p:nvPr/>
        </p:nvSpPr>
        <p:spPr>
          <a:xfrm>
            <a:off x="12338656" y="3138660"/>
            <a:ext cx="1531620" cy="419100"/>
          </a:xfrm>
          <a:prstGeom prst="roundRect">
            <a:avLst>
              <a:gd name="adj" fmla="val 11261"/>
            </a:avLst>
          </a:prstGeom>
          <a:solidFill>
            <a:srgbClr val="FFFFFF"/>
          </a:solidFill>
          <a:ln/>
        </p:spPr>
        <p:txBody>
          <a:bodyPr/>
          <a:lstStyle/>
          <a:p>
            <a:endParaRPr lang="en-US"/>
          </a:p>
        </p:txBody>
      </p:sp>
      <p:sp>
        <p:nvSpPr>
          <p:cNvPr id="627" name="Tx_spo2_est"/>
          <p:cNvSpPr/>
          <p:nvPr/>
        </p:nvSpPr>
        <p:spPr>
          <a:xfrm>
            <a:off x="12338656" y="3138660"/>
            <a:ext cx="153162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spo2_est</a:t>
            </a:r>
            <a:endParaRPr lang="en-US" sz="2200" dirty="0"/>
          </a:p>
        </p:txBody>
      </p:sp>
      <p:sp>
        <p:nvSpPr>
          <p:cNvPr id="628" name="RBg1"/>
          <p:cNvSpPr/>
          <p:nvPr/>
        </p:nvSpPr>
        <p:spPr>
          <a:xfrm>
            <a:off x="1005840" y="3816060"/>
            <a:ext cx="16276320" cy="1050000"/>
          </a:xfrm>
          <a:prstGeom prst="rect">
            <a:avLst/>
          </a:prstGeom>
          <a:solidFill>
            <a:srgbClr val="F5F0EA"/>
          </a:solidFill>
          <a:ln/>
        </p:spPr>
        <p:txBody>
          <a:bodyPr/>
          <a:lstStyle/>
          <a:p>
            <a:endParaRPr lang="en-US"/>
          </a:p>
        </p:txBody>
      </p:sp>
      <p:sp>
        <p:nvSpPr>
          <p:cNvPr id="629" name="RBd1"/>
          <p:cNvSpPr/>
          <p:nvPr/>
        </p:nvSpPr>
        <p:spPr>
          <a:xfrm>
            <a:off x="1005840" y="3816060"/>
            <a:ext cx="73152" cy="1050000"/>
          </a:xfrm>
          <a:prstGeom prst="rect">
            <a:avLst/>
          </a:prstGeom>
          <a:solidFill>
            <a:srgbClr val="C05A3C"/>
          </a:solidFill>
          <a:ln/>
        </p:spPr>
        <p:txBody>
          <a:bodyPr/>
          <a:lstStyle/>
          <a:p>
            <a:endParaRPr lang="en-US"/>
          </a:p>
        </p:txBody>
      </p:sp>
      <p:sp>
        <p:nvSpPr>
          <p:cNvPr id="630" name="RS1"/>
          <p:cNvSpPr/>
          <p:nvPr/>
        </p:nvSpPr>
        <p:spPr>
          <a:xfrm>
            <a:off x="3838605" y="4017210"/>
            <a:ext cx="9525" cy="647700"/>
          </a:xfrm>
          <a:prstGeom prst="rect">
            <a:avLst/>
          </a:prstGeom>
          <a:solidFill>
            <a:srgbClr val="CEC5B5"/>
          </a:solidFill>
          <a:ln/>
        </p:spPr>
        <p:txBody>
          <a:bodyPr/>
          <a:lstStyle/>
          <a:p>
            <a:endParaRPr lang="en-US"/>
          </a:p>
        </p:txBody>
      </p:sp>
      <p:sp>
        <p:nvSpPr>
          <p:cNvPr id="631" name="Cat1"/>
          <p:cNvSpPr/>
          <p:nvPr/>
        </p:nvSpPr>
        <p:spPr>
          <a:xfrm>
            <a:off x="1371600" y="3816060"/>
            <a:ext cx="2466720" cy="1050000"/>
          </a:xfrm>
          <a:prstGeom prst="rect">
            <a:avLst/>
          </a:prstGeom>
          <a:noFill/>
          <a:ln/>
        </p:spPr>
        <p:txBody>
          <a:bodyPr wrap="square" lIns="25400" tIns="25400" rIns="25400" bIns="25400" rtlCol="0" anchor="ctr">
            <a:normAutofit/>
          </a:bodyPr>
          <a:lstStyle/>
          <a:p>
            <a:r>
              <a:rPr lang="en-US" sz="2800" b="1" dirty="0">
                <a:solidFill>
                  <a:srgbClr val="2D2D2D"/>
                </a:solidFill>
                <a:latin typeface="Calibri" pitchFamily="34" charset="0"/>
                <a:ea typeface="Calibri" pitchFamily="34" charset="-122"/>
                <a:cs typeface="Calibri" pitchFamily="34" charset="-120"/>
              </a:rPr>
              <a:t>Motion</a:t>
            </a:r>
            <a:endParaRPr lang="en-US" sz="2800" dirty="0"/>
          </a:p>
        </p:txBody>
      </p:sp>
      <p:sp>
        <p:nvSpPr>
          <p:cNvPr id="632" name="Bd_motion_level"/>
          <p:cNvSpPr/>
          <p:nvPr/>
        </p:nvSpPr>
        <p:spPr>
          <a:xfrm>
            <a:off x="4133821" y="3960060"/>
            <a:ext cx="220218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×2.5</a:t>
            </a:r>
            <a:endParaRPr lang="en-US" sz="2400" dirty="0"/>
          </a:p>
        </p:txBody>
      </p:sp>
      <p:sp>
        <p:nvSpPr>
          <p:cNvPr id="633" name="Bg_motion_level"/>
          <p:cNvSpPr/>
          <p:nvPr/>
        </p:nvSpPr>
        <p:spPr>
          <a:xfrm>
            <a:off x="4133821" y="4302960"/>
            <a:ext cx="2202180" cy="419100"/>
          </a:xfrm>
          <a:prstGeom prst="roundRect">
            <a:avLst>
              <a:gd name="adj" fmla="val 11261"/>
            </a:avLst>
          </a:prstGeom>
          <a:solidFill>
            <a:srgbClr val="FFFFFF"/>
          </a:solidFill>
          <a:ln/>
        </p:spPr>
        <p:txBody>
          <a:bodyPr/>
          <a:lstStyle/>
          <a:p>
            <a:endParaRPr lang="en-US"/>
          </a:p>
        </p:txBody>
      </p:sp>
      <p:sp>
        <p:nvSpPr>
          <p:cNvPr id="634" name="Tx_motion_level"/>
          <p:cNvSpPr/>
          <p:nvPr/>
        </p:nvSpPr>
        <p:spPr>
          <a:xfrm>
            <a:off x="4133821" y="4302960"/>
            <a:ext cx="220218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motion_level</a:t>
            </a:r>
            <a:endParaRPr lang="en-US" sz="2200" dirty="0"/>
          </a:p>
        </p:txBody>
      </p:sp>
      <p:sp>
        <p:nvSpPr>
          <p:cNvPr id="635" name="Bd_acc_jerk"/>
          <p:cNvSpPr/>
          <p:nvPr/>
        </p:nvSpPr>
        <p:spPr>
          <a:xfrm>
            <a:off x="6478876" y="3960060"/>
            <a:ext cx="153162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×2.2</a:t>
            </a:r>
            <a:endParaRPr lang="en-US" sz="2400" dirty="0"/>
          </a:p>
        </p:txBody>
      </p:sp>
      <p:sp>
        <p:nvSpPr>
          <p:cNvPr id="636" name="Bg_acc_jerk"/>
          <p:cNvSpPr/>
          <p:nvPr/>
        </p:nvSpPr>
        <p:spPr>
          <a:xfrm>
            <a:off x="6478876" y="4302960"/>
            <a:ext cx="1531620" cy="419100"/>
          </a:xfrm>
          <a:prstGeom prst="roundRect">
            <a:avLst>
              <a:gd name="adj" fmla="val 11261"/>
            </a:avLst>
          </a:prstGeom>
          <a:solidFill>
            <a:srgbClr val="FFFFFF"/>
          </a:solidFill>
          <a:ln/>
        </p:spPr>
        <p:txBody>
          <a:bodyPr/>
          <a:lstStyle/>
          <a:p>
            <a:endParaRPr lang="en-US"/>
          </a:p>
        </p:txBody>
      </p:sp>
      <p:sp>
        <p:nvSpPr>
          <p:cNvPr id="637" name="Tx_acc_jerk"/>
          <p:cNvSpPr/>
          <p:nvPr/>
        </p:nvSpPr>
        <p:spPr>
          <a:xfrm>
            <a:off x="6478876" y="4302960"/>
            <a:ext cx="153162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acc_jerk</a:t>
            </a:r>
            <a:endParaRPr lang="en-US" sz="2200" dirty="0"/>
          </a:p>
        </p:txBody>
      </p:sp>
      <p:sp>
        <p:nvSpPr>
          <p:cNvPr id="638" name="Bd_gyro_energy"/>
          <p:cNvSpPr/>
          <p:nvPr/>
        </p:nvSpPr>
        <p:spPr>
          <a:xfrm>
            <a:off x="8153371" y="3960060"/>
            <a:ext cx="203454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×2.0</a:t>
            </a:r>
            <a:endParaRPr lang="en-US" sz="2400" dirty="0"/>
          </a:p>
        </p:txBody>
      </p:sp>
      <p:sp>
        <p:nvSpPr>
          <p:cNvPr id="639" name="Bg_gyro_energy"/>
          <p:cNvSpPr/>
          <p:nvPr/>
        </p:nvSpPr>
        <p:spPr>
          <a:xfrm>
            <a:off x="8153371" y="4302960"/>
            <a:ext cx="2034540" cy="419100"/>
          </a:xfrm>
          <a:prstGeom prst="roundRect">
            <a:avLst>
              <a:gd name="adj" fmla="val 11261"/>
            </a:avLst>
          </a:prstGeom>
          <a:solidFill>
            <a:srgbClr val="FFFFFF"/>
          </a:solidFill>
          <a:ln/>
        </p:spPr>
        <p:txBody>
          <a:bodyPr/>
          <a:lstStyle/>
          <a:p>
            <a:endParaRPr lang="en-US"/>
          </a:p>
        </p:txBody>
      </p:sp>
      <p:sp>
        <p:nvSpPr>
          <p:cNvPr id="640" name="Tx_gyro_energy"/>
          <p:cNvSpPr/>
          <p:nvPr/>
        </p:nvSpPr>
        <p:spPr>
          <a:xfrm>
            <a:off x="8153371" y="4302960"/>
            <a:ext cx="203454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gyro_energy</a:t>
            </a:r>
            <a:endParaRPr lang="en-US" sz="2200" dirty="0"/>
          </a:p>
        </p:txBody>
      </p:sp>
      <p:sp>
        <p:nvSpPr>
          <p:cNvPr id="641" name="Bd_motion_variation"/>
          <p:cNvSpPr/>
          <p:nvPr/>
        </p:nvSpPr>
        <p:spPr>
          <a:xfrm>
            <a:off x="10330786" y="3960060"/>
            <a:ext cx="287274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×0.5</a:t>
            </a:r>
            <a:endParaRPr lang="en-US" sz="2400" dirty="0"/>
          </a:p>
        </p:txBody>
      </p:sp>
      <p:sp>
        <p:nvSpPr>
          <p:cNvPr id="642" name="Bg_motion_variation"/>
          <p:cNvSpPr/>
          <p:nvPr/>
        </p:nvSpPr>
        <p:spPr>
          <a:xfrm>
            <a:off x="10330786" y="4302960"/>
            <a:ext cx="2872740" cy="419100"/>
          </a:xfrm>
          <a:prstGeom prst="roundRect">
            <a:avLst>
              <a:gd name="adj" fmla="val 11261"/>
            </a:avLst>
          </a:prstGeom>
          <a:solidFill>
            <a:srgbClr val="FFFFFF"/>
          </a:solidFill>
          <a:ln/>
        </p:spPr>
        <p:txBody>
          <a:bodyPr/>
          <a:lstStyle/>
          <a:p>
            <a:endParaRPr lang="en-US"/>
          </a:p>
        </p:txBody>
      </p:sp>
      <p:sp>
        <p:nvSpPr>
          <p:cNvPr id="643" name="Tx_motion_variation"/>
          <p:cNvSpPr/>
          <p:nvPr/>
        </p:nvSpPr>
        <p:spPr>
          <a:xfrm>
            <a:off x="10330786" y="4302960"/>
            <a:ext cx="287274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motion_variation</a:t>
            </a:r>
            <a:endParaRPr lang="en-US" sz="2200" dirty="0"/>
          </a:p>
        </p:txBody>
      </p:sp>
      <p:sp>
        <p:nvSpPr>
          <p:cNvPr id="644" name="Bd_dominant_pos"/>
          <p:cNvSpPr/>
          <p:nvPr/>
        </p:nvSpPr>
        <p:spPr>
          <a:xfrm>
            <a:off x="13346401" y="3960060"/>
            <a:ext cx="220218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×1.0</a:t>
            </a:r>
            <a:endParaRPr lang="en-US" sz="2400" dirty="0"/>
          </a:p>
        </p:txBody>
      </p:sp>
      <p:sp>
        <p:nvSpPr>
          <p:cNvPr id="645" name="Bg_dominant_pos"/>
          <p:cNvSpPr/>
          <p:nvPr/>
        </p:nvSpPr>
        <p:spPr>
          <a:xfrm>
            <a:off x="13346401" y="4302960"/>
            <a:ext cx="2202180" cy="419100"/>
          </a:xfrm>
          <a:prstGeom prst="roundRect">
            <a:avLst>
              <a:gd name="adj" fmla="val 11261"/>
            </a:avLst>
          </a:prstGeom>
          <a:solidFill>
            <a:srgbClr val="FFFFFF"/>
          </a:solidFill>
          <a:ln/>
        </p:spPr>
        <p:txBody>
          <a:bodyPr/>
          <a:lstStyle/>
          <a:p>
            <a:endParaRPr lang="en-US"/>
          </a:p>
        </p:txBody>
      </p:sp>
      <p:sp>
        <p:nvSpPr>
          <p:cNvPr id="646" name="Tx_dominant_pos"/>
          <p:cNvSpPr/>
          <p:nvPr/>
        </p:nvSpPr>
        <p:spPr>
          <a:xfrm>
            <a:off x="13346401" y="4302960"/>
            <a:ext cx="220218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dominant_pos</a:t>
            </a:r>
            <a:endParaRPr lang="en-US" sz="2200" dirty="0"/>
          </a:p>
        </p:txBody>
      </p:sp>
      <p:sp>
        <p:nvSpPr>
          <p:cNvPr id="647" name="RBg2"/>
          <p:cNvSpPr/>
          <p:nvPr/>
        </p:nvSpPr>
        <p:spPr>
          <a:xfrm>
            <a:off x="1005840" y="4980360"/>
            <a:ext cx="16276320" cy="1050000"/>
          </a:xfrm>
          <a:prstGeom prst="rect">
            <a:avLst/>
          </a:prstGeom>
          <a:solidFill>
            <a:srgbClr val="F5F0EA"/>
          </a:solidFill>
          <a:ln/>
        </p:spPr>
        <p:txBody>
          <a:bodyPr/>
          <a:lstStyle/>
          <a:p>
            <a:endParaRPr lang="en-US"/>
          </a:p>
        </p:txBody>
      </p:sp>
      <p:sp>
        <p:nvSpPr>
          <p:cNvPr id="648" name="RBd2"/>
          <p:cNvSpPr/>
          <p:nvPr/>
        </p:nvSpPr>
        <p:spPr>
          <a:xfrm>
            <a:off x="1005840" y="4980360"/>
            <a:ext cx="73152" cy="1050000"/>
          </a:xfrm>
          <a:prstGeom prst="rect">
            <a:avLst/>
          </a:prstGeom>
          <a:solidFill>
            <a:srgbClr val="C05A3C"/>
          </a:solidFill>
          <a:ln/>
        </p:spPr>
        <p:txBody>
          <a:bodyPr/>
          <a:lstStyle/>
          <a:p>
            <a:endParaRPr lang="en-US"/>
          </a:p>
        </p:txBody>
      </p:sp>
      <p:sp>
        <p:nvSpPr>
          <p:cNvPr id="649" name="RS2"/>
          <p:cNvSpPr/>
          <p:nvPr/>
        </p:nvSpPr>
        <p:spPr>
          <a:xfrm>
            <a:off x="3838605" y="5181510"/>
            <a:ext cx="9525" cy="647700"/>
          </a:xfrm>
          <a:prstGeom prst="rect">
            <a:avLst/>
          </a:prstGeom>
          <a:solidFill>
            <a:srgbClr val="CEC5B5"/>
          </a:solidFill>
          <a:ln/>
        </p:spPr>
        <p:txBody>
          <a:bodyPr/>
          <a:lstStyle/>
          <a:p>
            <a:endParaRPr lang="en-US"/>
          </a:p>
        </p:txBody>
      </p:sp>
      <p:sp>
        <p:nvSpPr>
          <p:cNvPr id="650" name="Cat2"/>
          <p:cNvSpPr/>
          <p:nvPr/>
        </p:nvSpPr>
        <p:spPr>
          <a:xfrm>
            <a:off x="1371600" y="4980360"/>
            <a:ext cx="2466720" cy="1050000"/>
          </a:xfrm>
          <a:prstGeom prst="rect">
            <a:avLst/>
          </a:prstGeom>
          <a:noFill/>
          <a:ln/>
        </p:spPr>
        <p:txBody>
          <a:bodyPr wrap="square" lIns="25400" tIns="25400" rIns="25400" bIns="25400" rtlCol="0" anchor="ctr">
            <a:normAutofit/>
          </a:bodyPr>
          <a:lstStyle/>
          <a:p>
            <a:r>
              <a:rPr lang="en-US" sz="2800" b="1" dirty="0">
                <a:solidFill>
                  <a:srgbClr val="2D2D2D"/>
                </a:solidFill>
                <a:latin typeface="Calibri" pitchFamily="34" charset="0"/>
                <a:ea typeface="Calibri" pitchFamily="34" charset="-122"/>
                <a:cs typeface="Calibri" pitchFamily="34" charset="-120"/>
              </a:rPr>
              <a:t>Respiration</a:t>
            </a:r>
            <a:endParaRPr lang="en-US" sz="2800" dirty="0"/>
          </a:p>
        </p:txBody>
      </p:sp>
      <p:sp>
        <p:nvSpPr>
          <p:cNvPr id="651" name="Bd_resp_rate"/>
          <p:cNvSpPr/>
          <p:nvPr/>
        </p:nvSpPr>
        <p:spPr>
          <a:xfrm>
            <a:off x="4133821" y="5124360"/>
            <a:ext cx="169926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×1.8</a:t>
            </a:r>
            <a:endParaRPr lang="en-US" sz="2400" dirty="0"/>
          </a:p>
        </p:txBody>
      </p:sp>
      <p:sp>
        <p:nvSpPr>
          <p:cNvPr id="652" name="Bg_resp_rate"/>
          <p:cNvSpPr/>
          <p:nvPr/>
        </p:nvSpPr>
        <p:spPr>
          <a:xfrm>
            <a:off x="4133821" y="5467260"/>
            <a:ext cx="1699260" cy="419100"/>
          </a:xfrm>
          <a:prstGeom prst="roundRect">
            <a:avLst>
              <a:gd name="adj" fmla="val 11261"/>
            </a:avLst>
          </a:prstGeom>
          <a:solidFill>
            <a:srgbClr val="FFFFFF"/>
          </a:solidFill>
          <a:ln/>
        </p:spPr>
        <p:txBody>
          <a:bodyPr/>
          <a:lstStyle/>
          <a:p>
            <a:endParaRPr lang="en-US"/>
          </a:p>
        </p:txBody>
      </p:sp>
      <p:sp>
        <p:nvSpPr>
          <p:cNvPr id="653" name="Tx_resp_rate"/>
          <p:cNvSpPr/>
          <p:nvPr/>
        </p:nvSpPr>
        <p:spPr>
          <a:xfrm>
            <a:off x="4133821" y="5467260"/>
            <a:ext cx="169926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resp_rate</a:t>
            </a:r>
            <a:endParaRPr lang="en-US" sz="2200" dirty="0"/>
          </a:p>
        </p:txBody>
      </p:sp>
      <p:sp>
        <p:nvSpPr>
          <p:cNvPr id="654" name="Bd_resp_variability"/>
          <p:cNvSpPr/>
          <p:nvPr/>
        </p:nvSpPr>
        <p:spPr>
          <a:xfrm>
            <a:off x="5975956" y="5124360"/>
            <a:ext cx="287274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×1.4</a:t>
            </a:r>
            <a:endParaRPr lang="en-US" sz="2400" dirty="0"/>
          </a:p>
        </p:txBody>
      </p:sp>
      <p:sp>
        <p:nvSpPr>
          <p:cNvPr id="655" name="Bg_resp_variability"/>
          <p:cNvSpPr/>
          <p:nvPr/>
        </p:nvSpPr>
        <p:spPr>
          <a:xfrm>
            <a:off x="5975956" y="5467260"/>
            <a:ext cx="2872740" cy="419100"/>
          </a:xfrm>
          <a:prstGeom prst="roundRect">
            <a:avLst>
              <a:gd name="adj" fmla="val 11261"/>
            </a:avLst>
          </a:prstGeom>
          <a:solidFill>
            <a:srgbClr val="FFFFFF"/>
          </a:solidFill>
          <a:ln/>
        </p:spPr>
        <p:txBody>
          <a:bodyPr/>
          <a:lstStyle/>
          <a:p>
            <a:endParaRPr lang="en-US"/>
          </a:p>
        </p:txBody>
      </p:sp>
      <p:sp>
        <p:nvSpPr>
          <p:cNvPr id="656" name="Tx_resp_variability"/>
          <p:cNvSpPr/>
          <p:nvPr/>
        </p:nvSpPr>
        <p:spPr>
          <a:xfrm>
            <a:off x="5975956" y="5467260"/>
            <a:ext cx="287274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resp_variability</a:t>
            </a:r>
            <a:endParaRPr lang="en-US" sz="2200" dirty="0"/>
          </a:p>
        </p:txBody>
      </p:sp>
      <p:sp>
        <p:nvSpPr>
          <p:cNvPr id="657" name="Bd_resp_amplitude"/>
          <p:cNvSpPr/>
          <p:nvPr/>
        </p:nvSpPr>
        <p:spPr>
          <a:xfrm>
            <a:off x="8991571" y="5124360"/>
            <a:ext cx="253746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×1.2</a:t>
            </a:r>
            <a:endParaRPr lang="en-US" sz="2400" dirty="0"/>
          </a:p>
        </p:txBody>
      </p:sp>
      <p:sp>
        <p:nvSpPr>
          <p:cNvPr id="658" name="Bg_resp_amplitude"/>
          <p:cNvSpPr/>
          <p:nvPr/>
        </p:nvSpPr>
        <p:spPr>
          <a:xfrm>
            <a:off x="8991571" y="5467260"/>
            <a:ext cx="2537460" cy="419100"/>
          </a:xfrm>
          <a:prstGeom prst="roundRect">
            <a:avLst>
              <a:gd name="adj" fmla="val 11261"/>
            </a:avLst>
          </a:prstGeom>
          <a:solidFill>
            <a:srgbClr val="FFFFFF"/>
          </a:solidFill>
          <a:ln/>
        </p:spPr>
        <p:txBody>
          <a:bodyPr/>
          <a:lstStyle/>
          <a:p>
            <a:endParaRPr lang="en-US"/>
          </a:p>
        </p:txBody>
      </p:sp>
      <p:sp>
        <p:nvSpPr>
          <p:cNvPr id="659" name="Tx_resp_amplitude"/>
          <p:cNvSpPr/>
          <p:nvPr/>
        </p:nvSpPr>
        <p:spPr>
          <a:xfrm>
            <a:off x="8991571" y="5467260"/>
            <a:ext cx="253746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resp_amplitude</a:t>
            </a:r>
            <a:endParaRPr lang="en-US" sz="2200" dirty="0"/>
          </a:p>
        </p:txBody>
      </p:sp>
      <p:sp>
        <p:nvSpPr>
          <p:cNvPr id="660" name="Bd_apnea_flag"/>
          <p:cNvSpPr/>
          <p:nvPr/>
        </p:nvSpPr>
        <p:spPr>
          <a:xfrm>
            <a:off x="11671906" y="5124360"/>
            <a:ext cx="186690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×1.0</a:t>
            </a:r>
            <a:endParaRPr lang="en-US" sz="2400" dirty="0"/>
          </a:p>
        </p:txBody>
      </p:sp>
      <p:sp>
        <p:nvSpPr>
          <p:cNvPr id="661" name="Bg_apnea_flag"/>
          <p:cNvSpPr/>
          <p:nvPr/>
        </p:nvSpPr>
        <p:spPr>
          <a:xfrm>
            <a:off x="11671906" y="5467260"/>
            <a:ext cx="1866900" cy="419100"/>
          </a:xfrm>
          <a:prstGeom prst="roundRect">
            <a:avLst>
              <a:gd name="adj" fmla="val 11261"/>
            </a:avLst>
          </a:prstGeom>
          <a:solidFill>
            <a:srgbClr val="FFFFFF"/>
          </a:solidFill>
          <a:ln/>
        </p:spPr>
        <p:txBody>
          <a:bodyPr/>
          <a:lstStyle/>
          <a:p>
            <a:endParaRPr lang="en-US"/>
          </a:p>
        </p:txBody>
      </p:sp>
      <p:sp>
        <p:nvSpPr>
          <p:cNvPr id="662" name="Tx_apnea_flag"/>
          <p:cNvSpPr/>
          <p:nvPr/>
        </p:nvSpPr>
        <p:spPr>
          <a:xfrm>
            <a:off x="11671906" y="5467260"/>
            <a:ext cx="186690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apnea_flag</a:t>
            </a:r>
            <a:endParaRPr lang="en-US" sz="2200" dirty="0"/>
          </a:p>
        </p:txBody>
      </p:sp>
      <p:sp>
        <p:nvSpPr>
          <p:cNvPr id="663" name="RBg3"/>
          <p:cNvSpPr/>
          <p:nvPr/>
        </p:nvSpPr>
        <p:spPr>
          <a:xfrm>
            <a:off x="1005840" y="6144660"/>
            <a:ext cx="16276320" cy="1050000"/>
          </a:xfrm>
          <a:prstGeom prst="rect">
            <a:avLst/>
          </a:prstGeom>
          <a:solidFill>
            <a:srgbClr val="F5F0EA"/>
          </a:solidFill>
          <a:ln/>
        </p:spPr>
        <p:txBody>
          <a:bodyPr/>
          <a:lstStyle/>
          <a:p>
            <a:endParaRPr lang="en-US"/>
          </a:p>
        </p:txBody>
      </p:sp>
      <p:sp>
        <p:nvSpPr>
          <p:cNvPr id="664" name="RBd3"/>
          <p:cNvSpPr/>
          <p:nvPr/>
        </p:nvSpPr>
        <p:spPr>
          <a:xfrm>
            <a:off x="1005840" y="6144660"/>
            <a:ext cx="73152" cy="1050000"/>
          </a:xfrm>
          <a:prstGeom prst="rect">
            <a:avLst/>
          </a:prstGeom>
          <a:solidFill>
            <a:srgbClr val="C05A3C"/>
          </a:solidFill>
          <a:ln/>
        </p:spPr>
        <p:txBody>
          <a:bodyPr/>
          <a:lstStyle/>
          <a:p>
            <a:endParaRPr lang="en-US"/>
          </a:p>
        </p:txBody>
      </p:sp>
      <p:sp>
        <p:nvSpPr>
          <p:cNvPr id="665" name="RS3"/>
          <p:cNvSpPr/>
          <p:nvPr/>
        </p:nvSpPr>
        <p:spPr>
          <a:xfrm>
            <a:off x="3838605" y="6345810"/>
            <a:ext cx="9525" cy="647700"/>
          </a:xfrm>
          <a:prstGeom prst="rect">
            <a:avLst/>
          </a:prstGeom>
          <a:solidFill>
            <a:srgbClr val="CEC5B5"/>
          </a:solidFill>
          <a:ln/>
        </p:spPr>
        <p:txBody>
          <a:bodyPr/>
          <a:lstStyle/>
          <a:p>
            <a:endParaRPr lang="en-US"/>
          </a:p>
        </p:txBody>
      </p:sp>
      <p:sp>
        <p:nvSpPr>
          <p:cNvPr id="666" name="Cat3"/>
          <p:cNvSpPr/>
          <p:nvPr/>
        </p:nvSpPr>
        <p:spPr>
          <a:xfrm>
            <a:off x="1371600" y="6144660"/>
            <a:ext cx="2466720" cy="1050000"/>
          </a:xfrm>
          <a:prstGeom prst="rect">
            <a:avLst/>
          </a:prstGeom>
          <a:noFill/>
          <a:ln/>
        </p:spPr>
        <p:txBody>
          <a:bodyPr wrap="square" lIns="25400" tIns="25400" rIns="25400" bIns="25400" rtlCol="0" anchor="ctr">
            <a:normAutofit/>
          </a:bodyPr>
          <a:lstStyle/>
          <a:p>
            <a:r>
              <a:rPr lang="en-US" sz="2800" b="1" dirty="0">
                <a:solidFill>
                  <a:srgbClr val="2D2D2D"/>
                </a:solidFill>
                <a:latin typeface="Calibri" pitchFamily="34" charset="0"/>
                <a:ea typeface="Calibri" pitchFamily="34" charset="-122"/>
                <a:cs typeface="Calibri" pitchFamily="34" charset="-120"/>
              </a:rPr>
              <a:t>Temperature</a:t>
            </a:r>
            <a:endParaRPr lang="en-US" sz="2800" dirty="0"/>
          </a:p>
        </p:txBody>
      </p:sp>
      <p:sp>
        <p:nvSpPr>
          <p:cNvPr id="667" name="Bd_temp_mean"/>
          <p:cNvSpPr/>
          <p:nvPr/>
        </p:nvSpPr>
        <p:spPr>
          <a:xfrm>
            <a:off x="4133821" y="6288660"/>
            <a:ext cx="169926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×0.8</a:t>
            </a:r>
            <a:endParaRPr lang="en-US" sz="2400" dirty="0"/>
          </a:p>
        </p:txBody>
      </p:sp>
      <p:sp>
        <p:nvSpPr>
          <p:cNvPr id="668" name="Bg_temp_mean"/>
          <p:cNvSpPr/>
          <p:nvPr/>
        </p:nvSpPr>
        <p:spPr>
          <a:xfrm>
            <a:off x="4133821" y="6631560"/>
            <a:ext cx="1699260" cy="419100"/>
          </a:xfrm>
          <a:prstGeom prst="roundRect">
            <a:avLst>
              <a:gd name="adj" fmla="val 11261"/>
            </a:avLst>
          </a:prstGeom>
          <a:solidFill>
            <a:srgbClr val="FFFFFF"/>
          </a:solidFill>
          <a:ln/>
        </p:spPr>
        <p:txBody>
          <a:bodyPr/>
          <a:lstStyle/>
          <a:p>
            <a:endParaRPr lang="en-US"/>
          </a:p>
        </p:txBody>
      </p:sp>
      <p:sp>
        <p:nvSpPr>
          <p:cNvPr id="669" name="Tx_temp_mean"/>
          <p:cNvSpPr/>
          <p:nvPr/>
        </p:nvSpPr>
        <p:spPr>
          <a:xfrm>
            <a:off x="4133821" y="6631560"/>
            <a:ext cx="169926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temp_mean</a:t>
            </a:r>
            <a:endParaRPr lang="en-US" sz="2200" dirty="0"/>
          </a:p>
        </p:txBody>
      </p:sp>
      <p:sp>
        <p:nvSpPr>
          <p:cNvPr id="670" name="Bd_temp_variation"/>
          <p:cNvSpPr/>
          <p:nvPr/>
        </p:nvSpPr>
        <p:spPr>
          <a:xfrm>
            <a:off x="5975956" y="6288660"/>
            <a:ext cx="2537460" cy="304800"/>
          </a:xfrm>
          <a:prstGeom prst="rect">
            <a:avLst/>
          </a:prstGeom>
          <a:noFill/>
          <a:ln/>
        </p:spPr>
        <p:txBody>
          <a:bodyPr wrap="square" lIns="25400" tIns="25400" rIns="25400" bIns="25400" rtlCol="0" anchor="ctr">
            <a:normAutofit fontScale="85000" lnSpcReduction="20000"/>
          </a:bodyPr>
          <a:lstStyle/>
          <a:p>
            <a:pPr algn="ctr"/>
            <a:r>
              <a:rPr lang="en-US" sz="2400" b="1" kern="0" spc="50" dirty="0">
                <a:solidFill>
                  <a:srgbClr val="B85C38"/>
                </a:solidFill>
                <a:latin typeface="Inter" pitchFamily="34" charset="0"/>
                <a:ea typeface="Inter" pitchFamily="34" charset="-122"/>
                <a:cs typeface="Inter" pitchFamily="34" charset="-120"/>
              </a:rPr>
              <a:t>×0.5</a:t>
            </a:r>
            <a:endParaRPr lang="en-US" sz="2400" dirty="0"/>
          </a:p>
        </p:txBody>
      </p:sp>
      <p:sp>
        <p:nvSpPr>
          <p:cNvPr id="671" name="Bg_temp_variation"/>
          <p:cNvSpPr/>
          <p:nvPr/>
        </p:nvSpPr>
        <p:spPr>
          <a:xfrm>
            <a:off x="5975956" y="6631560"/>
            <a:ext cx="2537460" cy="419100"/>
          </a:xfrm>
          <a:prstGeom prst="roundRect">
            <a:avLst>
              <a:gd name="adj" fmla="val 11261"/>
            </a:avLst>
          </a:prstGeom>
          <a:solidFill>
            <a:srgbClr val="FFFFFF"/>
          </a:solidFill>
          <a:ln/>
        </p:spPr>
        <p:txBody>
          <a:bodyPr/>
          <a:lstStyle/>
          <a:p>
            <a:endParaRPr lang="en-US"/>
          </a:p>
        </p:txBody>
      </p:sp>
      <p:sp>
        <p:nvSpPr>
          <p:cNvPr id="672" name="Tx_temp_variation"/>
          <p:cNvSpPr/>
          <p:nvPr/>
        </p:nvSpPr>
        <p:spPr>
          <a:xfrm>
            <a:off x="5975956" y="6631560"/>
            <a:ext cx="2537460" cy="419100"/>
          </a:xfrm>
          <a:prstGeom prst="rect">
            <a:avLst/>
          </a:prstGeom>
          <a:noFill/>
          <a:ln/>
        </p:spPr>
        <p:txBody>
          <a:bodyPr wrap="none" lIns="0" tIns="0" rIns="0" bIns="0" rtlCol="0" anchor="ctr"/>
          <a:lstStyle/>
          <a:p>
            <a:pPr algn="ctr"/>
            <a:r>
              <a:rPr lang="en-US" sz="2200" dirty="0">
                <a:solidFill>
                  <a:srgbClr val="555555"/>
                </a:solidFill>
                <a:latin typeface="Courier New" pitchFamily="34" charset="0"/>
                <a:ea typeface="Courier New" pitchFamily="34" charset="-122"/>
                <a:cs typeface="Courier New" pitchFamily="34" charset="-120"/>
              </a:rPr>
              <a:t>temp_variation</a:t>
            </a:r>
            <a:endParaRPr lang="en-US" sz="2200" dirty="0"/>
          </a:p>
        </p:txBody>
      </p:sp>
      <p:sp>
        <p:nvSpPr>
          <p:cNvPr id="673" name="RBg4"/>
          <p:cNvSpPr/>
          <p:nvPr/>
        </p:nvSpPr>
        <p:spPr>
          <a:xfrm>
            <a:off x="1005840" y="7308960"/>
            <a:ext cx="16276320" cy="1050000"/>
          </a:xfrm>
          <a:prstGeom prst="rect">
            <a:avLst/>
          </a:prstGeom>
          <a:solidFill>
            <a:srgbClr val="F5F0EA"/>
          </a:solidFill>
          <a:ln/>
        </p:spPr>
        <p:txBody>
          <a:bodyPr/>
          <a:lstStyle/>
          <a:p>
            <a:endParaRPr lang="en-US" dirty="0"/>
          </a:p>
        </p:txBody>
      </p:sp>
      <p:sp>
        <p:nvSpPr>
          <p:cNvPr id="674" name="RBd4"/>
          <p:cNvSpPr/>
          <p:nvPr/>
        </p:nvSpPr>
        <p:spPr>
          <a:xfrm>
            <a:off x="1005840" y="7308960"/>
            <a:ext cx="73152" cy="1050000"/>
          </a:xfrm>
          <a:prstGeom prst="rect">
            <a:avLst/>
          </a:prstGeom>
          <a:solidFill>
            <a:srgbClr val="C05A3C"/>
          </a:solidFill>
          <a:ln/>
        </p:spPr>
        <p:txBody>
          <a:bodyPr/>
          <a:lstStyle/>
          <a:p>
            <a:endParaRPr lang="en-US"/>
          </a:p>
        </p:txBody>
      </p:sp>
      <p:sp>
        <p:nvSpPr>
          <p:cNvPr id="675" name="RS4"/>
          <p:cNvSpPr/>
          <p:nvPr/>
        </p:nvSpPr>
        <p:spPr>
          <a:xfrm>
            <a:off x="3838605" y="7510110"/>
            <a:ext cx="9525" cy="647700"/>
          </a:xfrm>
          <a:prstGeom prst="rect">
            <a:avLst/>
          </a:prstGeom>
          <a:solidFill>
            <a:srgbClr val="CEC5B5"/>
          </a:solidFill>
          <a:ln/>
        </p:spPr>
        <p:txBody>
          <a:bodyPr/>
          <a:lstStyle/>
          <a:p>
            <a:endParaRPr lang="en-US"/>
          </a:p>
        </p:txBody>
      </p:sp>
      <p:sp>
        <p:nvSpPr>
          <p:cNvPr id="676" name="Cat4"/>
          <p:cNvSpPr/>
          <p:nvPr/>
        </p:nvSpPr>
        <p:spPr>
          <a:xfrm>
            <a:off x="1371600" y="7308960"/>
            <a:ext cx="2466720" cy="1050000"/>
          </a:xfrm>
          <a:prstGeom prst="rect">
            <a:avLst/>
          </a:prstGeom>
          <a:noFill/>
          <a:ln/>
        </p:spPr>
        <p:txBody>
          <a:bodyPr wrap="square" lIns="25400" tIns="25400" rIns="25400" bIns="25400" rtlCol="0" anchor="ctr">
            <a:normAutofit/>
          </a:bodyPr>
          <a:lstStyle/>
          <a:p>
            <a:r>
              <a:rPr lang="en-US" sz="2800" b="1" dirty="0">
                <a:solidFill>
                  <a:srgbClr val="2D2D2D"/>
                </a:solidFill>
                <a:latin typeface="Calibri" pitchFamily="34" charset="0"/>
                <a:ea typeface="Calibri" pitchFamily="34" charset="-122"/>
                <a:cs typeface="Calibri" pitchFamily="34" charset="-120"/>
              </a:rPr>
              <a:t>Acoustic</a:t>
            </a:r>
            <a:endParaRPr lang="en-US" sz="2800" dirty="0"/>
          </a:p>
        </p:txBody>
      </p:sp>
      <p:sp>
        <p:nvSpPr>
          <p:cNvPr id="677" name="Bd_snore_events_count"/>
          <p:cNvSpPr/>
          <p:nvPr/>
        </p:nvSpPr>
        <p:spPr>
          <a:xfrm>
            <a:off x="4133821" y="7452960"/>
            <a:ext cx="3208020" cy="304800"/>
          </a:xfrm>
          <a:prstGeom prst="rect">
            <a:avLst/>
          </a:prstGeom>
          <a:noFill/>
          <a:ln/>
        </p:spPr>
        <p:txBody>
          <a:bodyPr wrap="square" lIns="25400" tIns="25400" rIns="25400" bIns="25400" rtlCol="0" anchor="ctr">
            <a:normAutofit lnSpcReduction="10000"/>
          </a:bodyPr>
          <a:lstStyle/>
          <a:p>
            <a:pPr algn="ctr"/>
            <a:r>
              <a:rPr lang="en-US" sz="1800" i="1" dirty="0">
                <a:solidFill>
                  <a:srgbClr val="B85C38"/>
                </a:solidFill>
                <a:latin typeface="Inter" pitchFamily="34" charset="0"/>
                <a:ea typeface="Inter" pitchFamily="34" charset="-122"/>
                <a:cs typeface="Inter" pitchFamily="34" charset="-120"/>
              </a:rPr>
              <a:t>score only</a:t>
            </a:r>
            <a:endParaRPr lang="en-US" sz="1800" dirty="0"/>
          </a:p>
        </p:txBody>
      </p:sp>
      <p:sp>
        <p:nvSpPr>
          <p:cNvPr id="678" name="Bg_snore_events_count"/>
          <p:cNvSpPr/>
          <p:nvPr/>
        </p:nvSpPr>
        <p:spPr>
          <a:xfrm>
            <a:off x="4133821" y="7795860"/>
            <a:ext cx="3208020" cy="419100"/>
          </a:xfrm>
          <a:prstGeom prst="roundRect">
            <a:avLst>
              <a:gd name="adj" fmla="val 11261"/>
            </a:avLst>
          </a:prstGeom>
          <a:solidFill>
            <a:srgbClr val="F5F0EA"/>
          </a:solidFill>
          <a:ln w="19050">
            <a:solidFill>
              <a:srgbClr val="C8BFB0"/>
            </a:solidFill>
            <a:prstDash val="dash"/>
          </a:ln>
        </p:spPr>
        <p:txBody>
          <a:bodyPr/>
          <a:lstStyle/>
          <a:p>
            <a:endParaRPr lang="en-US"/>
          </a:p>
        </p:txBody>
      </p:sp>
      <p:sp>
        <p:nvSpPr>
          <p:cNvPr id="679" name="Tx_snore_events_count"/>
          <p:cNvSpPr/>
          <p:nvPr/>
        </p:nvSpPr>
        <p:spPr>
          <a:xfrm>
            <a:off x="4133821" y="7795860"/>
            <a:ext cx="3208020" cy="419100"/>
          </a:xfrm>
          <a:prstGeom prst="rect">
            <a:avLst/>
          </a:prstGeom>
          <a:solidFill>
            <a:schemeClr val="bg1"/>
          </a:solidFill>
          <a:ln/>
        </p:spPr>
        <p:txBody>
          <a:bodyPr wrap="none" lIns="0" tIns="0" rIns="0" bIns="0" rtlCol="0" anchor="ctr"/>
          <a:lstStyle/>
          <a:p>
            <a:pPr algn="ctr"/>
            <a:r>
              <a:rPr lang="en-US" sz="2200" dirty="0">
                <a:solidFill>
                  <a:srgbClr val="999999"/>
                </a:solidFill>
                <a:latin typeface="Courier New" pitchFamily="34" charset="0"/>
                <a:ea typeface="Courier New" pitchFamily="34" charset="-122"/>
                <a:cs typeface="Courier New" pitchFamily="34" charset="-120"/>
              </a:rPr>
              <a:t>snore_events_count</a:t>
            </a:r>
            <a:endParaRPr lang="en-US" sz="2200" dirty="0"/>
          </a:p>
        </p:txBody>
      </p:sp>
      <p:sp>
        <p:nvSpPr>
          <p:cNvPr id="680" name="Bd_snore_intensity"/>
          <p:cNvSpPr/>
          <p:nvPr/>
        </p:nvSpPr>
        <p:spPr>
          <a:xfrm>
            <a:off x="7484716" y="7452960"/>
            <a:ext cx="2705100" cy="304800"/>
          </a:xfrm>
          <a:prstGeom prst="rect">
            <a:avLst/>
          </a:prstGeom>
          <a:noFill/>
          <a:ln/>
        </p:spPr>
        <p:txBody>
          <a:bodyPr wrap="square" lIns="25400" tIns="25400" rIns="25400" bIns="25400" rtlCol="0" anchor="ctr">
            <a:normAutofit lnSpcReduction="10000"/>
          </a:bodyPr>
          <a:lstStyle/>
          <a:p>
            <a:pPr algn="ctr"/>
            <a:r>
              <a:rPr lang="en-US" sz="1800" i="1" dirty="0">
                <a:solidFill>
                  <a:srgbClr val="B85C38"/>
                </a:solidFill>
                <a:latin typeface="Inter" pitchFamily="34" charset="0"/>
                <a:ea typeface="Inter" pitchFamily="34" charset="-122"/>
                <a:cs typeface="Inter" pitchFamily="34" charset="-120"/>
              </a:rPr>
              <a:t>score only</a:t>
            </a:r>
            <a:endParaRPr lang="en-US" sz="1800" dirty="0"/>
          </a:p>
        </p:txBody>
      </p:sp>
      <p:sp>
        <p:nvSpPr>
          <p:cNvPr id="681" name="Bg_snore_intensity"/>
          <p:cNvSpPr/>
          <p:nvPr/>
        </p:nvSpPr>
        <p:spPr>
          <a:xfrm>
            <a:off x="7484716" y="7795860"/>
            <a:ext cx="2705100" cy="419100"/>
          </a:xfrm>
          <a:prstGeom prst="roundRect">
            <a:avLst>
              <a:gd name="adj" fmla="val 11261"/>
            </a:avLst>
          </a:prstGeom>
          <a:solidFill>
            <a:srgbClr val="F5F0EA"/>
          </a:solidFill>
          <a:ln w="19050">
            <a:solidFill>
              <a:srgbClr val="C8BFB0"/>
            </a:solidFill>
            <a:prstDash val="dash"/>
          </a:ln>
        </p:spPr>
        <p:txBody>
          <a:bodyPr/>
          <a:lstStyle/>
          <a:p>
            <a:endParaRPr lang="en-US"/>
          </a:p>
        </p:txBody>
      </p:sp>
      <p:sp>
        <p:nvSpPr>
          <p:cNvPr id="682" name="Tx_snore_intensity"/>
          <p:cNvSpPr/>
          <p:nvPr/>
        </p:nvSpPr>
        <p:spPr>
          <a:xfrm>
            <a:off x="7484716" y="7795860"/>
            <a:ext cx="2705100" cy="419100"/>
          </a:xfrm>
          <a:prstGeom prst="rect">
            <a:avLst/>
          </a:prstGeom>
          <a:solidFill>
            <a:schemeClr val="bg1"/>
          </a:solidFill>
          <a:ln/>
        </p:spPr>
        <p:txBody>
          <a:bodyPr wrap="none" lIns="0" tIns="0" rIns="0" bIns="0" rtlCol="0" anchor="ctr"/>
          <a:lstStyle/>
          <a:p>
            <a:pPr algn="ctr"/>
            <a:r>
              <a:rPr lang="en-US" sz="2200" dirty="0">
                <a:solidFill>
                  <a:srgbClr val="999999"/>
                </a:solidFill>
                <a:latin typeface="Courier New" pitchFamily="34" charset="0"/>
                <a:ea typeface="Courier New" pitchFamily="34" charset="-122"/>
                <a:cs typeface="Courier New" pitchFamily="34" charset="-120"/>
              </a:rPr>
              <a:t>snore_intensity</a:t>
            </a:r>
            <a:endParaRPr lang="en-US" sz="2200" dirty="0"/>
          </a:p>
        </p:txBody>
      </p:sp>
      <p:sp>
        <p:nvSpPr>
          <p:cNvPr id="600" name="PBg"/>
          <p:cNvSpPr/>
          <p:nvPr/>
        </p:nvSpPr>
        <p:spPr>
          <a:xfrm>
            <a:off x="1005840" y="8473260"/>
            <a:ext cx="16276320" cy="1000000"/>
          </a:xfrm>
          <a:prstGeom prst="roundRect">
            <a:avLst>
              <a:gd name="adj" fmla="val 5714"/>
            </a:avLst>
          </a:prstGeom>
          <a:solidFill>
            <a:srgbClr val="FDF8F5"/>
          </a:solidFill>
          <a:ln w="12700">
            <a:solidFill>
              <a:srgbClr val="F0D0C0"/>
            </a:solidFill>
            <a:prstDash val="solid"/>
          </a:ln>
        </p:spPr>
        <p:txBody>
          <a:bodyPr/>
          <a:lstStyle/>
          <a:p>
            <a:endParaRPr lang="en-US" dirty="0"/>
          </a:p>
        </p:txBody>
      </p:sp>
      <p:sp>
        <p:nvSpPr>
          <p:cNvPr id="601" name="PT"/>
          <p:cNvSpPr/>
          <p:nvPr/>
        </p:nvSpPr>
        <p:spPr>
          <a:xfrm>
            <a:off x="1371600" y="8606610"/>
            <a:ext cx="6667500" cy="304800"/>
          </a:xfrm>
          <a:prstGeom prst="rect">
            <a:avLst/>
          </a:prstGeom>
          <a:noFill/>
          <a:ln/>
        </p:spPr>
        <p:txBody>
          <a:bodyPr wrap="square" lIns="25400" tIns="25400" rIns="25400" bIns="25400" rtlCol="0" anchor="ctr">
            <a:normAutofit fontScale="85000" lnSpcReduction="20000"/>
          </a:bodyPr>
          <a:lstStyle/>
          <a:p>
            <a:r>
              <a:rPr lang="en-US" sz="2400" b="1" dirty="0">
                <a:solidFill>
                  <a:srgbClr val="C05A3C"/>
                </a:solidFill>
                <a:latin typeface="Calibri" pitchFamily="34" charset="0"/>
                <a:ea typeface="Calibri" pitchFamily="34" charset="-122"/>
                <a:cs typeface="Calibri" pitchFamily="34" charset="-120"/>
              </a:rPr>
              <a:t>Preprocessing Pipeline</a:t>
            </a:r>
            <a:endParaRPr lang="en-US" sz="2400" dirty="0"/>
          </a:p>
        </p:txBody>
      </p:sp>
      <p:sp>
        <p:nvSpPr>
          <p:cNvPr id="602" name="PB"/>
          <p:cNvSpPr/>
          <p:nvPr/>
        </p:nvSpPr>
        <p:spPr>
          <a:xfrm>
            <a:off x="1348740" y="8987610"/>
            <a:ext cx="10718764" cy="304800"/>
          </a:xfrm>
          <a:prstGeom prst="rect">
            <a:avLst/>
          </a:prstGeom>
          <a:noFill/>
          <a:ln/>
        </p:spPr>
        <p:txBody>
          <a:bodyPr wrap="square" lIns="25400" tIns="25400" rIns="25400" bIns="25400" rtlCol="0" anchor="ctr">
            <a:normAutofit fontScale="85000" lnSpcReduction="20000"/>
          </a:bodyPr>
          <a:lstStyle/>
          <a:p>
            <a:r>
              <a:rPr lang="en-US" sz="2200" b="1" dirty="0">
                <a:solidFill>
                  <a:srgbClr val="2D2D2D"/>
                </a:solidFill>
                <a:latin typeface="Calibri" pitchFamily="34" charset="0"/>
                <a:ea typeface="Calibri" pitchFamily="34" charset="-122"/>
                <a:cs typeface="Calibri" pitchFamily="34" charset="-120"/>
              </a:rPr>
              <a:t>Raw features</a:t>
            </a:r>
            <a:r>
              <a:rPr lang="en-US" sz="2200" dirty="0">
                <a:solidFill>
                  <a:srgbClr val="6B6B6B"/>
                </a:solidFill>
                <a:latin typeface="Calibri" pitchFamily="34" charset="0"/>
                <a:ea typeface="Calibri" pitchFamily="34" charset="-122"/>
                <a:cs typeface="Calibri" pitchFamily="34" charset="-120"/>
              </a:rPr>
              <a:t>  →  StandardScaler (zero mean, unit variance)  →  </a:t>
            </a:r>
            <a:r>
              <a:rPr lang="en-US" sz="2200" b="1" dirty="0">
                <a:solidFill>
                  <a:srgbClr val="2D2D2D"/>
                </a:solidFill>
                <a:latin typeface="Calibri" pitchFamily="34" charset="0"/>
                <a:ea typeface="Calibri" pitchFamily="34" charset="-122"/>
                <a:cs typeface="Calibri" pitchFamily="34" charset="-120"/>
              </a:rPr>
              <a:t>Multiply by weights</a:t>
            </a:r>
            <a:r>
              <a:rPr lang="en-US" sz="2200" dirty="0">
                <a:solidFill>
                  <a:srgbClr val="6B6B6B"/>
                </a:solidFill>
                <a:latin typeface="Calibri" pitchFamily="34" charset="0"/>
                <a:ea typeface="Calibri" pitchFamily="34" charset="-122"/>
                <a:cs typeface="Calibri" pitchFamily="34" charset="-120"/>
              </a:rPr>
              <a:t>  →  K-Means input.</a:t>
            </a:r>
            <a:endParaRPr lang="en-US" sz="2200" dirty="0"/>
          </a:p>
        </p:txBody>
      </p:sp>
      <p:sp>
        <p:nvSpPr>
          <p:cNvPr id="603" name="PN"/>
          <p:cNvSpPr/>
          <p:nvPr/>
        </p:nvSpPr>
        <p:spPr>
          <a:xfrm>
            <a:off x="12067504" y="8987610"/>
            <a:ext cx="4838185" cy="266700"/>
          </a:xfrm>
          <a:prstGeom prst="rect">
            <a:avLst/>
          </a:prstGeom>
          <a:noFill/>
          <a:ln/>
        </p:spPr>
        <p:txBody>
          <a:bodyPr wrap="square" lIns="25400" tIns="25400" rIns="25400" bIns="25400" rtlCol="0" anchor="ctr">
            <a:normAutofit fontScale="85000" lnSpcReduction="20000"/>
          </a:bodyPr>
          <a:lstStyle/>
          <a:p>
            <a:r>
              <a:rPr lang="en-US" sz="2000" b="1" dirty="0" err="1">
                <a:solidFill>
                  <a:srgbClr val="6B6B6B"/>
                </a:solidFill>
                <a:latin typeface="Consolas" pitchFamily="34" charset="0"/>
                <a:ea typeface="Consolas" pitchFamily="34" charset="-122"/>
                <a:cs typeface="Consolas" pitchFamily="34" charset="-120"/>
              </a:rPr>
              <a:t>contact_valid_ratio</a:t>
            </a:r>
            <a:r>
              <a:rPr lang="en-US" sz="2000" dirty="0">
                <a:solidFill>
                  <a:srgbClr val="999999"/>
                </a:solidFill>
                <a:latin typeface="Calibri" pitchFamily="34" charset="0"/>
                <a:ea typeface="Calibri" pitchFamily="34" charset="-122"/>
                <a:cs typeface="Calibri" pitchFamily="34" charset="-120"/>
              </a:rPr>
              <a:t> excluded (data leakage risk)</a:t>
            </a:r>
            <a:endParaRPr lang="en-US" sz="2000" dirty="0"/>
          </a:p>
        </p:txBody>
      </p:sp>
      <p:sp>
        <p:nvSpPr>
          <p:cNvPr id="604" name="FL"/>
          <p:cNvSpPr/>
          <p:nvPr/>
        </p:nvSpPr>
        <p:spPr>
          <a:xfrm>
            <a:off x="1005840" y="9530410"/>
            <a:ext cx="7315200" cy="381000"/>
          </a:xfrm>
          <a:prstGeom prst="rect">
            <a:avLst/>
          </a:prstGeom>
          <a:noFill/>
          <a:ln/>
        </p:spPr>
        <p:txBody>
          <a:bodyPr wrap="square" lIns="25400" tIns="25400" rIns="25400" bIns="25400" rtlCol="0" anchor="ctr">
            <a:normAutofit/>
          </a:bodyPr>
          <a:lstStyle/>
          <a:p>
            <a:r>
              <a:rPr lang="en-US" sz="1800" dirty="0">
                <a:solidFill>
                  <a:srgbClr val="BBBBBB"/>
                </a:solidFill>
                <a:latin typeface="Calibri" pitchFamily="34" charset="0"/>
                <a:ea typeface="Calibri" pitchFamily="34" charset="-122"/>
                <a:cs typeface="Calibri" pitchFamily="34" charset="-120"/>
              </a:rPr>
              <a:t>Signal Processing &amp; Features</a:t>
            </a:r>
            <a:endParaRPr lang="en-US" sz="1800" dirty="0"/>
          </a:p>
        </p:txBody>
      </p:sp>
      <p:sp>
        <p:nvSpPr>
          <p:cNvPr id="605" name="FR"/>
          <p:cNvSpPr/>
          <p:nvPr/>
        </p:nvSpPr>
        <p:spPr>
          <a:xfrm>
            <a:off x="15453360" y="9530410"/>
            <a:ext cx="1828800" cy="381000"/>
          </a:xfrm>
          <a:prstGeom prst="rect">
            <a:avLst/>
          </a:prstGeom>
          <a:noFill/>
          <a:ln/>
        </p:spPr>
        <p:txBody>
          <a:bodyPr wrap="square" lIns="25400" tIns="25400" rIns="25400" bIns="25400" rtlCol="0" anchor="ctr">
            <a:normAutofit/>
          </a:bodyPr>
          <a:lstStyle/>
          <a:p>
            <a:pPr algn="r"/>
            <a:r>
              <a:rPr lang="en-US" sz="1800" b="1" dirty="0">
                <a:solidFill>
                  <a:srgbClr val="C05A3C"/>
                </a:solidFill>
                <a:latin typeface="Calibri" pitchFamily="34" charset="0"/>
                <a:ea typeface="Calibri" pitchFamily="34" charset="-122"/>
                <a:cs typeface="Calibri" pitchFamily="34" charset="-120"/>
              </a:rPr>
              <a:t>11 / 17</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336929"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06</a:t>
            </a:r>
            <a:endParaRPr lang="en-US" sz="6600" dirty="0">
              <a:solidFill>
                <a:schemeClr val="accent2"/>
              </a:solidFill>
            </a:endParaRPr>
          </a:p>
        </p:txBody>
      </p:sp>
      <p:sp>
        <p:nvSpPr>
          <p:cNvPr id="3" name="Text 1"/>
          <p:cNvSpPr/>
          <p:nvPr/>
        </p:nvSpPr>
        <p:spPr>
          <a:xfrm>
            <a:off x="2358390" y="830580"/>
            <a:ext cx="6793480"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Sleep Stage Classification</a:t>
            </a:r>
            <a:endParaRPr lang="en-US" sz="3600" dirty="0"/>
          </a:p>
        </p:txBody>
      </p:sp>
      <p:sp>
        <p:nvSpPr>
          <p:cNvPr id="4" name="Shape 2"/>
          <p:cNvSpPr/>
          <p:nvPr/>
        </p:nvSpPr>
        <p:spPr>
          <a:xfrm>
            <a:off x="952500" y="1744980"/>
            <a:ext cx="3931920" cy="3369945"/>
          </a:xfrm>
          <a:prstGeom prst="roundRect">
            <a:avLst>
              <a:gd name="adj" fmla="val 2422"/>
            </a:avLst>
          </a:prstGeom>
          <a:ln w="15240">
            <a:solidFill>
              <a:srgbClr val="E8E4E0"/>
            </a:solidFill>
            <a:prstDash val="solid"/>
          </a:ln>
        </p:spPr>
        <p:txBody>
          <a:bodyPr/>
          <a:lstStyle/>
          <a:p>
            <a:endParaRPr lang="en-US"/>
          </a:p>
        </p:txBody>
      </p:sp>
      <p:sp>
        <p:nvSpPr>
          <p:cNvPr id="5" name="Shape 3"/>
          <p:cNvSpPr/>
          <p:nvPr/>
        </p:nvSpPr>
        <p:spPr>
          <a:xfrm>
            <a:off x="1234440" y="2065020"/>
            <a:ext cx="457200" cy="457200"/>
          </a:xfrm>
          <a:prstGeom prst="ellipse">
            <a:avLst/>
          </a:prstGeom>
          <a:solidFill>
            <a:srgbClr val="C0562B"/>
          </a:solidFill>
          <a:ln/>
        </p:spPr>
        <p:txBody>
          <a:bodyPr/>
          <a:lstStyle/>
          <a:p>
            <a:endParaRPr lang="en-US"/>
          </a:p>
        </p:txBody>
      </p:sp>
      <p:sp>
        <p:nvSpPr>
          <p:cNvPr id="6" name="Text 4"/>
          <p:cNvSpPr/>
          <p:nvPr/>
        </p:nvSpPr>
        <p:spPr>
          <a:xfrm>
            <a:off x="1418153" y="2160270"/>
            <a:ext cx="165973"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Sora" pitchFamily="34" charset="0"/>
                <a:ea typeface="Sora" pitchFamily="34" charset="-122"/>
                <a:cs typeface="Sora" pitchFamily="34" charset="-120"/>
              </a:rPr>
              <a:t>1</a:t>
            </a:r>
            <a:endParaRPr lang="en-US" sz="1650" dirty="0"/>
          </a:p>
        </p:txBody>
      </p:sp>
      <p:sp>
        <p:nvSpPr>
          <p:cNvPr id="7" name="Text 5"/>
          <p:cNvSpPr/>
          <p:nvPr/>
        </p:nvSpPr>
        <p:spPr>
          <a:xfrm>
            <a:off x="1234440" y="2617470"/>
            <a:ext cx="3704844" cy="373380"/>
          </a:xfrm>
          <a:prstGeom prst="rect">
            <a:avLst/>
          </a:prstGeom>
          <a:noFill/>
          <a:ln/>
        </p:spPr>
        <p:txBody>
          <a:bodyPr wrap="square" lIns="25400" tIns="25400" rIns="25400" bIns="25400" rtlCol="0" anchor="t">
            <a:normAutofit/>
          </a:bodyPr>
          <a:lstStyle/>
          <a:p>
            <a:pPr marL="0" indent="0" algn="l">
              <a:buNone/>
            </a:pPr>
            <a:r>
              <a:rPr lang="en-US" sz="2100" b="1" dirty="0">
                <a:solidFill>
                  <a:srgbClr val="1A1A1A"/>
                </a:solidFill>
                <a:latin typeface="Sora" pitchFamily="34" charset="0"/>
                <a:ea typeface="Sora" pitchFamily="34" charset="-122"/>
                <a:cs typeface="Sora" pitchFamily="34" charset="-120"/>
              </a:rPr>
              <a:t>K-Means (k=4)</a:t>
            </a:r>
            <a:endParaRPr lang="en-US" sz="2100" dirty="0"/>
          </a:p>
        </p:txBody>
      </p:sp>
      <p:sp>
        <p:nvSpPr>
          <p:cNvPr id="8" name="Text 6"/>
          <p:cNvSpPr/>
          <p:nvPr/>
        </p:nvSpPr>
        <p:spPr>
          <a:xfrm>
            <a:off x="1234440" y="3048000"/>
            <a:ext cx="3469081" cy="66675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650" dirty="0">
                <a:solidFill>
                  <a:srgbClr val="777777"/>
                </a:solidFill>
                <a:latin typeface="Nunito Sans" pitchFamily="34" charset="0"/>
                <a:ea typeface="Nunito Sans" pitchFamily="34" charset="-122"/>
                <a:cs typeface="Nunito Sans" pitchFamily="34" charset="-120"/>
              </a:rPr>
              <a:t>Unsupervised clustering into 4 groups.</a:t>
            </a:r>
            <a:endParaRPr lang="en-US" sz="1650" dirty="0"/>
          </a:p>
        </p:txBody>
      </p:sp>
      <p:sp>
        <p:nvSpPr>
          <p:cNvPr id="9" name="Text 7"/>
          <p:cNvSpPr/>
          <p:nvPr/>
        </p:nvSpPr>
        <p:spPr>
          <a:xfrm>
            <a:off x="1234440" y="3771900"/>
            <a:ext cx="3469081" cy="6667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999999"/>
                </a:solidFill>
                <a:latin typeface="Nunito Sans" pitchFamily="34" charset="0"/>
                <a:ea typeface="Nunito Sans" pitchFamily="34" charset="-122"/>
                <a:cs typeface="Nunito Sans" pitchFamily="34" charset="-120"/>
              </a:rPr>
              <a:t>Silhouette: k=2 best (0.797)</a:t>
            </a:r>
          </a:p>
          <a:p>
            <a:pPr marL="0" indent="0" algn="l">
              <a:lnSpc>
                <a:spcPct val="150000"/>
              </a:lnSpc>
              <a:buNone/>
            </a:pPr>
            <a:r>
              <a:rPr lang="en-US" sz="1650" dirty="0">
                <a:solidFill>
                  <a:srgbClr val="999999"/>
                </a:solidFill>
                <a:latin typeface="Nunito Sans" pitchFamily="34" charset="0"/>
                <a:ea typeface="Nunito Sans" pitchFamily="34" charset="-122"/>
                <a:cs typeface="Nunito Sans" pitchFamily="34" charset="-120"/>
              </a:rPr>
              <a:t> k=4 used for clinical relevance (0.290)</a:t>
            </a:r>
            <a:endParaRPr lang="en-US" sz="1650" dirty="0"/>
          </a:p>
        </p:txBody>
      </p:sp>
      <p:sp>
        <p:nvSpPr>
          <p:cNvPr id="10" name="Shape 8"/>
          <p:cNvSpPr/>
          <p:nvPr/>
        </p:nvSpPr>
        <p:spPr>
          <a:xfrm>
            <a:off x="5113020" y="1744980"/>
            <a:ext cx="3931920" cy="3360420"/>
          </a:xfrm>
          <a:prstGeom prst="roundRect">
            <a:avLst>
              <a:gd name="adj" fmla="val 2422"/>
            </a:avLst>
          </a:prstGeom>
          <a:ln w="15240">
            <a:solidFill>
              <a:srgbClr val="E8E4E0"/>
            </a:solidFill>
            <a:prstDash val="solid"/>
          </a:ln>
        </p:spPr>
        <p:txBody>
          <a:bodyPr/>
          <a:lstStyle/>
          <a:p>
            <a:endParaRPr lang="en-US"/>
          </a:p>
        </p:txBody>
      </p:sp>
      <p:sp>
        <p:nvSpPr>
          <p:cNvPr id="11" name="Shape 9"/>
          <p:cNvSpPr/>
          <p:nvPr/>
        </p:nvSpPr>
        <p:spPr>
          <a:xfrm>
            <a:off x="5394960" y="2065020"/>
            <a:ext cx="457200" cy="457200"/>
          </a:xfrm>
          <a:prstGeom prst="ellipse">
            <a:avLst/>
          </a:prstGeom>
          <a:solidFill>
            <a:srgbClr val="C0562B"/>
          </a:solidFill>
          <a:ln/>
        </p:spPr>
        <p:txBody>
          <a:bodyPr/>
          <a:lstStyle/>
          <a:p>
            <a:endParaRPr lang="en-US"/>
          </a:p>
        </p:txBody>
      </p:sp>
      <p:sp>
        <p:nvSpPr>
          <p:cNvPr id="12" name="Text 10"/>
          <p:cNvSpPr/>
          <p:nvPr/>
        </p:nvSpPr>
        <p:spPr>
          <a:xfrm>
            <a:off x="5557242" y="2160270"/>
            <a:ext cx="208717"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Sora" pitchFamily="34" charset="0"/>
                <a:ea typeface="Sora" pitchFamily="34" charset="-122"/>
                <a:cs typeface="Sora" pitchFamily="34" charset="-120"/>
              </a:rPr>
              <a:t>2</a:t>
            </a:r>
            <a:endParaRPr lang="en-US" sz="1650" dirty="0"/>
          </a:p>
        </p:txBody>
      </p:sp>
      <p:sp>
        <p:nvSpPr>
          <p:cNvPr id="13" name="Text 11"/>
          <p:cNvSpPr/>
          <p:nvPr/>
        </p:nvSpPr>
        <p:spPr>
          <a:xfrm>
            <a:off x="5394960" y="2617470"/>
            <a:ext cx="3704844" cy="373380"/>
          </a:xfrm>
          <a:prstGeom prst="rect">
            <a:avLst/>
          </a:prstGeom>
          <a:noFill/>
          <a:ln/>
        </p:spPr>
        <p:txBody>
          <a:bodyPr wrap="square" lIns="25400" tIns="25400" rIns="25400" bIns="25400" rtlCol="0" anchor="t">
            <a:normAutofit/>
          </a:bodyPr>
          <a:lstStyle/>
          <a:p>
            <a:pPr marL="0" indent="0" algn="l">
              <a:buNone/>
            </a:pPr>
            <a:r>
              <a:rPr lang="en-US" sz="2100" b="1" dirty="0">
                <a:solidFill>
                  <a:srgbClr val="1A1A1A"/>
                </a:solidFill>
                <a:latin typeface="Sora" pitchFamily="34" charset="0"/>
                <a:ea typeface="Sora" pitchFamily="34" charset="-122"/>
                <a:cs typeface="Sora" pitchFamily="34" charset="-120"/>
              </a:rPr>
              <a:t>Physiological Labeling</a:t>
            </a:r>
            <a:endParaRPr lang="en-US" sz="2100" dirty="0"/>
          </a:p>
        </p:txBody>
      </p:sp>
      <p:sp>
        <p:nvSpPr>
          <p:cNvPr id="14" name="Text 12"/>
          <p:cNvSpPr/>
          <p:nvPr/>
        </p:nvSpPr>
        <p:spPr>
          <a:xfrm>
            <a:off x="5394960" y="3086100"/>
            <a:ext cx="3704844" cy="32766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Nunito Sans" pitchFamily="34" charset="0"/>
                <a:ea typeface="Nunito Sans" pitchFamily="34" charset="-122"/>
                <a:cs typeface="Nunito Sans" pitchFamily="34" charset="-120"/>
              </a:rPr>
              <a:t>Wake: </a:t>
            </a:r>
            <a:r>
              <a:rPr lang="en-US" sz="1650" dirty="0">
                <a:solidFill>
                  <a:srgbClr val="777777"/>
                </a:solidFill>
                <a:latin typeface="Nunito Sans" pitchFamily="34" charset="0"/>
                <a:ea typeface="Nunito Sans" pitchFamily="34" charset="-122"/>
                <a:cs typeface="Nunito Sans" pitchFamily="34" charset="-120"/>
              </a:rPr>
              <a:t>motion ≥ P95</a:t>
            </a:r>
            <a:endParaRPr lang="en-US" sz="1650" dirty="0"/>
          </a:p>
        </p:txBody>
      </p:sp>
      <p:sp>
        <p:nvSpPr>
          <p:cNvPr id="15" name="Text 13"/>
          <p:cNvSpPr/>
          <p:nvPr/>
        </p:nvSpPr>
        <p:spPr>
          <a:xfrm>
            <a:off x="5394960" y="3413760"/>
            <a:ext cx="3469081" cy="61722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Nunito Sans" pitchFamily="34" charset="0"/>
                <a:ea typeface="Nunito Sans" pitchFamily="34" charset="-122"/>
                <a:cs typeface="Nunito Sans" pitchFamily="34" charset="-120"/>
              </a:rPr>
              <a:t>REM: </a:t>
            </a:r>
            <a:r>
              <a:rPr lang="en-US" sz="1650" dirty="0">
                <a:solidFill>
                  <a:srgbClr val="777777"/>
                </a:solidFill>
                <a:latin typeface="Nunito Sans" pitchFamily="34" charset="0"/>
                <a:ea typeface="Nunito Sans" pitchFamily="34" charset="-122"/>
                <a:cs typeface="Nunito Sans" pitchFamily="34" charset="-120"/>
              </a:rPr>
              <a:t>bpm ≥ P65 AND bpm_std ≥ P55</a:t>
            </a:r>
            <a:endParaRPr lang="en-US" sz="1650" dirty="0"/>
          </a:p>
        </p:txBody>
      </p:sp>
      <p:sp>
        <p:nvSpPr>
          <p:cNvPr id="16" name="Text 14"/>
          <p:cNvSpPr/>
          <p:nvPr/>
        </p:nvSpPr>
        <p:spPr>
          <a:xfrm>
            <a:off x="5394960" y="4030980"/>
            <a:ext cx="3469081" cy="61722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Nunito Sans" pitchFamily="34" charset="0"/>
                <a:ea typeface="Nunito Sans" pitchFamily="34" charset="-122"/>
                <a:cs typeface="Nunito Sans" pitchFamily="34" charset="-120"/>
              </a:rPr>
              <a:t>Deep: </a:t>
            </a:r>
            <a:r>
              <a:rPr lang="en-US" sz="1650" dirty="0">
                <a:solidFill>
                  <a:srgbClr val="777777"/>
                </a:solidFill>
                <a:latin typeface="Nunito Sans" pitchFamily="34" charset="0"/>
                <a:ea typeface="Nunito Sans" pitchFamily="34" charset="-122"/>
                <a:cs typeface="Nunito Sans" pitchFamily="34" charset="-120"/>
              </a:rPr>
              <a:t>bpm ≤ P40 AND motion ≤ P50</a:t>
            </a:r>
            <a:endParaRPr lang="en-US" sz="1650" dirty="0"/>
          </a:p>
        </p:txBody>
      </p:sp>
      <p:sp>
        <p:nvSpPr>
          <p:cNvPr id="17" name="Text 15"/>
          <p:cNvSpPr/>
          <p:nvPr/>
        </p:nvSpPr>
        <p:spPr>
          <a:xfrm>
            <a:off x="5394960" y="4648200"/>
            <a:ext cx="3704844" cy="327660"/>
          </a:xfrm>
          <a:prstGeom prst="rect">
            <a:avLst/>
          </a:prstGeom>
          <a:noFill/>
          <a:ln/>
        </p:spPr>
        <p:txBody>
          <a:bodyPr wrap="square" lIns="25400" tIns="25400" rIns="25400" bIns="25400" rtlCol="0" anchor="t">
            <a:normAutofit/>
          </a:bodyPr>
          <a:lstStyle/>
          <a:p>
            <a:pPr marL="0" indent="0" algn="l">
              <a:buNone/>
            </a:pPr>
            <a:r>
              <a:rPr lang="en-US" sz="1650" b="1" dirty="0">
                <a:solidFill>
                  <a:srgbClr val="1A1A1A"/>
                </a:solidFill>
                <a:latin typeface="Nunito Sans" pitchFamily="34" charset="0"/>
                <a:ea typeface="Nunito Sans" pitchFamily="34" charset="-122"/>
                <a:cs typeface="Nunito Sans" pitchFamily="34" charset="-120"/>
              </a:rPr>
              <a:t>Light: </a:t>
            </a:r>
            <a:r>
              <a:rPr lang="en-US" sz="1650" dirty="0">
                <a:solidFill>
                  <a:srgbClr val="777777"/>
                </a:solidFill>
                <a:latin typeface="Nunito Sans" pitchFamily="34" charset="0"/>
                <a:ea typeface="Nunito Sans" pitchFamily="34" charset="-122"/>
                <a:cs typeface="Nunito Sans" pitchFamily="34" charset="-120"/>
              </a:rPr>
              <a:t>all remaining windows</a:t>
            </a:r>
            <a:endParaRPr lang="en-US" sz="1650" dirty="0"/>
          </a:p>
        </p:txBody>
      </p:sp>
      <p:sp>
        <p:nvSpPr>
          <p:cNvPr id="18" name="Shape 16"/>
          <p:cNvSpPr/>
          <p:nvPr/>
        </p:nvSpPr>
        <p:spPr>
          <a:xfrm>
            <a:off x="9238145" y="1744980"/>
            <a:ext cx="3931920" cy="3398520"/>
          </a:xfrm>
          <a:prstGeom prst="roundRect">
            <a:avLst>
              <a:gd name="adj" fmla="val 2422"/>
            </a:avLst>
          </a:prstGeom>
          <a:ln w="15240">
            <a:solidFill>
              <a:srgbClr val="E8E4E0"/>
            </a:solidFill>
            <a:prstDash val="solid"/>
          </a:ln>
        </p:spPr>
        <p:txBody>
          <a:bodyPr/>
          <a:lstStyle/>
          <a:p>
            <a:endParaRPr lang="en-US"/>
          </a:p>
        </p:txBody>
      </p:sp>
      <p:sp>
        <p:nvSpPr>
          <p:cNvPr id="19" name="Shape 17"/>
          <p:cNvSpPr/>
          <p:nvPr/>
        </p:nvSpPr>
        <p:spPr>
          <a:xfrm>
            <a:off x="9555480" y="2065020"/>
            <a:ext cx="457200" cy="457200"/>
          </a:xfrm>
          <a:prstGeom prst="ellipse">
            <a:avLst/>
          </a:prstGeom>
          <a:solidFill>
            <a:srgbClr val="C0562B"/>
          </a:solidFill>
          <a:ln/>
        </p:spPr>
        <p:txBody>
          <a:bodyPr/>
          <a:lstStyle/>
          <a:p>
            <a:endParaRPr lang="en-US"/>
          </a:p>
        </p:txBody>
      </p:sp>
      <p:sp>
        <p:nvSpPr>
          <p:cNvPr id="20" name="Text 18"/>
          <p:cNvSpPr/>
          <p:nvPr/>
        </p:nvSpPr>
        <p:spPr>
          <a:xfrm>
            <a:off x="9717762" y="2160270"/>
            <a:ext cx="208717"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Sora" pitchFamily="34" charset="0"/>
                <a:ea typeface="Sora" pitchFamily="34" charset="-122"/>
                <a:cs typeface="Sora" pitchFamily="34" charset="-120"/>
              </a:rPr>
              <a:t>3</a:t>
            </a:r>
            <a:endParaRPr lang="en-US" sz="1650" dirty="0"/>
          </a:p>
        </p:txBody>
      </p:sp>
      <p:sp>
        <p:nvSpPr>
          <p:cNvPr id="21" name="Text 19"/>
          <p:cNvSpPr/>
          <p:nvPr/>
        </p:nvSpPr>
        <p:spPr>
          <a:xfrm>
            <a:off x="9555480" y="2617470"/>
            <a:ext cx="3704844" cy="373380"/>
          </a:xfrm>
          <a:prstGeom prst="rect">
            <a:avLst/>
          </a:prstGeom>
          <a:noFill/>
          <a:ln/>
        </p:spPr>
        <p:txBody>
          <a:bodyPr wrap="square" lIns="25400" tIns="25400" rIns="25400" bIns="25400" rtlCol="0" anchor="t">
            <a:normAutofit/>
          </a:bodyPr>
          <a:lstStyle/>
          <a:p>
            <a:pPr marL="0" indent="0" algn="l">
              <a:buNone/>
            </a:pPr>
            <a:r>
              <a:rPr lang="en-US" sz="2100" b="1" dirty="0">
                <a:solidFill>
                  <a:srgbClr val="1A1A1A"/>
                </a:solidFill>
                <a:latin typeface="Sora" pitchFamily="34" charset="0"/>
                <a:ea typeface="Sora" pitchFamily="34" charset="-122"/>
                <a:cs typeface="Sora" pitchFamily="34" charset="-120"/>
              </a:rPr>
              <a:t>KNN (k=5)</a:t>
            </a:r>
            <a:endParaRPr lang="en-US" sz="2100" dirty="0"/>
          </a:p>
        </p:txBody>
      </p:sp>
      <p:sp>
        <p:nvSpPr>
          <p:cNvPr id="22" name="Text 20"/>
          <p:cNvSpPr/>
          <p:nvPr/>
        </p:nvSpPr>
        <p:spPr>
          <a:xfrm>
            <a:off x="9555480" y="3048000"/>
            <a:ext cx="3469081" cy="1295400"/>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650" dirty="0">
                <a:solidFill>
                  <a:srgbClr val="777777"/>
                </a:solidFill>
                <a:latin typeface="Nunito Sans" pitchFamily="34" charset="0"/>
                <a:ea typeface="Nunito Sans" pitchFamily="34" charset="-122"/>
                <a:cs typeface="Nunito Sans" pitchFamily="34" charset="-120"/>
              </a:rPr>
              <a:t>Trained on K-Means labels. Distance-weighted Euclidean in 21D. Outputs per-class probabilities.</a:t>
            </a:r>
            <a:endParaRPr lang="en-US" sz="1650" dirty="0"/>
          </a:p>
        </p:txBody>
      </p:sp>
      <p:sp>
        <p:nvSpPr>
          <p:cNvPr id="23" name="Shape 21"/>
          <p:cNvSpPr/>
          <p:nvPr/>
        </p:nvSpPr>
        <p:spPr>
          <a:xfrm>
            <a:off x="13464540" y="1744980"/>
            <a:ext cx="3901440" cy="3398520"/>
          </a:xfrm>
          <a:prstGeom prst="roundRect">
            <a:avLst>
              <a:gd name="adj" fmla="val 2441"/>
            </a:avLst>
          </a:prstGeom>
          <a:solidFill>
            <a:srgbClr val="1A1A1A"/>
          </a:solidFill>
          <a:ln/>
        </p:spPr>
        <p:txBody>
          <a:bodyPr/>
          <a:lstStyle/>
          <a:p>
            <a:endParaRPr lang="en-US"/>
          </a:p>
        </p:txBody>
      </p:sp>
      <p:sp>
        <p:nvSpPr>
          <p:cNvPr id="24" name="Shape 22"/>
          <p:cNvSpPr/>
          <p:nvPr/>
        </p:nvSpPr>
        <p:spPr>
          <a:xfrm>
            <a:off x="13700760" y="2049780"/>
            <a:ext cx="457200" cy="457200"/>
          </a:xfrm>
          <a:prstGeom prst="ellipse">
            <a:avLst/>
          </a:prstGeom>
          <a:solidFill>
            <a:srgbClr val="C0562B"/>
          </a:solidFill>
          <a:ln/>
        </p:spPr>
        <p:txBody>
          <a:bodyPr/>
          <a:lstStyle/>
          <a:p>
            <a:endParaRPr lang="en-US"/>
          </a:p>
        </p:txBody>
      </p:sp>
      <p:sp>
        <p:nvSpPr>
          <p:cNvPr id="25" name="Text 23"/>
          <p:cNvSpPr/>
          <p:nvPr/>
        </p:nvSpPr>
        <p:spPr>
          <a:xfrm>
            <a:off x="13858875" y="2145030"/>
            <a:ext cx="217051" cy="304800"/>
          </a:xfrm>
          <a:prstGeom prst="rect">
            <a:avLst/>
          </a:prstGeom>
          <a:noFill/>
          <a:ln/>
        </p:spPr>
        <p:txBody>
          <a:bodyPr wrap="square" lIns="25400" tIns="25400" rIns="25400" bIns="25400" rtlCol="0" anchor="t">
            <a:normAutofit/>
          </a:bodyPr>
          <a:lstStyle/>
          <a:p>
            <a:pPr marL="0" indent="0" algn="l">
              <a:buNone/>
            </a:pPr>
            <a:r>
              <a:rPr lang="en-US" sz="1650" b="1" dirty="0">
                <a:solidFill>
                  <a:srgbClr val="FFFFFF"/>
                </a:solidFill>
                <a:latin typeface="Sora" pitchFamily="34" charset="0"/>
                <a:ea typeface="Sora" pitchFamily="34" charset="-122"/>
                <a:cs typeface="Sora" pitchFamily="34" charset="-120"/>
              </a:rPr>
              <a:t>4</a:t>
            </a:r>
            <a:endParaRPr lang="en-US" sz="1650" dirty="0"/>
          </a:p>
        </p:txBody>
      </p:sp>
      <p:sp>
        <p:nvSpPr>
          <p:cNvPr id="26" name="Text 24"/>
          <p:cNvSpPr/>
          <p:nvPr/>
        </p:nvSpPr>
        <p:spPr>
          <a:xfrm>
            <a:off x="13700760" y="2602230"/>
            <a:ext cx="3704844" cy="373380"/>
          </a:xfrm>
          <a:prstGeom prst="rect">
            <a:avLst/>
          </a:prstGeom>
          <a:noFill/>
          <a:ln/>
        </p:spPr>
        <p:txBody>
          <a:bodyPr wrap="square" lIns="25400" tIns="25400" rIns="25400" bIns="25400" rtlCol="0" anchor="t">
            <a:normAutofit/>
          </a:bodyPr>
          <a:lstStyle/>
          <a:p>
            <a:pPr marL="0" indent="0" algn="l">
              <a:buNone/>
            </a:pPr>
            <a:r>
              <a:rPr lang="en-US" sz="2100" b="1" dirty="0">
                <a:solidFill>
                  <a:srgbClr val="FFFFFF"/>
                </a:solidFill>
                <a:latin typeface="Sora" pitchFamily="34" charset="0"/>
                <a:ea typeface="Sora" pitchFamily="34" charset="-122"/>
                <a:cs typeface="Sora" pitchFamily="34" charset="-120"/>
              </a:rPr>
              <a:t>Smoothing</a:t>
            </a:r>
            <a:endParaRPr lang="en-US" sz="2100" dirty="0"/>
          </a:p>
        </p:txBody>
      </p:sp>
      <p:sp>
        <p:nvSpPr>
          <p:cNvPr id="27" name="Text 25"/>
          <p:cNvSpPr/>
          <p:nvPr/>
        </p:nvSpPr>
        <p:spPr>
          <a:xfrm>
            <a:off x="13700760" y="3032760"/>
            <a:ext cx="3704844"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FFFFFF">
                    <a:alpha val="70000"/>
                  </a:srgbClr>
                </a:solidFill>
                <a:latin typeface="Nunito Sans" pitchFamily="34" charset="0"/>
                <a:ea typeface="Nunito Sans" pitchFamily="34" charset="-122"/>
                <a:cs typeface="Nunito Sans" pitchFamily="34" charset="-120"/>
              </a:rPr>
              <a:t>3-epoch majority vote (90s)</a:t>
            </a:r>
            <a:endParaRPr lang="en-US" sz="1650" dirty="0"/>
          </a:p>
        </p:txBody>
      </p:sp>
      <p:sp>
        <p:nvSpPr>
          <p:cNvPr id="28" name="Text 26"/>
          <p:cNvSpPr/>
          <p:nvPr/>
        </p:nvSpPr>
        <p:spPr>
          <a:xfrm>
            <a:off x="13700760" y="3442335"/>
            <a:ext cx="3704844" cy="35242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650" dirty="0">
                <a:solidFill>
                  <a:srgbClr val="FFFFFF">
                    <a:alpha val="50000"/>
                  </a:srgbClr>
                </a:solidFill>
                <a:latin typeface="Nunito Sans" pitchFamily="34" charset="0"/>
                <a:ea typeface="Nunito Sans" pitchFamily="34" charset="-122"/>
                <a:cs typeface="Nunito Sans" pitchFamily="34" charset="-120"/>
              </a:rPr>
              <a:t>Deep cap: 25%, REM cap: 30%</a:t>
            </a:r>
            <a:endParaRPr lang="en-US" sz="1650" dirty="0"/>
          </a:p>
        </p:txBody>
      </p:sp>
      <p:sp>
        <p:nvSpPr>
          <p:cNvPr id="29" name="Shape 27"/>
          <p:cNvSpPr/>
          <p:nvPr/>
        </p:nvSpPr>
        <p:spPr>
          <a:xfrm>
            <a:off x="0" y="9639300"/>
            <a:ext cx="18288000" cy="9525"/>
          </a:xfrm>
          <a:prstGeom prst="rect">
            <a:avLst/>
          </a:prstGeom>
          <a:solidFill>
            <a:srgbClr val="EEEEEE"/>
          </a:solidFill>
          <a:ln/>
        </p:spPr>
        <p:txBody>
          <a:bodyPr/>
          <a:lstStyle/>
          <a:p>
            <a:endParaRPr lang="en-US"/>
          </a:p>
        </p:txBody>
      </p:sp>
      <p:sp>
        <p:nvSpPr>
          <p:cNvPr id="30" name="Text 28"/>
          <p:cNvSpPr/>
          <p:nvPr/>
        </p:nvSpPr>
        <p:spPr>
          <a:xfrm>
            <a:off x="952500" y="9837420"/>
            <a:ext cx="2436150"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Sleep Stage Classification</a:t>
            </a:r>
            <a:endParaRPr lang="en-US" sz="1500" dirty="0">
              <a:solidFill>
                <a:schemeClr val="accent2"/>
              </a:solidFill>
            </a:endParaRPr>
          </a:p>
        </p:txBody>
      </p:sp>
      <p:sp>
        <p:nvSpPr>
          <p:cNvPr id="31" name="Text 29"/>
          <p:cNvSpPr/>
          <p:nvPr/>
        </p:nvSpPr>
        <p:spPr>
          <a:xfrm>
            <a:off x="16784717" y="9848850"/>
            <a:ext cx="626983" cy="274320"/>
          </a:xfrm>
          <a:prstGeom prst="rect">
            <a:avLst/>
          </a:prstGeom>
          <a:noFill/>
          <a:ln/>
        </p:spPr>
        <p:txBody>
          <a:bodyPr wrap="square" lIns="25400" tIns="25400" rIns="25400" bIns="25400" rtlCol="0" anchor="t">
            <a:normAutofit fontScale="92500"/>
          </a:bodyPr>
          <a:lstStyle/>
          <a:p>
            <a:pPr marL="0" indent="0" algn="l">
              <a:buNone/>
            </a:pPr>
            <a:r>
              <a:rPr lang="en-US" sz="1500" b="1" dirty="0">
                <a:solidFill>
                  <a:srgbClr val="C0562B"/>
                </a:solidFill>
                <a:latin typeface="Sora" pitchFamily="34" charset="0"/>
                <a:ea typeface="Sora" pitchFamily="34" charset="-122"/>
                <a:cs typeface="Sora" pitchFamily="34" charset="-120"/>
              </a:rPr>
              <a:t>12 / 17</a:t>
            </a:r>
            <a:endParaRPr lang="en-US" sz="1500" dirty="0"/>
          </a:p>
        </p:txBody>
      </p:sp>
      <p:pic>
        <p:nvPicPr>
          <p:cNvPr id="32" name="Picture 31">
            <a:extLst>
              <a:ext uri="{FF2B5EF4-FFF2-40B4-BE49-F238E27FC236}">
                <a16:creationId xmlns:a16="http://schemas.microsoft.com/office/drawing/2014/main" id="{35880C1E-602E-CEB4-A05C-A9F701BC657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45257" y="5212341"/>
            <a:ext cx="7099683" cy="4436484"/>
          </a:xfrm>
          <a:prstGeom prst="rect">
            <a:avLst/>
          </a:prstGeom>
        </p:spPr>
      </p:pic>
      <p:pic>
        <p:nvPicPr>
          <p:cNvPr id="36" name="Picture 35">
            <a:extLst>
              <a:ext uri="{FF2B5EF4-FFF2-40B4-BE49-F238E27FC236}">
                <a16:creationId xmlns:a16="http://schemas.microsoft.com/office/drawing/2014/main" id="{B81F2117-9F85-ADD0-A547-B3DCF10396F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11218" y="5212341"/>
            <a:ext cx="5831525" cy="426255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224558"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07</a:t>
            </a:r>
            <a:endParaRPr lang="en-US" sz="6600" dirty="0">
              <a:solidFill>
                <a:schemeClr val="accent2"/>
              </a:solidFill>
            </a:endParaRPr>
          </a:p>
        </p:txBody>
      </p:sp>
      <p:sp>
        <p:nvSpPr>
          <p:cNvPr id="3" name="Text 1"/>
          <p:cNvSpPr/>
          <p:nvPr/>
        </p:nvSpPr>
        <p:spPr>
          <a:xfrm>
            <a:off x="2291358" y="830580"/>
            <a:ext cx="7533323"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Results: Hypnogram Analysis</a:t>
            </a:r>
            <a:endParaRPr lang="en-US" sz="3600" dirty="0"/>
          </a:p>
        </p:txBody>
      </p:sp>
      <p:sp>
        <p:nvSpPr>
          <p:cNvPr id="4" name="Text 2"/>
          <p:cNvSpPr/>
          <p:nvPr/>
        </p:nvSpPr>
        <p:spPr>
          <a:xfrm>
            <a:off x="952500" y="1592580"/>
            <a:ext cx="18021300" cy="350520"/>
          </a:xfrm>
          <a:prstGeom prst="rect">
            <a:avLst/>
          </a:prstGeom>
          <a:noFill/>
          <a:ln/>
        </p:spPr>
        <p:txBody>
          <a:bodyPr wrap="square" lIns="25400" tIns="25400" rIns="25400" bIns="25400" rtlCol="0" anchor="t">
            <a:normAutofit/>
          </a:bodyPr>
          <a:lstStyle/>
          <a:p>
            <a:pPr marL="0" indent="0" algn="l">
              <a:buNone/>
            </a:pPr>
            <a:r>
              <a:rPr lang="en-US" sz="1800" dirty="0">
                <a:solidFill>
                  <a:srgbClr val="999999"/>
                </a:solidFill>
                <a:latin typeface="Nunito Sans" pitchFamily="34" charset="0"/>
                <a:ea typeface="Nunito Sans" pitchFamily="34" charset="-122"/>
                <a:cs typeface="Nunito Sans" pitchFamily="34" charset="-120"/>
              </a:rPr>
              <a:t>10 overnight sessions · 8 subjects · 375–602 min per session</a:t>
            </a:r>
            <a:endParaRPr lang="en-US" sz="1800" dirty="0"/>
          </a:p>
        </p:txBody>
      </p:sp>
      <p:sp>
        <p:nvSpPr>
          <p:cNvPr id="8" name="Shape 6"/>
          <p:cNvSpPr/>
          <p:nvPr/>
        </p:nvSpPr>
        <p:spPr>
          <a:xfrm>
            <a:off x="0" y="9639300"/>
            <a:ext cx="18288000" cy="9525"/>
          </a:xfrm>
          <a:prstGeom prst="rect">
            <a:avLst/>
          </a:prstGeom>
          <a:solidFill>
            <a:srgbClr val="EEEEEE"/>
          </a:solidFill>
          <a:ln/>
        </p:spPr>
        <p:txBody>
          <a:bodyPr/>
          <a:lstStyle/>
          <a:p>
            <a:endParaRPr lang="en-US"/>
          </a:p>
        </p:txBody>
      </p:sp>
      <p:sp>
        <p:nvSpPr>
          <p:cNvPr id="9" name="Text 7"/>
          <p:cNvSpPr/>
          <p:nvPr/>
        </p:nvSpPr>
        <p:spPr>
          <a:xfrm>
            <a:off x="952500" y="9837420"/>
            <a:ext cx="1899702"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Results &amp; Validation</a:t>
            </a:r>
            <a:endParaRPr lang="en-US" sz="1500" dirty="0">
              <a:solidFill>
                <a:schemeClr val="accent2"/>
              </a:solidFill>
            </a:endParaRPr>
          </a:p>
        </p:txBody>
      </p:sp>
      <p:sp>
        <p:nvSpPr>
          <p:cNvPr id="10" name="Text 8"/>
          <p:cNvSpPr/>
          <p:nvPr/>
        </p:nvSpPr>
        <p:spPr>
          <a:xfrm>
            <a:off x="16784956" y="9848850"/>
            <a:ext cx="756069"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13 / 17</a:t>
            </a:r>
            <a:endParaRPr lang="en-US" sz="1500" dirty="0"/>
          </a:p>
        </p:txBody>
      </p:sp>
      <p:pic>
        <p:nvPicPr>
          <p:cNvPr id="12" name="Picture 11">
            <a:extLst>
              <a:ext uri="{FF2B5EF4-FFF2-40B4-BE49-F238E27FC236}">
                <a16:creationId xmlns:a16="http://schemas.microsoft.com/office/drawing/2014/main" id="{5674FF2A-5D61-436F-63B6-459EA2E0AE21}"/>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89181" y="1925785"/>
            <a:ext cx="12260160" cy="762118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224558"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07</a:t>
            </a:r>
            <a:endParaRPr lang="en-US" sz="6600" dirty="0">
              <a:solidFill>
                <a:schemeClr val="accent2"/>
              </a:solidFill>
            </a:endParaRPr>
          </a:p>
        </p:txBody>
      </p:sp>
      <p:sp>
        <p:nvSpPr>
          <p:cNvPr id="3" name="Text 1"/>
          <p:cNvSpPr/>
          <p:nvPr/>
        </p:nvSpPr>
        <p:spPr>
          <a:xfrm>
            <a:off x="2291358" y="830580"/>
            <a:ext cx="5084600"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Sleep Quality Score</a:t>
            </a:r>
            <a:endParaRPr lang="en-US" sz="3600" dirty="0"/>
          </a:p>
        </p:txBody>
      </p:sp>
      <p:sp>
        <p:nvSpPr>
          <p:cNvPr id="4" name="Text 2"/>
          <p:cNvSpPr/>
          <p:nvPr/>
        </p:nvSpPr>
        <p:spPr>
          <a:xfrm>
            <a:off x="952500" y="1592580"/>
            <a:ext cx="18021300" cy="350520"/>
          </a:xfrm>
          <a:prstGeom prst="rect">
            <a:avLst/>
          </a:prstGeom>
          <a:noFill/>
          <a:ln/>
        </p:spPr>
        <p:txBody>
          <a:bodyPr wrap="square" lIns="25400" tIns="25400" rIns="25400" bIns="25400" rtlCol="0" anchor="t">
            <a:normAutofit/>
          </a:bodyPr>
          <a:lstStyle/>
          <a:p>
            <a:pPr marL="0" indent="0" algn="l">
              <a:buNone/>
            </a:pPr>
            <a:r>
              <a:rPr lang="en-US" sz="1800" dirty="0">
                <a:solidFill>
                  <a:srgbClr val="999999"/>
                </a:solidFill>
                <a:latin typeface="Nunito Sans" pitchFamily="34" charset="0"/>
                <a:ea typeface="Nunito Sans" pitchFamily="34" charset="-122"/>
                <a:cs typeface="Nunito Sans" pitchFamily="34" charset="-120"/>
              </a:rPr>
              <a:t>0–100 scale from 6 components · Duration penalty: up to −15 pts for sessions &lt;6 hours</a:t>
            </a:r>
            <a:endParaRPr lang="en-US" sz="1800" dirty="0"/>
          </a:p>
        </p:txBody>
      </p:sp>
      <p:sp>
        <p:nvSpPr>
          <p:cNvPr id="5" name="Shape 3"/>
          <p:cNvSpPr/>
          <p:nvPr/>
        </p:nvSpPr>
        <p:spPr>
          <a:xfrm>
            <a:off x="952500" y="3457575"/>
            <a:ext cx="10994858" cy="872490"/>
          </a:xfrm>
          <a:prstGeom prst="roundRect">
            <a:avLst>
              <a:gd name="adj" fmla="val 8734"/>
            </a:avLst>
          </a:prstGeom>
          <a:solidFill>
            <a:srgbClr val="F5F3F0"/>
          </a:solidFill>
          <a:ln/>
        </p:spPr>
        <p:txBody>
          <a:bodyPr/>
          <a:lstStyle/>
          <a:p>
            <a:endParaRPr lang="en-US"/>
          </a:p>
        </p:txBody>
      </p:sp>
      <p:sp>
        <p:nvSpPr>
          <p:cNvPr id="6" name="Text 4"/>
          <p:cNvSpPr/>
          <p:nvPr/>
        </p:nvSpPr>
        <p:spPr>
          <a:xfrm>
            <a:off x="1143000" y="3699510"/>
            <a:ext cx="647700"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C0562B"/>
                </a:solidFill>
                <a:latin typeface="Sora" pitchFamily="34" charset="0"/>
                <a:ea typeface="Sora" pitchFamily="34" charset="-122"/>
                <a:cs typeface="Sora" pitchFamily="34" charset="-120"/>
              </a:rPr>
              <a:t>/30</a:t>
            </a:r>
            <a:endParaRPr lang="en-US" sz="2400" dirty="0"/>
          </a:p>
        </p:txBody>
      </p:sp>
      <p:sp>
        <p:nvSpPr>
          <p:cNvPr id="7" name="Text 5"/>
          <p:cNvSpPr/>
          <p:nvPr/>
        </p:nvSpPr>
        <p:spPr>
          <a:xfrm>
            <a:off x="1866900" y="3609975"/>
            <a:ext cx="1642086"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1A1A1A"/>
                </a:solidFill>
                <a:latin typeface="Sora" pitchFamily="34" charset="0"/>
                <a:ea typeface="Sora" pitchFamily="34" charset="-122"/>
                <a:cs typeface="Sora" pitchFamily="34" charset="-120"/>
              </a:rPr>
              <a:t>Architecture</a:t>
            </a:r>
            <a:endParaRPr lang="en-US" sz="1800" dirty="0"/>
          </a:p>
        </p:txBody>
      </p:sp>
      <p:sp>
        <p:nvSpPr>
          <p:cNvPr id="8" name="Text 6"/>
          <p:cNvSpPr/>
          <p:nvPr/>
        </p:nvSpPr>
        <p:spPr>
          <a:xfrm>
            <a:off x="1866900" y="3918585"/>
            <a:ext cx="3706677" cy="297180"/>
          </a:xfrm>
          <a:prstGeom prst="rect">
            <a:avLst/>
          </a:prstGeom>
          <a:noFill/>
          <a:ln/>
        </p:spPr>
        <p:txBody>
          <a:bodyPr wrap="square" lIns="25400" tIns="25400" rIns="25400" bIns="25400" rtlCol="0" anchor="t">
            <a:normAutofit/>
          </a:bodyPr>
          <a:lstStyle/>
          <a:p>
            <a:pPr marL="0" indent="0" algn="l">
              <a:buNone/>
            </a:pPr>
            <a:r>
              <a:rPr lang="en-US" sz="1500" dirty="0">
                <a:solidFill>
                  <a:srgbClr val="999999"/>
                </a:solidFill>
                <a:latin typeface="Nunito Sans" pitchFamily="34" charset="0"/>
                <a:ea typeface="Nunito Sans" pitchFamily="34" charset="-122"/>
                <a:cs typeface="Nunito Sans" pitchFamily="34" charset="-120"/>
              </a:rPr>
              <a:t>Deep ≥ 25%, REM ≥ 25%, Wake &lt; 15%</a:t>
            </a:r>
            <a:endParaRPr lang="en-US" sz="1500" dirty="0"/>
          </a:p>
        </p:txBody>
      </p:sp>
      <p:sp>
        <p:nvSpPr>
          <p:cNvPr id="9" name="Shape 7"/>
          <p:cNvSpPr/>
          <p:nvPr/>
        </p:nvSpPr>
        <p:spPr>
          <a:xfrm>
            <a:off x="952500" y="4444365"/>
            <a:ext cx="10994858" cy="872490"/>
          </a:xfrm>
          <a:prstGeom prst="roundRect">
            <a:avLst>
              <a:gd name="adj" fmla="val 8734"/>
            </a:avLst>
          </a:prstGeom>
          <a:solidFill>
            <a:srgbClr val="F5F3F0"/>
          </a:solidFill>
          <a:ln/>
        </p:spPr>
        <p:txBody>
          <a:bodyPr/>
          <a:lstStyle/>
          <a:p>
            <a:endParaRPr lang="en-US"/>
          </a:p>
        </p:txBody>
      </p:sp>
      <p:sp>
        <p:nvSpPr>
          <p:cNvPr id="10" name="Text 8"/>
          <p:cNvSpPr/>
          <p:nvPr/>
        </p:nvSpPr>
        <p:spPr>
          <a:xfrm>
            <a:off x="1143000" y="4686300"/>
            <a:ext cx="647700"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C0562B"/>
                </a:solidFill>
                <a:latin typeface="Sora" pitchFamily="34" charset="0"/>
                <a:ea typeface="Sora" pitchFamily="34" charset="-122"/>
                <a:cs typeface="Sora" pitchFamily="34" charset="-120"/>
              </a:rPr>
              <a:t>/20</a:t>
            </a:r>
            <a:endParaRPr lang="en-US" sz="2400" dirty="0"/>
          </a:p>
        </p:txBody>
      </p:sp>
      <p:sp>
        <p:nvSpPr>
          <p:cNvPr id="11" name="Text 9"/>
          <p:cNvSpPr/>
          <p:nvPr/>
        </p:nvSpPr>
        <p:spPr>
          <a:xfrm>
            <a:off x="1866900" y="4596765"/>
            <a:ext cx="1528667"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1A1A1A"/>
                </a:solidFill>
                <a:latin typeface="Sora" pitchFamily="34" charset="0"/>
                <a:ea typeface="Sora" pitchFamily="34" charset="-122"/>
                <a:cs typeface="Sora" pitchFamily="34" charset="-120"/>
              </a:rPr>
              <a:t>PPG Quality</a:t>
            </a:r>
            <a:endParaRPr lang="en-US" sz="1800" dirty="0"/>
          </a:p>
        </p:txBody>
      </p:sp>
      <p:sp>
        <p:nvSpPr>
          <p:cNvPr id="12" name="Text 10"/>
          <p:cNvSpPr/>
          <p:nvPr/>
        </p:nvSpPr>
        <p:spPr>
          <a:xfrm>
            <a:off x="1866900" y="4905375"/>
            <a:ext cx="2360319" cy="297180"/>
          </a:xfrm>
          <a:prstGeom prst="rect">
            <a:avLst/>
          </a:prstGeom>
          <a:noFill/>
          <a:ln/>
        </p:spPr>
        <p:txBody>
          <a:bodyPr wrap="square" lIns="25400" tIns="25400" rIns="25400" bIns="25400" rtlCol="0" anchor="t">
            <a:normAutofit/>
          </a:bodyPr>
          <a:lstStyle/>
          <a:p>
            <a:pPr marL="0" indent="0" algn="l">
              <a:buNone/>
            </a:pPr>
            <a:r>
              <a:rPr lang="en-US" sz="1500" dirty="0">
                <a:solidFill>
                  <a:srgbClr val="999999"/>
                </a:solidFill>
                <a:latin typeface="Nunito Sans" pitchFamily="34" charset="0"/>
                <a:ea typeface="Nunito Sans" pitchFamily="34" charset="-122"/>
                <a:cs typeface="Nunito Sans" pitchFamily="34" charset="-120"/>
              </a:rPr>
              <a:t>BPM 45–70, SpO₂ ≥ 95%</a:t>
            </a:r>
            <a:endParaRPr lang="en-US" sz="1500" dirty="0"/>
          </a:p>
        </p:txBody>
      </p:sp>
      <p:sp>
        <p:nvSpPr>
          <p:cNvPr id="13" name="Shape 11"/>
          <p:cNvSpPr/>
          <p:nvPr/>
        </p:nvSpPr>
        <p:spPr>
          <a:xfrm>
            <a:off x="952500" y="5431155"/>
            <a:ext cx="10994858" cy="872490"/>
          </a:xfrm>
          <a:prstGeom prst="roundRect">
            <a:avLst>
              <a:gd name="adj" fmla="val 8734"/>
            </a:avLst>
          </a:prstGeom>
          <a:solidFill>
            <a:srgbClr val="F5F3F0"/>
          </a:solidFill>
          <a:ln/>
        </p:spPr>
        <p:txBody>
          <a:bodyPr/>
          <a:lstStyle/>
          <a:p>
            <a:endParaRPr lang="en-US"/>
          </a:p>
        </p:txBody>
      </p:sp>
      <p:sp>
        <p:nvSpPr>
          <p:cNvPr id="14" name="Text 12"/>
          <p:cNvSpPr/>
          <p:nvPr/>
        </p:nvSpPr>
        <p:spPr>
          <a:xfrm>
            <a:off x="1143000" y="5673090"/>
            <a:ext cx="647700"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C0562B"/>
                </a:solidFill>
                <a:latin typeface="Sora" pitchFamily="34" charset="0"/>
                <a:ea typeface="Sora" pitchFamily="34" charset="-122"/>
                <a:cs typeface="Sora" pitchFamily="34" charset="-120"/>
              </a:rPr>
              <a:t>/20</a:t>
            </a:r>
            <a:endParaRPr lang="en-US" sz="2400" dirty="0"/>
          </a:p>
        </p:txBody>
      </p:sp>
      <p:sp>
        <p:nvSpPr>
          <p:cNvPr id="15" name="Text 13"/>
          <p:cNvSpPr/>
          <p:nvPr/>
        </p:nvSpPr>
        <p:spPr>
          <a:xfrm>
            <a:off x="1866900" y="5583555"/>
            <a:ext cx="1505748"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1A1A1A"/>
                </a:solidFill>
                <a:latin typeface="Sora" pitchFamily="34" charset="0"/>
                <a:ea typeface="Sora" pitchFamily="34" charset="-122"/>
                <a:cs typeface="Sora" pitchFamily="34" charset="-120"/>
              </a:rPr>
              <a:t>Respiration</a:t>
            </a:r>
            <a:endParaRPr lang="en-US" sz="1800" dirty="0"/>
          </a:p>
        </p:txBody>
      </p:sp>
      <p:sp>
        <p:nvSpPr>
          <p:cNvPr id="16" name="Text 14"/>
          <p:cNvSpPr/>
          <p:nvPr/>
        </p:nvSpPr>
        <p:spPr>
          <a:xfrm>
            <a:off x="1866900" y="5892165"/>
            <a:ext cx="3321368" cy="297180"/>
          </a:xfrm>
          <a:prstGeom prst="rect">
            <a:avLst/>
          </a:prstGeom>
          <a:noFill/>
          <a:ln/>
        </p:spPr>
        <p:txBody>
          <a:bodyPr wrap="square" lIns="25400" tIns="25400" rIns="25400" bIns="25400" rtlCol="0" anchor="t">
            <a:normAutofit/>
          </a:bodyPr>
          <a:lstStyle/>
          <a:p>
            <a:pPr marL="0" indent="0" algn="l">
              <a:buNone/>
            </a:pPr>
            <a:r>
              <a:rPr lang="en-US" sz="1500" dirty="0">
                <a:solidFill>
                  <a:srgbClr val="999999"/>
                </a:solidFill>
                <a:latin typeface="Nunito Sans" pitchFamily="34" charset="0"/>
                <a:ea typeface="Nunito Sans" pitchFamily="34" charset="-122"/>
                <a:cs typeface="Nunito Sans" pitchFamily="34" charset="-120"/>
              </a:rPr>
              <a:t>RR 10–18, apnea &lt; 2% of windows</a:t>
            </a:r>
            <a:endParaRPr lang="en-US" sz="1500" dirty="0"/>
          </a:p>
        </p:txBody>
      </p:sp>
      <p:sp>
        <p:nvSpPr>
          <p:cNvPr id="17" name="Shape 15"/>
          <p:cNvSpPr/>
          <p:nvPr/>
        </p:nvSpPr>
        <p:spPr>
          <a:xfrm>
            <a:off x="952500" y="6417945"/>
            <a:ext cx="10994858" cy="872490"/>
          </a:xfrm>
          <a:prstGeom prst="roundRect">
            <a:avLst>
              <a:gd name="adj" fmla="val 8734"/>
            </a:avLst>
          </a:prstGeom>
          <a:solidFill>
            <a:srgbClr val="F5F3F0"/>
          </a:solidFill>
          <a:ln/>
        </p:spPr>
        <p:txBody>
          <a:bodyPr/>
          <a:lstStyle/>
          <a:p>
            <a:endParaRPr lang="en-US"/>
          </a:p>
        </p:txBody>
      </p:sp>
      <p:sp>
        <p:nvSpPr>
          <p:cNvPr id="18" name="Text 16"/>
          <p:cNvSpPr/>
          <p:nvPr/>
        </p:nvSpPr>
        <p:spPr>
          <a:xfrm>
            <a:off x="1143000" y="6659880"/>
            <a:ext cx="647700"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C0562B"/>
                </a:solidFill>
                <a:latin typeface="Sora" pitchFamily="34" charset="0"/>
                <a:ea typeface="Sora" pitchFamily="34" charset="-122"/>
                <a:cs typeface="Sora" pitchFamily="34" charset="-120"/>
              </a:rPr>
              <a:t>/15</a:t>
            </a:r>
            <a:endParaRPr lang="en-US" sz="2400" dirty="0"/>
          </a:p>
        </p:txBody>
      </p:sp>
      <p:sp>
        <p:nvSpPr>
          <p:cNvPr id="19" name="Text 17"/>
          <p:cNvSpPr/>
          <p:nvPr/>
        </p:nvSpPr>
        <p:spPr>
          <a:xfrm>
            <a:off x="1866900" y="6570345"/>
            <a:ext cx="1380542"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1A1A1A"/>
                </a:solidFill>
                <a:latin typeface="Sora" pitchFamily="34" charset="0"/>
                <a:ea typeface="Sora" pitchFamily="34" charset="-122"/>
                <a:cs typeface="Sora" pitchFamily="34" charset="-120"/>
              </a:rPr>
              <a:t>Movement</a:t>
            </a:r>
            <a:endParaRPr lang="en-US" sz="1800" dirty="0"/>
          </a:p>
        </p:txBody>
      </p:sp>
      <p:sp>
        <p:nvSpPr>
          <p:cNvPr id="20" name="Text 18"/>
          <p:cNvSpPr/>
          <p:nvPr/>
        </p:nvSpPr>
        <p:spPr>
          <a:xfrm>
            <a:off x="1866900" y="6878955"/>
            <a:ext cx="2178927" cy="297180"/>
          </a:xfrm>
          <a:prstGeom prst="rect">
            <a:avLst/>
          </a:prstGeom>
          <a:noFill/>
          <a:ln/>
        </p:spPr>
        <p:txBody>
          <a:bodyPr wrap="square" lIns="25400" tIns="25400" rIns="25400" bIns="25400" rtlCol="0" anchor="t">
            <a:normAutofit/>
          </a:bodyPr>
          <a:lstStyle/>
          <a:p>
            <a:pPr marL="0" indent="0" algn="l">
              <a:buNone/>
            </a:pPr>
            <a:r>
              <a:rPr lang="en-US" sz="1500" dirty="0">
                <a:solidFill>
                  <a:srgbClr val="999999"/>
                </a:solidFill>
                <a:latin typeface="Nunito Sans" pitchFamily="34" charset="0"/>
                <a:ea typeface="Nunito Sans" pitchFamily="34" charset="-122"/>
                <a:cs typeface="Nunito Sans" pitchFamily="34" charset="-120"/>
              </a:rPr>
              <a:t>Median motion &lt; 0.05g</a:t>
            </a:r>
            <a:endParaRPr lang="en-US" sz="1500" dirty="0"/>
          </a:p>
        </p:txBody>
      </p:sp>
      <p:sp>
        <p:nvSpPr>
          <p:cNvPr id="21" name="Shape 19"/>
          <p:cNvSpPr/>
          <p:nvPr/>
        </p:nvSpPr>
        <p:spPr>
          <a:xfrm>
            <a:off x="952500" y="7404735"/>
            <a:ext cx="6076950" cy="872490"/>
          </a:xfrm>
          <a:prstGeom prst="roundRect">
            <a:avLst>
              <a:gd name="adj" fmla="val 8734"/>
            </a:avLst>
          </a:prstGeom>
          <a:solidFill>
            <a:srgbClr val="F5F3F0"/>
          </a:solidFill>
          <a:ln/>
        </p:spPr>
        <p:txBody>
          <a:bodyPr/>
          <a:lstStyle/>
          <a:p>
            <a:endParaRPr lang="en-US"/>
          </a:p>
        </p:txBody>
      </p:sp>
      <p:sp>
        <p:nvSpPr>
          <p:cNvPr id="22" name="Text 20"/>
          <p:cNvSpPr/>
          <p:nvPr/>
        </p:nvSpPr>
        <p:spPr>
          <a:xfrm>
            <a:off x="1143000" y="7646670"/>
            <a:ext cx="563285"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C0562B"/>
                </a:solidFill>
                <a:latin typeface="Sora" pitchFamily="34" charset="0"/>
                <a:ea typeface="Sora" pitchFamily="34" charset="-122"/>
                <a:cs typeface="Sora" pitchFamily="34" charset="-120"/>
              </a:rPr>
              <a:t>/10</a:t>
            </a:r>
            <a:endParaRPr lang="en-US" sz="2400" dirty="0"/>
          </a:p>
        </p:txBody>
      </p:sp>
      <p:sp>
        <p:nvSpPr>
          <p:cNvPr id="23" name="Text 21"/>
          <p:cNvSpPr/>
          <p:nvPr/>
        </p:nvSpPr>
        <p:spPr>
          <a:xfrm>
            <a:off x="1782485" y="7557135"/>
            <a:ext cx="587693"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1A1A1A"/>
                </a:solidFill>
                <a:latin typeface="Sora" pitchFamily="34" charset="0"/>
                <a:ea typeface="Sora" pitchFamily="34" charset="-122"/>
                <a:cs typeface="Sora" pitchFamily="34" charset="-120"/>
              </a:rPr>
              <a:t>HRV</a:t>
            </a:r>
            <a:endParaRPr lang="en-US" sz="1800" dirty="0"/>
          </a:p>
        </p:txBody>
      </p:sp>
      <p:sp>
        <p:nvSpPr>
          <p:cNvPr id="24" name="Text 22"/>
          <p:cNvSpPr/>
          <p:nvPr/>
        </p:nvSpPr>
        <p:spPr>
          <a:xfrm>
            <a:off x="1782485" y="7865745"/>
            <a:ext cx="1853994" cy="297180"/>
          </a:xfrm>
          <a:prstGeom prst="rect">
            <a:avLst/>
          </a:prstGeom>
          <a:noFill/>
          <a:ln/>
        </p:spPr>
        <p:txBody>
          <a:bodyPr wrap="square" lIns="25400" tIns="25400" rIns="25400" bIns="25400" rtlCol="0" anchor="t">
            <a:normAutofit/>
          </a:bodyPr>
          <a:lstStyle/>
          <a:p>
            <a:pPr marL="0" indent="0" algn="l">
              <a:buNone/>
            </a:pPr>
            <a:r>
              <a:rPr lang="en-US" sz="1500" dirty="0">
                <a:solidFill>
                  <a:srgbClr val="999999"/>
                </a:solidFill>
                <a:latin typeface="Nunito Sans" pitchFamily="34" charset="0"/>
                <a:ea typeface="Nunito Sans" pitchFamily="34" charset="-122"/>
                <a:cs typeface="Nunito Sans" pitchFamily="34" charset="-120"/>
              </a:rPr>
              <a:t>RMSSD 30–100 ms</a:t>
            </a:r>
            <a:endParaRPr lang="en-US" sz="1500" dirty="0"/>
          </a:p>
        </p:txBody>
      </p:sp>
      <p:sp>
        <p:nvSpPr>
          <p:cNvPr id="25" name="Shape 23"/>
          <p:cNvSpPr/>
          <p:nvPr/>
        </p:nvSpPr>
        <p:spPr>
          <a:xfrm>
            <a:off x="7143750" y="7404735"/>
            <a:ext cx="4803608" cy="872490"/>
          </a:xfrm>
          <a:prstGeom prst="roundRect">
            <a:avLst>
              <a:gd name="adj" fmla="val 8734"/>
            </a:avLst>
          </a:prstGeom>
          <a:solidFill>
            <a:srgbClr val="F5F3F0"/>
          </a:solidFill>
          <a:ln/>
        </p:spPr>
        <p:txBody>
          <a:bodyPr/>
          <a:lstStyle/>
          <a:p>
            <a:endParaRPr lang="en-US"/>
          </a:p>
        </p:txBody>
      </p:sp>
      <p:sp>
        <p:nvSpPr>
          <p:cNvPr id="26" name="Text 24"/>
          <p:cNvSpPr/>
          <p:nvPr/>
        </p:nvSpPr>
        <p:spPr>
          <a:xfrm>
            <a:off x="7334250" y="7646670"/>
            <a:ext cx="396597" cy="426720"/>
          </a:xfrm>
          <a:prstGeom prst="rect">
            <a:avLst/>
          </a:prstGeom>
          <a:noFill/>
          <a:ln/>
        </p:spPr>
        <p:txBody>
          <a:bodyPr wrap="square" lIns="25400" tIns="25400" rIns="25400" bIns="25400" rtlCol="0" anchor="t">
            <a:normAutofit/>
          </a:bodyPr>
          <a:lstStyle/>
          <a:p>
            <a:pPr marL="0" indent="0" algn="l">
              <a:buNone/>
            </a:pPr>
            <a:r>
              <a:rPr lang="en-US" sz="2400" b="1" dirty="0">
                <a:solidFill>
                  <a:srgbClr val="C0562B"/>
                </a:solidFill>
                <a:latin typeface="Sora" pitchFamily="34" charset="0"/>
                <a:ea typeface="Sora" pitchFamily="34" charset="-122"/>
                <a:cs typeface="Sora" pitchFamily="34" charset="-120"/>
              </a:rPr>
              <a:t>/5</a:t>
            </a:r>
            <a:endParaRPr lang="en-US" sz="2400" dirty="0"/>
          </a:p>
        </p:txBody>
      </p:sp>
      <p:sp>
        <p:nvSpPr>
          <p:cNvPr id="27" name="Text 25"/>
          <p:cNvSpPr/>
          <p:nvPr/>
        </p:nvSpPr>
        <p:spPr>
          <a:xfrm>
            <a:off x="7807047" y="7557135"/>
            <a:ext cx="1007626"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1A1A1A"/>
                </a:solidFill>
                <a:latin typeface="Sora" pitchFamily="34" charset="0"/>
                <a:ea typeface="Sora" pitchFamily="34" charset="-122"/>
                <a:cs typeface="Sora" pitchFamily="34" charset="-120"/>
              </a:rPr>
              <a:t>Snoring</a:t>
            </a:r>
            <a:endParaRPr lang="en-US" sz="1800" dirty="0"/>
          </a:p>
        </p:txBody>
      </p:sp>
      <p:sp>
        <p:nvSpPr>
          <p:cNvPr id="28" name="Text 26"/>
          <p:cNvSpPr/>
          <p:nvPr/>
        </p:nvSpPr>
        <p:spPr>
          <a:xfrm>
            <a:off x="7807047" y="7865745"/>
            <a:ext cx="1345573" cy="297180"/>
          </a:xfrm>
          <a:prstGeom prst="rect">
            <a:avLst/>
          </a:prstGeom>
          <a:noFill/>
          <a:ln/>
        </p:spPr>
        <p:txBody>
          <a:bodyPr wrap="square" lIns="25400" tIns="25400" rIns="25400" bIns="25400" rtlCol="0" anchor="t">
            <a:normAutofit/>
          </a:bodyPr>
          <a:lstStyle/>
          <a:p>
            <a:pPr marL="0" indent="0" algn="l">
              <a:buNone/>
            </a:pPr>
            <a:r>
              <a:rPr lang="en-US" sz="1500" dirty="0">
                <a:solidFill>
                  <a:srgbClr val="999999"/>
                </a:solidFill>
                <a:latin typeface="Nunito Sans" pitchFamily="34" charset="0"/>
                <a:ea typeface="Nunito Sans" pitchFamily="34" charset="-122"/>
                <a:cs typeface="Nunito Sans" pitchFamily="34" charset="-120"/>
              </a:rPr>
              <a:t>0 events = full</a:t>
            </a:r>
            <a:endParaRPr lang="en-US" sz="1500" dirty="0"/>
          </a:p>
        </p:txBody>
      </p:sp>
      <p:sp>
        <p:nvSpPr>
          <p:cNvPr id="32" name="Shape 30"/>
          <p:cNvSpPr/>
          <p:nvPr/>
        </p:nvSpPr>
        <p:spPr>
          <a:xfrm>
            <a:off x="13601700" y="7379970"/>
            <a:ext cx="1866900" cy="411480"/>
          </a:xfrm>
          <a:prstGeom prst="roundRect">
            <a:avLst>
              <a:gd name="adj" fmla="val 13889"/>
            </a:avLst>
          </a:prstGeom>
          <a:solidFill>
            <a:srgbClr val="F5F3F0"/>
          </a:solidFill>
          <a:ln/>
        </p:spPr>
        <p:txBody>
          <a:bodyPr/>
          <a:lstStyle/>
          <a:p>
            <a:endParaRPr lang="en-US"/>
          </a:p>
        </p:txBody>
      </p:sp>
      <p:sp>
        <p:nvSpPr>
          <p:cNvPr id="33" name="Text 31"/>
          <p:cNvSpPr/>
          <p:nvPr/>
        </p:nvSpPr>
        <p:spPr>
          <a:xfrm>
            <a:off x="13639800" y="7456170"/>
            <a:ext cx="1790700" cy="297180"/>
          </a:xfrm>
          <a:prstGeom prst="rect">
            <a:avLst/>
          </a:prstGeom>
          <a:noFill/>
          <a:ln/>
        </p:spPr>
        <p:txBody>
          <a:bodyPr wrap="square" lIns="25400" tIns="25400" rIns="25400" bIns="25400" rtlCol="0" anchor="t">
            <a:normAutofit/>
          </a:bodyPr>
          <a:lstStyle/>
          <a:p>
            <a:pPr marL="0" indent="0" algn="ctr">
              <a:buNone/>
            </a:pPr>
            <a:r>
              <a:rPr lang="en-US" sz="1500" dirty="0">
                <a:solidFill>
                  <a:srgbClr val="777777"/>
                </a:solidFill>
                <a:latin typeface="Nunito Sans" pitchFamily="34" charset="0"/>
                <a:ea typeface="Nunito Sans" pitchFamily="34" charset="-122"/>
                <a:cs typeface="Nunito Sans" pitchFamily="34" charset="-120"/>
              </a:rPr>
              <a:t>85–100 Excellent</a:t>
            </a:r>
            <a:endParaRPr lang="en-US" sz="1500" dirty="0"/>
          </a:p>
        </p:txBody>
      </p:sp>
      <p:sp>
        <p:nvSpPr>
          <p:cNvPr id="34" name="Shape 32"/>
          <p:cNvSpPr/>
          <p:nvPr/>
        </p:nvSpPr>
        <p:spPr>
          <a:xfrm>
            <a:off x="15544800" y="7379970"/>
            <a:ext cx="1866900" cy="411480"/>
          </a:xfrm>
          <a:prstGeom prst="roundRect">
            <a:avLst>
              <a:gd name="adj" fmla="val 13889"/>
            </a:avLst>
          </a:prstGeom>
          <a:solidFill>
            <a:srgbClr val="F5F3F0"/>
          </a:solidFill>
          <a:ln/>
        </p:spPr>
        <p:txBody>
          <a:bodyPr/>
          <a:lstStyle/>
          <a:p>
            <a:endParaRPr lang="en-US"/>
          </a:p>
        </p:txBody>
      </p:sp>
      <p:sp>
        <p:nvSpPr>
          <p:cNvPr id="35" name="Text 33"/>
          <p:cNvSpPr/>
          <p:nvPr/>
        </p:nvSpPr>
        <p:spPr>
          <a:xfrm>
            <a:off x="15582900" y="7456170"/>
            <a:ext cx="1790700" cy="297180"/>
          </a:xfrm>
          <a:prstGeom prst="rect">
            <a:avLst/>
          </a:prstGeom>
          <a:noFill/>
          <a:ln/>
        </p:spPr>
        <p:txBody>
          <a:bodyPr wrap="square" lIns="25400" tIns="25400" rIns="25400" bIns="25400" rtlCol="0" anchor="t">
            <a:normAutofit/>
          </a:bodyPr>
          <a:lstStyle/>
          <a:p>
            <a:pPr marL="0" indent="0" algn="ctr">
              <a:buNone/>
            </a:pPr>
            <a:r>
              <a:rPr lang="en-US" sz="1500" dirty="0">
                <a:solidFill>
                  <a:srgbClr val="777777"/>
                </a:solidFill>
                <a:latin typeface="Nunito Sans" pitchFamily="34" charset="0"/>
                <a:ea typeface="Nunito Sans" pitchFamily="34" charset="-122"/>
                <a:cs typeface="Nunito Sans" pitchFamily="34" charset="-120"/>
              </a:rPr>
              <a:t>70–84 Good</a:t>
            </a:r>
            <a:endParaRPr lang="en-US" sz="1500" dirty="0"/>
          </a:p>
        </p:txBody>
      </p:sp>
      <p:sp>
        <p:nvSpPr>
          <p:cNvPr id="36" name="Shape 34"/>
          <p:cNvSpPr/>
          <p:nvPr/>
        </p:nvSpPr>
        <p:spPr>
          <a:xfrm>
            <a:off x="13601700" y="7867650"/>
            <a:ext cx="1866900" cy="411480"/>
          </a:xfrm>
          <a:prstGeom prst="roundRect">
            <a:avLst>
              <a:gd name="adj" fmla="val 13889"/>
            </a:avLst>
          </a:prstGeom>
          <a:solidFill>
            <a:srgbClr val="F5F3F0"/>
          </a:solidFill>
          <a:ln/>
        </p:spPr>
        <p:txBody>
          <a:bodyPr/>
          <a:lstStyle/>
          <a:p>
            <a:endParaRPr lang="en-US"/>
          </a:p>
        </p:txBody>
      </p:sp>
      <p:sp>
        <p:nvSpPr>
          <p:cNvPr id="37" name="Text 35"/>
          <p:cNvSpPr/>
          <p:nvPr/>
        </p:nvSpPr>
        <p:spPr>
          <a:xfrm>
            <a:off x="13639800" y="7943850"/>
            <a:ext cx="1790700" cy="297180"/>
          </a:xfrm>
          <a:prstGeom prst="rect">
            <a:avLst/>
          </a:prstGeom>
          <a:noFill/>
          <a:ln/>
        </p:spPr>
        <p:txBody>
          <a:bodyPr wrap="square" lIns="25400" tIns="25400" rIns="25400" bIns="25400" rtlCol="0" anchor="t">
            <a:normAutofit/>
          </a:bodyPr>
          <a:lstStyle/>
          <a:p>
            <a:pPr marL="0" indent="0" algn="ctr">
              <a:buNone/>
            </a:pPr>
            <a:r>
              <a:rPr lang="en-US" sz="1500" dirty="0">
                <a:solidFill>
                  <a:srgbClr val="777777"/>
                </a:solidFill>
                <a:latin typeface="Nunito Sans" pitchFamily="34" charset="0"/>
                <a:ea typeface="Nunito Sans" pitchFamily="34" charset="-122"/>
                <a:cs typeface="Nunito Sans" pitchFamily="34" charset="-120"/>
              </a:rPr>
              <a:t>55–69 Average</a:t>
            </a:r>
            <a:endParaRPr lang="en-US" sz="1500" dirty="0"/>
          </a:p>
        </p:txBody>
      </p:sp>
      <p:sp>
        <p:nvSpPr>
          <p:cNvPr id="38" name="Shape 36"/>
          <p:cNvSpPr/>
          <p:nvPr/>
        </p:nvSpPr>
        <p:spPr>
          <a:xfrm>
            <a:off x="15544800" y="7867650"/>
            <a:ext cx="1866900" cy="411480"/>
          </a:xfrm>
          <a:prstGeom prst="roundRect">
            <a:avLst>
              <a:gd name="adj" fmla="val 13889"/>
            </a:avLst>
          </a:prstGeom>
          <a:solidFill>
            <a:srgbClr val="F5F3F0"/>
          </a:solidFill>
          <a:ln/>
        </p:spPr>
        <p:txBody>
          <a:bodyPr/>
          <a:lstStyle/>
          <a:p>
            <a:endParaRPr lang="en-US"/>
          </a:p>
        </p:txBody>
      </p:sp>
      <p:sp>
        <p:nvSpPr>
          <p:cNvPr id="39" name="Text 37"/>
          <p:cNvSpPr/>
          <p:nvPr/>
        </p:nvSpPr>
        <p:spPr>
          <a:xfrm>
            <a:off x="15582900" y="7943850"/>
            <a:ext cx="1790700" cy="297180"/>
          </a:xfrm>
          <a:prstGeom prst="rect">
            <a:avLst/>
          </a:prstGeom>
          <a:noFill/>
          <a:ln/>
        </p:spPr>
        <p:txBody>
          <a:bodyPr wrap="square" lIns="25400" tIns="25400" rIns="25400" bIns="25400" rtlCol="0" anchor="t">
            <a:normAutofit/>
          </a:bodyPr>
          <a:lstStyle/>
          <a:p>
            <a:pPr marL="0" indent="0" algn="ctr">
              <a:buNone/>
            </a:pPr>
            <a:r>
              <a:rPr lang="en-US" sz="1500" dirty="0">
                <a:solidFill>
                  <a:srgbClr val="777777"/>
                </a:solidFill>
                <a:latin typeface="Nunito Sans" pitchFamily="34" charset="0"/>
                <a:ea typeface="Nunito Sans" pitchFamily="34" charset="-122"/>
                <a:cs typeface="Nunito Sans" pitchFamily="34" charset="-120"/>
              </a:rPr>
              <a:t>40–54 Poor</a:t>
            </a:r>
            <a:endParaRPr lang="en-US" sz="1500" dirty="0"/>
          </a:p>
        </p:txBody>
      </p:sp>
      <p:sp>
        <p:nvSpPr>
          <p:cNvPr id="40" name="Shape 38"/>
          <p:cNvSpPr/>
          <p:nvPr/>
        </p:nvSpPr>
        <p:spPr>
          <a:xfrm>
            <a:off x="0" y="9639300"/>
            <a:ext cx="18288000" cy="9525"/>
          </a:xfrm>
          <a:prstGeom prst="rect">
            <a:avLst/>
          </a:prstGeom>
          <a:solidFill>
            <a:srgbClr val="EEEEEE"/>
          </a:solidFill>
          <a:ln/>
        </p:spPr>
        <p:txBody>
          <a:bodyPr/>
          <a:lstStyle/>
          <a:p>
            <a:endParaRPr lang="en-US"/>
          </a:p>
        </p:txBody>
      </p:sp>
      <p:sp>
        <p:nvSpPr>
          <p:cNvPr id="41" name="Text 39"/>
          <p:cNvSpPr/>
          <p:nvPr/>
        </p:nvSpPr>
        <p:spPr>
          <a:xfrm>
            <a:off x="952500" y="9837420"/>
            <a:ext cx="1899702"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Results &amp; Validation</a:t>
            </a:r>
            <a:endParaRPr lang="en-US" sz="1500" dirty="0">
              <a:solidFill>
                <a:schemeClr val="accent2"/>
              </a:solidFill>
            </a:endParaRPr>
          </a:p>
        </p:txBody>
      </p:sp>
      <p:sp>
        <p:nvSpPr>
          <p:cNvPr id="42" name="Text 40"/>
          <p:cNvSpPr/>
          <p:nvPr/>
        </p:nvSpPr>
        <p:spPr>
          <a:xfrm>
            <a:off x="16778049" y="9848850"/>
            <a:ext cx="633651"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14 / 17</a:t>
            </a:r>
            <a:endParaRPr lang="en-US" sz="1500" dirty="0"/>
          </a:p>
        </p:txBody>
      </p:sp>
      <p:pic>
        <p:nvPicPr>
          <p:cNvPr id="31" name="Picture 30">
            <a:extLst>
              <a:ext uri="{FF2B5EF4-FFF2-40B4-BE49-F238E27FC236}">
                <a16:creationId xmlns:a16="http://schemas.microsoft.com/office/drawing/2014/main" id="{FE74949D-D50C-4655-F5C0-78826F04E92D}"/>
              </a:ext>
            </a:extLst>
          </p:cNvPr>
          <p:cNvPicPr>
            <a:picLocks noChangeAspect="1"/>
          </p:cNvPicPr>
          <p:nvPr/>
        </p:nvPicPr>
        <p:blipFill>
          <a:blip r:embed="rId3"/>
          <a:stretch>
            <a:fillRect/>
          </a:stretch>
        </p:blipFill>
        <p:spPr>
          <a:xfrm>
            <a:off x="12086248" y="1819275"/>
            <a:ext cx="6096000" cy="53721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224558"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07</a:t>
            </a:r>
            <a:endParaRPr lang="en-US" sz="6600" dirty="0">
              <a:solidFill>
                <a:schemeClr val="accent2"/>
              </a:solidFill>
            </a:endParaRPr>
          </a:p>
        </p:txBody>
      </p:sp>
      <p:sp>
        <p:nvSpPr>
          <p:cNvPr id="3" name="Text 1"/>
          <p:cNvSpPr/>
          <p:nvPr/>
        </p:nvSpPr>
        <p:spPr>
          <a:xfrm>
            <a:off x="2291358" y="830580"/>
            <a:ext cx="9487376"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Subjective vs Objective Comparison</a:t>
            </a:r>
            <a:endParaRPr lang="en-US" sz="3600" dirty="0"/>
          </a:p>
        </p:txBody>
      </p:sp>
      <p:sp>
        <p:nvSpPr>
          <p:cNvPr id="7" name="Shape 5"/>
          <p:cNvSpPr/>
          <p:nvPr/>
        </p:nvSpPr>
        <p:spPr>
          <a:xfrm>
            <a:off x="0" y="9639300"/>
            <a:ext cx="18288000" cy="9525"/>
          </a:xfrm>
          <a:prstGeom prst="rect">
            <a:avLst/>
          </a:prstGeom>
          <a:solidFill>
            <a:srgbClr val="EEEEEE"/>
          </a:solidFill>
          <a:ln/>
        </p:spPr>
        <p:txBody>
          <a:bodyPr/>
          <a:lstStyle/>
          <a:p>
            <a:endParaRPr lang="en-US"/>
          </a:p>
        </p:txBody>
      </p:sp>
      <p:sp>
        <p:nvSpPr>
          <p:cNvPr id="8" name="Text 6"/>
          <p:cNvSpPr/>
          <p:nvPr/>
        </p:nvSpPr>
        <p:spPr>
          <a:xfrm>
            <a:off x="952500" y="9837420"/>
            <a:ext cx="1899702"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Results &amp; Validation</a:t>
            </a:r>
            <a:endParaRPr lang="en-US" sz="1500" dirty="0">
              <a:solidFill>
                <a:schemeClr val="accent2"/>
              </a:solidFill>
            </a:endParaRPr>
          </a:p>
        </p:txBody>
      </p:sp>
      <p:sp>
        <p:nvSpPr>
          <p:cNvPr id="9" name="Text 7"/>
          <p:cNvSpPr/>
          <p:nvPr/>
        </p:nvSpPr>
        <p:spPr>
          <a:xfrm>
            <a:off x="16782811" y="9848850"/>
            <a:ext cx="783971" cy="274320"/>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15 / 17</a:t>
            </a:r>
            <a:endParaRPr lang="en-US" sz="1500" dirty="0"/>
          </a:p>
        </p:txBody>
      </p:sp>
      <p:pic>
        <p:nvPicPr>
          <p:cNvPr id="11" name="Picture 10">
            <a:extLst>
              <a:ext uri="{FF2B5EF4-FFF2-40B4-BE49-F238E27FC236}">
                <a16:creationId xmlns:a16="http://schemas.microsoft.com/office/drawing/2014/main" id="{9E6562F7-D016-E1E5-FBE2-79D005C9C7DF}"/>
              </a:ext>
            </a:extLst>
          </p:cNvPr>
          <p:cNvPicPr>
            <a:picLocks noChangeAspect="1"/>
          </p:cNvPicPr>
          <p:nvPr/>
        </p:nvPicPr>
        <p:blipFill>
          <a:blip r:embed="rId3"/>
          <a:stretch>
            <a:fillRect/>
          </a:stretch>
        </p:blipFill>
        <p:spPr>
          <a:xfrm>
            <a:off x="1564778" y="1689847"/>
            <a:ext cx="14688359" cy="794676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318593" cy="1097280"/>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08</a:t>
            </a:r>
            <a:endParaRPr lang="en-US" sz="6600" dirty="0">
              <a:solidFill>
                <a:schemeClr val="accent2"/>
              </a:solidFill>
            </a:endParaRPr>
          </a:p>
        </p:txBody>
      </p:sp>
      <p:sp>
        <p:nvSpPr>
          <p:cNvPr id="3" name="Text 1"/>
          <p:cNvSpPr/>
          <p:nvPr/>
        </p:nvSpPr>
        <p:spPr>
          <a:xfrm>
            <a:off x="2341721" y="830580"/>
            <a:ext cx="6862894" cy="6096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Key Findings &amp; Limitations</a:t>
            </a:r>
            <a:endParaRPr lang="en-US" sz="3600" dirty="0"/>
          </a:p>
        </p:txBody>
      </p:sp>
      <p:sp>
        <p:nvSpPr>
          <p:cNvPr id="4" name="Text 2"/>
          <p:cNvSpPr/>
          <p:nvPr/>
        </p:nvSpPr>
        <p:spPr>
          <a:xfrm>
            <a:off x="952500" y="1744980"/>
            <a:ext cx="8843010" cy="373380"/>
          </a:xfrm>
          <a:prstGeom prst="rect">
            <a:avLst/>
          </a:prstGeom>
          <a:noFill/>
          <a:ln/>
        </p:spPr>
        <p:txBody>
          <a:bodyPr wrap="square" lIns="25400" tIns="25400" rIns="25400" bIns="25400" rtlCol="0" anchor="t">
            <a:normAutofit/>
          </a:bodyPr>
          <a:lstStyle/>
          <a:p>
            <a:pPr marL="0" indent="0" algn="l">
              <a:buNone/>
            </a:pPr>
            <a:r>
              <a:rPr lang="en-US" sz="2100" b="1" dirty="0">
                <a:solidFill>
                  <a:srgbClr val="C0562B"/>
                </a:solidFill>
                <a:latin typeface="Sora" pitchFamily="34" charset="0"/>
                <a:ea typeface="Sora" pitchFamily="34" charset="-122"/>
                <a:cs typeface="Sora" pitchFamily="34" charset="-120"/>
              </a:rPr>
              <a:t>Key Findings</a:t>
            </a:r>
            <a:endParaRPr lang="en-US" sz="2100" dirty="0"/>
          </a:p>
        </p:txBody>
      </p:sp>
      <p:sp>
        <p:nvSpPr>
          <p:cNvPr id="5" name="Shape 3"/>
          <p:cNvSpPr/>
          <p:nvPr/>
        </p:nvSpPr>
        <p:spPr>
          <a:xfrm>
            <a:off x="952500" y="2232660"/>
            <a:ext cx="8039100" cy="701040"/>
          </a:xfrm>
          <a:prstGeom prst="roundRect">
            <a:avLst>
              <a:gd name="adj" fmla="val 10870"/>
            </a:avLst>
          </a:prstGeom>
          <a:solidFill>
            <a:srgbClr val="F5F3F0"/>
          </a:solidFill>
          <a:ln/>
        </p:spPr>
        <p:txBody>
          <a:bodyPr/>
          <a:lstStyle/>
          <a:p>
            <a:endParaRPr lang="en-US"/>
          </a:p>
        </p:txBody>
      </p:sp>
      <p:sp>
        <p:nvSpPr>
          <p:cNvPr id="6" name="Text 4"/>
          <p:cNvSpPr/>
          <p:nvPr/>
        </p:nvSpPr>
        <p:spPr>
          <a:xfrm>
            <a:off x="1181100" y="244221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7" name="Text 5"/>
          <p:cNvSpPr/>
          <p:nvPr/>
        </p:nvSpPr>
        <p:spPr>
          <a:xfrm>
            <a:off x="1543050" y="2423160"/>
            <a:ext cx="5306854"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555"/>
                </a:solidFill>
                <a:latin typeface="Nunito Sans" pitchFamily="34" charset="0"/>
                <a:ea typeface="Nunito Sans" pitchFamily="34" charset="-122"/>
                <a:cs typeface="Nunito Sans" pitchFamily="34" charset="-120"/>
              </a:rPr>
              <a:t>Motion features: most reliable for sleep staging</a:t>
            </a:r>
            <a:endParaRPr lang="en-US" sz="1800" dirty="0"/>
          </a:p>
        </p:txBody>
      </p:sp>
      <p:sp>
        <p:nvSpPr>
          <p:cNvPr id="8" name="Shape 6"/>
          <p:cNvSpPr/>
          <p:nvPr/>
        </p:nvSpPr>
        <p:spPr>
          <a:xfrm>
            <a:off x="952500" y="3048000"/>
            <a:ext cx="8039100" cy="701040"/>
          </a:xfrm>
          <a:prstGeom prst="roundRect">
            <a:avLst>
              <a:gd name="adj" fmla="val 10870"/>
            </a:avLst>
          </a:prstGeom>
          <a:solidFill>
            <a:srgbClr val="F5F3F0"/>
          </a:solidFill>
          <a:ln/>
        </p:spPr>
        <p:txBody>
          <a:bodyPr/>
          <a:lstStyle/>
          <a:p>
            <a:endParaRPr lang="en-US"/>
          </a:p>
        </p:txBody>
      </p:sp>
      <p:sp>
        <p:nvSpPr>
          <p:cNvPr id="9" name="Text 7"/>
          <p:cNvSpPr/>
          <p:nvPr/>
        </p:nvSpPr>
        <p:spPr>
          <a:xfrm>
            <a:off x="1181100" y="325755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10" name="Text 8"/>
          <p:cNvSpPr/>
          <p:nvPr/>
        </p:nvSpPr>
        <p:spPr>
          <a:xfrm>
            <a:off x="1543050" y="3238500"/>
            <a:ext cx="715482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555"/>
                </a:solidFill>
                <a:latin typeface="Nunito Sans" pitchFamily="34" charset="0"/>
                <a:ea typeface="Nunito Sans" pitchFamily="34" charset="-122"/>
                <a:cs typeface="Nunito Sans" pitchFamily="34" charset="-120"/>
              </a:rPr>
              <a:t>HRV (RMSSD) + respiratory rate: strongest stage differentiation</a:t>
            </a:r>
            <a:endParaRPr lang="en-US" sz="1800" dirty="0"/>
          </a:p>
        </p:txBody>
      </p:sp>
      <p:sp>
        <p:nvSpPr>
          <p:cNvPr id="11" name="Shape 9"/>
          <p:cNvSpPr/>
          <p:nvPr/>
        </p:nvSpPr>
        <p:spPr>
          <a:xfrm>
            <a:off x="952500" y="3863340"/>
            <a:ext cx="8039100" cy="701040"/>
          </a:xfrm>
          <a:prstGeom prst="roundRect">
            <a:avLst>
              <a:gd name="adj" fmla="val 10870"/>
            </a:avLst>
          </a:prstGeom>
          <a:solidFill>
            <a:srgbClr val="F5F3F0"/>
          </a:solidFill>
          <a:ln/>
        </p:spPr>
        <p:txBody>
          <a:bodyPr/>
          <a:lstStyle/>
          <a:p>
            <a:endParaRPr lang="en-US"/>
          </a:p>
        </p:txBody>
      </p:sp>
      <p:sp>
        <p:nvSpPr>
          <p:cNvPr id="12" name="Text 10"/>
          <p:cNvSpPr/>
          <p:nvPr/>
        </p:nvSpPr>
        <p:spPr>
          <a:xfrm>
            <a:off x="1181100" y="407289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13" name="Text 11"/>
          <p:cNvSpPr/>
          <p:nvPr/>
        </p:nvSpPr>
        <p:spPr>
          <a:xfrm>
            <a:off x="1543050" y="4053840"/>
            <a:ext cx="7694283"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555"/>
                </a:solidFill>
                <a:latin typeface="Nunito Sans" pitchFamily="34" charset="0"/>
                <a:ea typeface="Nunito Sans" pitchFamily="34" charset="-122"/>
                <a:cs typeface="Nunito Sans" pitchFamily="34" charset="-120"/>
              </a:rPr>
              <a:t>S12 (OSA subject): 52 apnea + 257 snoring events correctly flagged</a:t>
            </a:r>
            <a:endParaRPr lang="en-US" sz="1800" dirty="0"/>
          </a:p>
        </p:txBody>
      </p:sp>
      <p:sp>
        <p:nvSpPr>
          <p:cNvPr id="14" name="Shape 12"/>
          <p:cNvSpPr/>
          <p:nvPr/>
        </p:nvSpPr>
        <p:spPr>
          <a:xfrm>
            <a:off x="952500" y="4678680"/>
            <a:ext cx="8039100" cy="701040"/>
          </a:xfrm>
          <a:prstGeom prst="roundRect">
            <a:avLst>
              <a:gd name="adj" fmla="val 10870"/>
            </a:avLst>
          </a:prstGeom>
          <a:solidFill>
            <a:srgbClr val="F5F3F0"/>
          </a:solidFill>
          <a:ln/>
        </p:spPr>
        <p:txBody>
          <a:bodyPr/>
          <a:lstStyle/>
          <a:p>
            <a:endParaRPr lang="en-US"/>
          </a:p>
        </p:txBody>
      </p:sp>
      <p:sp>
        <p:nvSpPr>
          <p:cNvPr id="15" name="Text 13"/>
          <p:cNvSpPr/>
          <p:nvPr/>
        </p:nvSpPr>
        <p:spPr>
          <a:xfrm>
            <a:off x="1181100" y="488823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16" name="Text 14"/>
          <p:cNvSpPr/>
          <p:nvPr/>
        </p:nvSpPr>
        <p:spPr>
          <a:xfrm>
            <a:off x="1543050" y="4869180"/>
            <a:ext cx="6177665"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555"/>
                </a:solidFill>
                <a:latin typeface="Nunito Sans" pitchFamily="34" charset="0"/>
                <a:ea typeface="Nunito Sans" pitchFamily="34" charset="-122"/>
                <a:cs typeface="Nunito Sans" pitchFamily="34" charset="-120"/>
              </a:rPr>
              <a:t>Subjects unaware of apnea events detected by sensors</a:t>
            </a:r>
            <a:endParaRPr lang="en-US" sz="1800" dirty="0"/>
          </a:p>
        </p:txBody>
      </p:sp>
      <p:sp>
        <p:nvSpPr>
          <p:cNvPr id="17" name="Shape 15"/>
          <p:cNvSpPr/>
          <p:nvPr/>
        </p:nvSpPr>
        <p:spPr>
          <a:xfrm>
            <a:off x="952500" y="5494020"/>
            <a:ext cx="8039100" cy="701040"/>
          </a:xfrm>
          <a:prstGeom prst="roundRect">
            <a:avLst>
              <a:gd name="adj" fmla="val 10870"/>
            </a:avLst>
          </a:prstGeom>
          <a:solidFill>
            <a:srgbClr val="F5F3F0"/>
          </a:solidFill>
          <a:ln/>
        </p:spPr>
        <p:txBody>
          <a:bodyPr/>
          <a:lstStyle/>
          <a:p>
            <a:endParaRPr lang="en-US"/>
          </a:p>
        </p:txBody>
      </p:sp>
      <p:sp>
        <p:nvSpPr>
          <p:cNvPr id="18" name="Text 16"/>
          <p:cNvSpPr/>
          <p:nvPr/>
        </p:nvSpPr>
        <p:spPr>
          <a:xfrm>
            <a:off x="1181100" y="570357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19" name="Text 17"/>
          <p:cNvSpPr/>
          <p:nvPr/>
        </p:nvSpPr>
        <p:spPr>
          <a:xfrm>
            <a:off x="1543050" y="5684520"/>
            <a:ext cx="4560332"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555555"/>
                </a:solidFill>
                <a:latin typeface="Nunito Sans" pitchFamily="34" charset="0"/>
                <a:ea typeface="Nunito Sans" pitchFamily="34" charset="-122"/>
                <a:cs typeface="Nunito Sans" pitchFamily="34" charset="-120"/>
              </a:rPr>
              <a:t>Scores: 62.8 – 80.4 across valid sessions</a:t>
            </a:r>
            <a:endParaRPr lang="en-US" sz="1800" dirty="0"/>
          </a:p>
        </p:txBody>
      </p:sp>
      <p:sp>
        <p:nvSpPr>
          <p:cNvPr id="20" name="Text 18"/>
          <p:cNvSpPr/>
          <p:nvPr/>
        </p:nvSpPr>
        <p:spPr>
          <a:xfrm>
            <a:off x="9296400" y="1744980"/>
            <a:ext cx="8843010" cy="373380"/>
          </a:xfrm>
          <a:prstGeom prst="rect">
            <a:avLst/>
          </a:prstGeom>
          <a:noFill/>
          <a:ln/>
        </p:spPr>
        <p:txBody>
          <a:bodyPr wrap="square" lIns="25400" tIns="25400" rIns="25400" bIns="25400" rtlCol="0" anchor="t">
            <a:normAutofit/>
          </a:bodyPr>
          <a:lstStyle/>
          <a:p>
            <a:pPr marL="0" indent="0" algn="l">
              <a:buNone/>
            </a:pPr>
            <a:r>
              <a:rPr lang="en-US" sz="2100" b="1" dirty="0">
                <a:solidFill>
                  <a:srgbClr val="999999"/>
                </a:solidFill>
                <a:latin typeface="Sora" pitchFamily="34" charset="0"/>
                <a:ea typeface="Sora" pitchFamily="34" charset="-122"/>
                <a:cs typeface="Sora" pitchFamily="34" charset="-120"/>
              </a:rPr>
              <a:t>Limitations</a:t>
            </a:r>
            <a:endParaRPr lang="en-US" sz="2100" dirty="0"/>
          </a:p>
        </p:txBody>
      </p:sp>
      <p:sp>
        <p:nvSpPr>
          <p:cNvPr id="21" name="Shape 19"/>
          <p:cNvSpPr/>
          <p:nvPr/>
        </p:nvSpPr>
        <p:spPr>
          <a:xfrm>
            <a:off x="9296400" y="2232660"/>
            <a:ext cx="8039100" cy="716280"/>
          </a:xfrm>
          <a:prstGeom prst="roundRect">
            <a:avLst>
              <a:gd name="adj" fmla="val 10638"/>
            </a:avLst>
          </a:prstGeom>
          <a:ln w="7620">
            <a:solidFill>
              <a:srgbClr val="E8E4E0"/>
            </a:solidFill>
            <a:prstDash val="solid"/>
          </a:ln>
        </p:spPr>
        <p:txBody>
          <a:bodyPr/>
          <a:lstStyle/>
          <a:p>
            <a:endParaRPr lang="en-US"/>
          </a:p>
        </p:txBody>
      </p:sp>
      <p:sp>
        <p:nvSpPr>
          <p:cNvPr id="22" name="Text 20"/>
          <p:cNvSpPr/>
          <p:nvPr/>
        </p:nvSpPr>
        <p:spPr>
          <a:xfrm>
            <a:off x="9532620" y="2449830"/>
            <a:ext cx="285155"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CCCCC"/>
                </a:solidFill>
                <a:latin typeface="Sora" pitchFamily="34" charset="0"/>
                <a:ea typeface="Sora" pitchFamily="34" charset="-122"/>
                <a:cs typeface="Sora" pitchFamily="34" charset="-120"/>
              </a:rPr>
              <a:t>—</a:t>
            </a:r>
            <a:endParaRPr lang="en-US" sz="1800" dirty="0"/>
          </a:p>
        </p:txBody>
      </p:sp>
      <p:sp>
        <p:nvSpPr>
          <p:cNvPr id="23" name="Text 21"/>
          <p:cNvSpPr/>
          <p:nvPr/>
        </p:nvSpPr>
        <p:spPr>
          <a:xfrm>
            <a:off x="9874925" y="2430780"/>
            <a:ext cx="5463100"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777777"/>
                </a:solidFill>
                <a:latin typeface="Nunito Sans" pitchFamily="34" charset="0"/>
                <a:ea typeface="Nunito Sans" pitchFamily="34" charset="-122"/>
                <a:cs typeface="Nunito Sans" pitchFamily="34" charset="-120"/>
              </a:rPr>
              <a:t>No ground truth (PSG) for epoch-level validation</a:t>
            </a:r>
            <a:endParaRPr lang="en-US" sz="1800" dirty="0"/>
          </a:p>
        </p:txBody>
      </p:sp>
      <p:sp>
        <p:nvSpPr>
          <p:cNvPr id="24" name="Shape 22"/>
          <p:cNvSpPr/>
          <p:nvPr/>
        </p:nvSpPr>
        <p:spPr>
          <a:xfrm>
            <a:off x="9296400" y="3063240"/>
            <a:ext cx="8039100" cy="716280"/>
          </a:xfrm>
          <a:prstGeom prst="roundRect">
            <a:avLst>
              <a:gd name="adj" fmla="val 10638"/>
            </a:avLst>
          </a:prstGeom>
          <a:ln w="7620">
            <a:solidFill>
              <a:srgbClr val="E8E4E0"/>
            </a:solidFill>
            <a:prstDash val="solid"/>
          </a:ln>
        </p:spPr>
        <p:txBody>
          <a:bodyPr/>
          <a:lstStyle/>
          <a:p>
            <a:endParaRPr lang="en-US"/>
          </a:p>
        </p:txBody>
      </p:sp>
      <p:sp>
        <p:nvSpPr>
          <p:cNvPr id="25" name="Text 23"/>
          <p:cNvSpPr/>
          <p:nvPr/>
        </p:nvSpPr>
        <p:spPr>
          <a:xfrm>
            <a:off x="9532620" y="3280410"/>
            <a:ext cx="285155"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CCCCC"/>
                </a:solidFill>
                <a:latin typeface="Sora" pitchFamily="34" charset="0"/>
                <a:ea typeface="Sora" pitchFamily="34" charset="-122"/>
                <a:cs typeface="Sora" pitchFamily="34" charset="-120"/>
              </a:rPr>
              <a:t>—</a:t>
            </a:r>
            <a:endParaRPr lang="en-US" sz="1800" dirty="0"/>
          </a:p>
        </p:txBody>
      </p:sp>
      <p:sp>
        <p:nvSpPr>
          <p:cNvPr id="26" name="Text 24"/>
          <p:cNvSpPr/>
          <p:nvPr/>
        </p:nvSpPr>
        <p:spPr>
          <a:xfrm>
            <a:off x="9874925" y="3261360"/>
            <a:ext cx="6013954"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777777"/>
                </a:solidFill>
                <a:latin typeface="Nunito Sans" pitchFamily="34" charset="0"/>
                <a:ea typeface="Nunito Sans" pitchFamily="34" charset="-122"/>
                <a:cs typeface="Nunito Sans" pitchFamily="34" charset="-120"/>
              </a:rPr>
              <a:t>Silhouette score k=4: 0.290 (overlap between stages)</a:t>
            </a:r>
            <a:endParaRPr lang="en-US" sz="1800" dirty="0"/>
          </a:p>
        </p:txBody>
      </p:sp>
      <p:sp>
        <p:nvSpPr>
          <p:cNvPr id="27" name="Shape 25"/>
          <p:cNvSpPr/>
          <p:nvPr/>
        </p:nvSpPr>
        <p:spPr>
          <a:xfrm>
            <a:off x="9296400" y="3893820"/>
            <a:ext cx="8039100" cy="716280"/>
          </a:xfrm>
          <a:prstGeom prst="roundRect">
            <a:avLst>
              <a:gd name="adj" fmla="val 10638"/>
            </a:avLst>
          </a:prstGeom>
          <a:ln w="7620">
            <a:solidFill>
              <a:srgbClr val="E8E4E0"/>
            </a:solidFill>
            <a:prstDash val="solid"/>
          </a:ln>
        </p:spPr>
        <p:txBody>
          <a:bodyPr/>
          <a:lstStyle/>
          <a:p>
            <a:endParaRPr lang="en-US"/>
          </a:p>
        </p:txBody>
      </p:sp>
      <p:sp>
        <p:nvSpPr>
          <p:cNvPr id="28" name="Text 26"/>
          <p:cNvSpPr/>
          <p:nvPr/>
        </p:nvSpPr>
        <p:spPr>
          <a:xfrm>
            <a:off x="9532620" y="4110990"/>
            <a:ext cx="285155"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CCCCC"/>
                </a:solidFill>
                <a:latin typeface="Sora" pitchFamily="34" charset="0"/>
                <a:ea typeface="Sora" pitchFamily="34" charset="-122"/>
                <a:cs typeface="Sora" pitchFamily="34" charset="-120"/>
              </a:rPr>
              <a:t>—</a:t>
            </a:r>
            <a:endParaRPr lang="en-US" sz="1800" dirty="0"/>
          </a:p>
        </p:txBody>
      </p:sp>
      <p:sp>
        <p:nvSpPr>
          <p:cNvPr id="29" name="Text 27"/>
          <p:cNvSpPr/>
          <p:nvPr/>
        </p:nvSpPr>
        <p:spPr>
          <a:xfrm>
            <a:off x="9874925" y="4091940"/>
            <a:ext cx="6199275"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777777"/>
                </a:solidFill>
                <a:latin typeface="Nunito Sans" pitchFamily="34" charset="0"/>
                <a:ea typeface="Nunito Sans" pitchFamily="34" charset="-122"/>
                <a:cs typeface="Nunito Sans" pitchFamily="34" charset="-120"/>
              </a:rPr>
              <a:t>Single-core ESP32-C3 limits PPG to ~12.5 Hz effective</a:t>
            </a:r>
            <a:endParaRPr lang="en-US" sz="1800" dirty="0"/>
          </a:p>
        </p:txBody>
      </p:sp>
      <p:sp>
        <p:nvSpPr>
          <p:cNvPr id="30" name="Shape 28"/>
          <p:cNvSpPr/>
          <p:nvPr/>
        </p:nvSpPr>
        <p:spPr>
          <a:xfrm>
            <a:off x="9296400" y="4724400"/>
            <a:ext cx="8039100" cy="716280"/>
          </a:xfrm>
          <a:prstGeom prst="roundRect">
            <a:avLst>
              <a:gd name="adj" fmla="val 10638"/>
            </a:avLst>
          </a:prstGeom>
          <a:ln w="7620">
            <a:solidFill>
              <a:srgbClr val="E8E4E0"/>
            </a:solidFill>
            <a:prstDash val="solid"/>
          </a:ln>
        </p:spPr>
        <p:txBody>
          <a:bodyPr/>
          <a:lstStyle/>
          <a:p>
            <a:endParaRPr lang="en-US"/>
          </a:p>
        </p:txBody>
      </p:sp>
      <p:sp>
        <p:nvSpPr>
          <p:cNvPr id="31" name="Text 29"/>
          <p:cNvSpPr/>
          <p:nvPr/>
        </p:nvSpPr>
        <p:spPr>
          <a:xfrm>
            <a:off x="9532620" y="4941570"/>
            <a:ext cx="285155"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CCCCC"/>
                </a:solidFill>
                <a:latin typeface="Sora" pitchFamily="34" charset="0"/>
                <a:ea typeface="Sora" pitchFamily="34" charset="-122"/>
                <a:cs typeface="Sora" pitchFamily="34" charset="-120"/>
              </a:rPr>
              <a:t>—</a:t>
            </a:r>
            <a:endParaRPr lang="en-US" sz="1800" dirty="0"/>
          </a:p>
        </p:txBody>
      </p:sp>
      <p:sp>
        <p:nvSpPr>
          <p:cNvPr id="32" name="Text 30"/>
          <p:cNvSpPr/>
          <p:nvPr/>
        </p:nvSpPr>
        <p:spPr>
          <a:xfrm>
            <a:off x="9874925" y="4922520"/>
            <a:ext cx="6214336"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777777"/>
                </a:solidFill>
                <a:latin typeface="Nunito Sans" pitchFamily="34" charset="0"/>
                <a:ea typeface="Nunito Sans" pitchFamily="34" charset="-122"/>
                <a:cs typeface="Nunito Sans" pitchFamily="34" charset="-120"/>
              </a:rPr>
              <a:t>Sensor displacement during sleep affects signal quality</a:t>
            </a:r>
            <a:endParaRPr lang="en-US" sz="1800" dirty="0"/>
          </a:p>
        </p:txBody>
      </p:sp>
      <p:sp>
        <p:nvSpPr>
          <p:cNvPr id="33" name="Shape 31"/>
          <p:cNvSpPr/>
          <p:nvPr/>
        </p:nvSpPr>
        <p:spPr>
          <a:xfrm>
            <a:off x="9296400" y="5554980"/>
            <a:ext cx="8039100" cy="716280"/>
          </a:xfrm>
          <a:prstGeom prst="roundRect">
            <a:avLst>
              <a:gd name="adj" fmla="val 10638"/>
            </a:avLst>
          </a:prstGeom>
          <a:ln w="7620">
            <a:solidFill>
              <a:srgbClr val="E8E4E0"/>
            </a:solidFill>
            <a:prstDash val="solid"/>
          </a:ln>
        </p:spPr>
        <p:txBody>
          <a:bodyPr/>
          <a:lstStyle/>
          <a:p>
            <a:endParaRPr lang="en-US"/>
          </a:p>
        </p:txBody>
      </p:sp>
      <p:sp>
        <p:nvSpPr>
          <p:cNvPr id="34" name="Text 32"/>
          <p:cNvSpPr/>
          <p:nvPr/>
        </p:nvSpPr>
        <p:spPr>
          <a:xfrm>
            <a:off x="9532620" y="5772150"/>
            <a:ext cx="285155"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CCCCC"/>
                </a:solidFill>
                <a:latin typeface="Sora" pitchFamily="34" charset="0"/>
                <a:ea typeface="Sora" pitchFamily="34" charset="-122"/>
                <a:cs typeface="Sora" pitchFamily="34" charset="-120"/>
              </a:rPr>
              <a:t>—</a:t>
            </a:r>
            <a:endParaRPr lang="en-US" sz="1800" dirty="0"/>
          </a:p>
        </p:txBody>
      </p:sp>
      <p:sp>
        <p:nvSpPr>
          <p:cNvPr id="35" name="Text 33"/>
          <p:cNvSpPr/>
          <p:nvPr/>
        </p:nvSpPr>
        <p:spPr>
          <a:xfrm>
            <a:off x="9874925" y="5753100"/>
            <a:ext cx="4250067" cy="35814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777777"/>
                </a:solidFill>
                <a:latin typeface="Nunito Sans" pitchFamily="34" charset="0"/>
                <a:ea typeface="Nunito Sans" pitchFamily="34" charset="-122"/>
                <a:cs typeface="Nunito Sans" pitchFamily="34" charset="-120"/>
              </a:rPr>
              <a:t>Small sample: 10 sessions, 8 subjects</a:t>
            </a:r>
            <a:endParaRPr lang="en-US" sz="1800" dirty="0"/>
          </a:p>
        </p:txBody>
      </p:sp>
      <p:sp>
        <p:nvSpPr>
          <p:cNvPr id="36" name="Shape 34"/>
          <p:cNvSpPr/>
          <p:nvPr/>
        </p:nvSpPr>
        <p:spPr>
          <a:xfrm>
            <a:off x="0" y="9639300"/>
            <a:ext cx="18288000" cy="9525"/>
          </a:xfrm>
          <a:prstGeom prst="rect">
            <a:avLst/>
          </a:prstGeom>
          <a:solidFill>
            <a:srgbClr val="EEEEEE"/>
          </a:solidFill>
          <a:ln/>
        </p:spPr>
        <p:txBody>
          <a:bodyPr/>
          <a:lstStyle/>
          <a:p>
            <a:endParaRPr lang="en-US"/>
          </a:p>
        </p:txBody>
      </p:sp>
      <p:sp>
        <p:nvSpPr>
          <p:cNvPr id="37" name="Text 35"/>
          <p:cNvSpPr/>
          <p:nvPr/>
        </p:nvSpPr>
        <p:spPr>
          <a:xfrm>
            <a:off x="952500" y="9837420"/>
            <a:ext cx="2482251" cy="297180"/>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Key Findings &amp; Limitations</a:t>
            </a:r>
            <a:endParaRPr lang="en-US" sz="1500" dirty="0">
              <a:solidFill>
                <a:schemeClr val="accent2"/>
              </a:solidFill>
            </a:endParaRPr>
          </a:p>
        </p:txBody>
      </p:sp>
      <p:sp>
        <p:nvSpPr>
          <p:cNvPr id="38" name="Text 36"/>
          <p:cNvSpPr/>
          <p:nvPr/>
        </p:nvSpPr>
        <p:spPr>
          <a:xfrm>
            <a:off x="16774953" y="9825990"/>
            <a:ext cx="817587" cy="297180"/>
          </a:xfrm>
          <a:prstGeom prst="rect">
            <a:avLst/>
          </a:prstGeom>
          <a:noFill/>
          <a:ln/>
        </p:spPr>
        <p:txBody>
          <a:bodyPr wrap="square" lIns="25400" tIns="25400" rIns="25400" bIns="25400" rtlCol="0" anchor="t">
            <a:normAutofit/>
          </a:bodyPr>
          <a:lstStyle/>
          <a:p>
            <a:pPr marL="0" indent="0" algn="l">
              <a:buNone/>
            </a:pPr>
            <a:r>
              <a:rPr lang="en-US" sz="1500" b="1" dirty="0">
                <a:solidFill>
                  <a:srgbClr val="C0562B"/>
                </a:solidFill>
                <a:latin typeface="Sora" pitchFamily="34" charset="0"/>
                <a:ea typeface="Sora" pitchFamily="34" charset="-122"/>
                <a:cs typeface="Sora" pitchFamily="34" charset="-120"/>
              </a:rPr>
              <a:t>16 / 17</a:t>
            </a:r>
            <a:endParaRPr lang="en-US" sz="1500" dirty="0"/>
          </a:p>
        </p:txBody>
      </p:sp>
      <p:sp>
        <p:nvSpPr>
          <p:cNvPr id="40" name="Shape 20">
            <a:extLst>
              <a:ext uri="{FF2B5EF4-FFF2-40B4-BE49-F238E27FC236}">
                <a16:creationId xmlns:a16="http://schemas.microsoft.com/office/drawing/2014/main" id="{EEB7A54A-F03A-1F84-5671-4ADE5D9132DF}"/>
              </a:ext>
            </a:extLst>
          </p:cNvPr>
          <p:cNvSpPr/>
          <p:nvPr/>
        </p:nvSpPr>
        <p:spPr>
          <a:xfrm>
            <a:off x="952501" y="6583680"/>
            <a:ext cx="16383000" cy="2938462"/>
          </a:xfrm>
          <a:prstGeom prst="roundRect">
            <a:avLst>
              <a:gd name="adj" fmla="val 6957"/>
            </a:avLst>
          </a:prstGeom>
          <a:solidFill>
            <a:srgbClr val="1A1A1A"/>
          </a:solidFill>
          <a:ln/>
        </p:spPr>
        <p:txBody>
          <a:bodyPr/>
          <a:lstStyle/>
          <a:p>
            <a:r>
              <a:rPr lang="en-US" b="1" dirty="0">
                <a:solidFill>
                  <a:schemeClr val="bg1"/>
                </a:solidFill>
                <a:latin typeface="Nunito Sans" pitchFamily="2" charset="0"/>
              </a:rPr>
              <a:t>Personal contributions:</a:t>
            </a:r>
            <a:endParaRPr lang="en-US" dirty="0">
              <a:solidFill>
                <a:schemeClr val="bg1"/>
              </a:solidFill>
              <a:latin typeface="Nunito Sans" pitchFamily="2" charset="0"/>
            </a:endParaRPr>
          </a:p>
          <a:p>
            <a:r>
              <a:rPr lang="en-US" dirty="0">
                <a:solidFill>
                  <a:schemeClr val="bg1"/>
                </a:solidFill>
                <a:latin typeface="Nunito Sans" pitchFamily="2" charset="0"/>
              </a:rPr>
              <a:t>       Complete hardware assembly from off-the-shelf components (&lt;100 EUR)</a:t>
            </a:r>
          </a:p>
          <a:p>
            <a:r>
              <a:rPr lang="en-US" dirty="0">
                <a:solidFill>
                  <a:schemeClr val="bg1"/>
                </a:solidFill>
                <a:latin typeface="Nunito Sans" pitchFamily="2" charset="0"/>
              </a:rPr>
              <a:t> </a:t>
            </a:r>
          </a:p>
          <a:p>
            <a:r>
              <a:rPr lang="en-US" dirty="0">
                <a:solidFill>
                  <a:schemeClr val="bg1"/>
                </a:solidFill>
                <a:latin typeface="Nunito Sans" pitchFamily="2" charset="0"/>
              </a:rPr>
              <a:t>       ESP32-C3 firmware with multi-sensor acquisition and boot calibration</a:t>
            </a:r>
          </a:p>
          <a:p>
            <a:pPr marL="285750" indent="-285750">
              <a:buFont typeface="Wingdings" panose="05000000000000000000" pitchFamily="2" charset="2"/>
              <a:buChar char="Ø"/>
            </a:pPr>
            <a:endParaRPr lang="en-US" dirty="0">
              <a:solidFill>
                <a:schemeClr val="bg1"/>
              </a:solidFill>
              <a:latin typeface="Nunito Sans" pitchFamily="2" charset="0"/>
            </a:endParaRPr>
          </a:p>
          <a:p>
            <a:r>
              <a:rPr lang="en-US" dirty="0">
                <a:solidFill>
                  <a:schemeClr val="bg1"/>
                </a:solidFill>
                <a:latin typeface="Nunito Sans" pitchFamily="2" charset="0"/>
              </a:rPr>
              <a:t>       Flask/SQLite backend + real-time monitoring dashboard</a:t>
            </a:r>
          </a:p>
          <a:p>
            <a:pPr marL="285750" indent="-285750">
              <a:buFont typeface="Wingdings" panose="05000000000000000000" pitchFamily="2" charset="2"/>
              <a:buChar char="Ø"/>
            </a:pPr>
            <a:endParaRPr lang="en-US" dirty="0">
              <a:solidFill>
                <a:schemeClr val="bg1"/>
              </a:solidFill>
              <a:latin typeface="Nunito Sans" pitchFamily="2" charset="0"/>
            </a:endParaRPr>
          </a:p>
          <a:p>
            <a:r>
              <a:rPr lang="en-US" dirty="0">
                <a:solidFill>
                  <a:schemeClr val="bg1"/>
                </a:solidFill>
                <a:latin typeface="Nunito Sans" pitchFamily="2" charset="0"/>
              </a:rPr>
              <a:t>       Full Python pipeline: signal processing, 21-feature extraction, K-Means + KNN classification, sleep quality scoring</a:t>
            </a:r>
          </a:p>
          <a:p>
            <a:pPr marL="285750" indent="-285750">
              <a:buFont typeface="Wingdings" panose="05000000000000000000" pitchFamily="2" charset="2"/>
              <a:buChar char="Ø"/>
            </a:pPr>
            <a:endParaRPr lang="en-US" dirty="0">
              <a:solidFill>
                <a:schemeClr val="bg1"/>
              </a:solidFill>
              <a:latin typeface="Nunito Sans" pitchFamily="2" charset="0"/>
            </a:endParaRPr>
          </a:p>
          <a:p>
            <a:r>
              <a:rPr lang="en-US" dirty="0">
                <a:solidFill>
                  <a:schemeClr val="bg1"/>
                </a:solidFill>
                <a:latin typeface="Nunito Sans" pitchFamily="2" charset="0"/>
              </a:rPr>
              <a:t>       10 overnight recording sessions with 8 subjects + questionnaire validation</a:t>
            </a:r>
          </a:p>
          <a:p>
            <a:endParaRPr lang="en-US" dirty="0"/>
          </a:p>
        </p:txBody>
      </p:sp>
      <p:sp>
        <p:nvSpPr>
          <p:cNvPr id="42" name="Text 4">
            <a:extLst>
              <a:ext uri="{FF2B5EF4-FFF2-40B4-BE49-F238E27FC236}">
                <a16:creationId xmlns:a16="http://schemas.microsoft.com/office/drawing/2014/main" id="{823EEE74-68E7-8D9F-6A28-40EDFD7B62AF}"/>
              </a:ext>
            </a:extLst>
          </p:cNvPr>
          <p:cNvSpPr/>
          <p:nvPr/>
        </p:nvSpPr>
        <p:spPr>
          <a:xfrm>
            <a:off x="1181100" y="6925775"/>
            <a:ext cx="466859"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44" name="Text 4">
            <a:extLst>
              <a:ext uri="{FF2B5EF4-FFF2-40B4-BE49-F238E27FC236}">
                <a16:creationId xmlns:a16="http://schemas.microsoft.com/office/drawing/2014/main" id="{C09D63EB-47D0-31B7-B88E-00E06F2BE240}"/>
              </a:ext>
            </a:extLst>
          </p:cNvPr>
          <p:cNvSpPr/>
          <p:nvPr/>
        </p:nvSpPr>
        <p:spPr>
          <a:xfrm>
            <a:off x="1181100" y="745617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46" name="Text 4">
            <a:extLst>
              <a:ext uri="{FF2B5EF4-FFF2-40B4-BE49-F238E27FC236}">
                <a16:creationId xmlns:a16="http://schemas.microsoft.com/office/drawing/2014/main" id="{7BE0B8EE-C834-83ED-FBE6-DB49940C3F8B}"/>
              </a:ext>
            </a:extLst>
          </p:cNvPr>
          <p:cNvSpPr/>
          <p:nvPr/>
        </p:nvSpPr>
        <p:spPr>
          <a:xfrm>
            <a:off x="1181100" y="855726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48" name="Text 4">
            <a:extLst>
              <a:ext uri="{FF2B5EF4-FFF2-40B4-BE49-F238E27FC236}">
                <a16:creationId xmlns:a16="http://schemas.microsoft.com/office/drawing/2014/main" id="{718B9240-296B-7107-3463-DCEB52130595}"/>
              </a:ext>
            </a:extLst>
          </p:cNvPr>
          <p:cNvSpPr/>
          <p:nvPr/>
        </p:nvSpPr>
        <p:spPr>
          <a:xfrm>
            <a:off x="1181100" y="8004810"/>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
        <p:nvSpPr>
          <p:cNvPr id="50" name="Text 4">
            <a:extLst>
              <a:ext uri="{FF2B5EF4-FFF2-40B4-BE49-F238E27FC236}">
                <a16:creationId xmlns:a16="http://schemas.microsoft.com/office/drawing/2014/main" id="{2C39E531-3014-307F-F47A-EEF1A77D2FC8}"/>
              </a:ext>
            </a:extLst>
          </p:cNvPr>
          <p:cNvSpPr/>
          <p:nvPr/>
        </p:nvSpPr>
        <p:spPr>
          <a:xfrm>
            <a:off x="1195916" y="9108905"/>
            <a:ext cx="304800" cy="327660"/>
          </a:xfrm>
          <a:prstGeom prst="rect">
            <a:avLst/>
          </a:prstGeom>
          <a:noFill/>
          <a:ln/>
        </p:spPr>
        <p:txBody>
          <a:bodyPr wrap="square" lIns="25400" tIns="25400" rIns="25400" bIns="25400" rtlCol="0" anchor="t">
            <a:normAutofit/>
          </a:bodyPr>
          <a:lstStyle/>
          <a:p>
            <a:pPr marL="0" indent="0" algn="l">
              <a:buNone/>
            </a:pPr>
            <a:r>
              <a:rPr lang="en-US" sz="1800" b="1" dirty="0">
                <a:solidFill>
                  <a:srgbClr val="C0562B"/>
                </a:solidFill>
                <a:latin typeface="Sora" pitchFamily="34" charset="0"/>
                <a:ea typeface="Sora" pitchFamily="34" charset="-122"/>
                <a:cs typeface="Sora" pitchFamily="34" charset="-120"/>
              </a:rPr>
              <a:t>→</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457200"/>
            <a:ext cx="1318528" cy="1095375"/>
          </a:xfrm>
          <a:prstGeom prst="rect">
            <a:avLst/>
          </a:prstGeom>
          <a:noFill/>
          <a:ln/>
        </p:spPr>
        <p:txBody>
          <a:bodyPr wrap="square" lIns="25400" tIns="25400" rIns="25400" bIns="25400" rtlCol="0" anchor="t">
            <a:normAutofit/>
          </a:bodyPr>
          <a:lstStyle/>
          <a:p>
            <a:pPr marL="0" indent="0" algn="l">
              <a:buNone/>
            </a:pPr>
            <a:r>
              <a:rPr lang="en-US" sz="6600" b="1" dirty="0">
                <a:solidFill>
                  <a:schemeClr val="accent2"/>
                </a:solidFill>
                <a:latin typeface="Sora" pitchFamily="34" charset="0"/>
                <a:ea typeface="Sora" pitchFamily="34" charset="-122"/>
                <a:cs typeface="Sora" pitchFamily="34" charset="-120"/>
              </a:rPr>
              <a:t>08</a:t>
            </a:r>
            <a:endParaRPr lang="en-US" sz="6600" dirty="0">
              <a:solidFill>
                <a:schemeClr val="accent2"/>
              </a:solidFill>
            </a:endParaRPr>
          </a:p>
        </p:txBody>
      </p:sp>
      <p:sp>
        <p:nvSpPr>
          <p:cNvPr id="3" name="Text 1"/>
          <p:cNvSpPr/>
          <p:nvPr/>
        </p:nvSpPr>
        <p:spPr>
          <a:xfrm>
            <a:off x="2341662" y="819150"/>
            <a:ext cx="7015014" cy="619125"/>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Conclusions &amp; Future Work</a:t>
            </a:r>
            <a:endParaRPr lang="en-US" sz="3600" dirty="0"/>
          </a:p>
        </p:txBody>
      </p:sp>
      <p:sp>
        <p:nvSpPr>
          <p:cNvPr id="4" name="Text 2"/>
          <p:cNvSpPr/>
          <p:nvPr/>
        </p:nvSpPr>
        <p:spPr>
          <a:xfrm>
            <a:off x="952500" y="1704975"/>
            <a:ext cx="14716125" cy="7810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666666"/>
                </a:solidFill>
                <a:latin typeface="Nunito Sans" pitchFamily="34" charset="0"/>
                <a:ea typeface="Nunito Sans" pitchFamily="34" charset="-122"/>
                <a:cs typeface="Nunito Sans" pitchFamily="34" charset="-120"/>
              </a:rPr>
              <a:t>The system demonstrates that open-source, low-cost sleep monitoring with full raw data access is achievable with current off-the-shelf components.</a:t>
            </a:r>
            <a:endParaRPr lang="en-US" sz="1950" dirty="0"/>
          </a:p>
        </p:txBody>
      </p:sp>
      <p:sp>
        <p:nvSpPr>
          <p:cNvPr id="5" name="Text 3"/>
          <p:cNvSpPr/>
          <p:nvPr/>
        </p:nvSpPr>
        <p:spPr>
          <a:xfrm>
            <a:off x="952500" y="2676525"/>
            <a:ext cx="1802130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150" dirty="0">
                <a:solidFill>
                  <a:srgbClr val="C0562B"/>
                </a:solidFill>
                <a:latin typeface="Sora" pitchFamily="34" charset="0"/>
                <a:ea typeface="Sora" pitchFamily="34" charset="-122"/>
                <a:cs typeface="Sora" pitchFamily="34" charset="-120"/>
              </a:rPr>
              <a:t>FUTURE WORK</a:t>
            </a:r>
            <a:endParaRPr lang="en-US" sz="1800" dirty="0"/>
          </a:p>
        </p:txBody>
      </p:sp>
      <p:sp>
        <p:nvSpPr>
          <p:cNvPr id="6" name="Shape 4"/>
          <p:cNvSpPr/>
          <p:nvPr/>
        </p:nvSpPr>
        <p:spPr>
          <a:xfrm>
            <a:off x="952500" y="3190875"/>
            <a:ext cx="8115300" cy="1095375"/>
          </a:xfrm>
          <a:prstGeom prst="roundRect">
            <a:avLst>
              <a:gd name="adj" fmla="val 6957"/>
            </a:avLst>
          </a:prstGeom>
          <a:solidFill>
            <a:srgbClr val="F5F3F0"/>
          </a:solidFill>
          <a:ln/>
        </p:spPr>
        <p:txBody>
          <a:bodyPr/>
          <a:lstStyle/>
          <a:p>
            <a:endParaRPr lang="en-US"/>
          </a:p>
        </p:txBody>
      </p:sp>
      <p:sp>
        <p:nvSpPr>
          <p:cNvPr id="7" name="Text 5"/>
          <p:cNvSpPr/>
          <p:nvPr/>
        </p:nvSpPr>
        <p:spPr>
          <a:xfrm>
            <a:off x="1219200" y="3419475"/>
            <a:ext cx="439341" cy="342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400" b="1" dirty="0">
                <a:solidFill>
                  <a:srgbClr val="C0562B"/>
                </a:solidFill>
                <a:latin typeface="Sora" pitchFamily="34" charset="0"/>
                <a:ea typeface="Sora" pitchFamily="34" charset="-122"/>
                <a:cs typeface="Sora" pitchFamily="34" charset="-120"/>
              </a:rPr>
              <a:t>01</a:t>
            </a:r>
            <a:endParaRPr lang="en-US" sz="2400" dirty="0"/>
          </a:p>
        </p:txBody>
      </p:sp>
      <p:sp>
        <p:nvSpPr>
          <p:cNvPr id="8" name="Text 6"/>
          <p:cNvSpPr/>
          <p:nvPr/>
        </p:nvSpPr>
        <p:spPr>
          <a:xfrm>
            <a:off x="1734741" y="3419475"/>
            <a:ext cx="2161639" cy="352425"/>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Dual-core MCU</a:t>
            </a:r>
            <a:endParaRPr lang="en-US" sz="1950" dirty="0"/>
          </a:p>
        </p:txBody>
      </p:sp>
      <p:sp>
        <p:nvSpPr>
          <p:cNvPr id="9" name="Text 7"/>
          <p:cNvSpPr/>
          <p:nvPr/>
        </p:nvSpPr>
        <p:spPr>
          <a:xfrm>
            <a:off x="1734741" y="3771900"/>
            <a:ext cx="5197495" cy="323850"/>
          </a:xfrm>
          <a:prstGeom prst="rect">
            <a:avLst/>
          </a:prstGeom>
          <a:noFill/>
          <a:ln/>
        </p:spPr>
        <p:txBody>
          <a:bodyPr wrap="square" lIns="25400" tIns="25400" rIns="25400" bIns="25400" rtlCol="0" anchor="t">
            <a:normAutofit/>
          </a:bodyPr>
          <a:lstStyle/>
          <a:p>
            <a:pPr marL="0" indent="0" algn="l">
              <a:buNone/>
            </a:pPr>
            <a:r>
              <a:rPr lang="en-US" sz="1650" dirty="0">
                <a:solidFill>
                  <a:srgbClr val="777777"/>
                </a:solidFill>
                <a:latin typeface="Nunito Sans" pitchFamily="34" charset="0"/>
                <a:ea typeface="Nunito Sans" pitchFamily="34" charset="-122"/>
                <a:cs typeface="Nunito Sans" pitchFamily="34" charset="-120"/>
              </a:rPr>
              <a:t>Continuous 25 Hz PPG for frequency-domain HRV</a:t>
            </a:r>
            <a:endParaRPr lang="en-US" sz="1650" dirty="0"/>
          </a:p>
        </p:txBody>
      </p:sp>
      <p:sp>
        <p:nvSpPr>
          <p:cNvPr id="10" name="Shape 8"/>
          <p:cNvSpPr/>
          <p:nvPr/>
        </p:nvSpPr>
        <p:spPr>
          <a:xfrm>
            <a:off x="9220200" y="3190875"/>
            <a:ext cx="8115300" cy="1095375"/>
          </a:xfrm>
          <a:prstGeom prst="roundRect">
            <a:avLst>
              <a:gd name="adj" fmla="val 6957"/>
            </a:avLst>
          </a:prstGeom>
          <a:solidFill>
            <a:srgbClr val="F5F3F0"/>
          </a:solidFill>
          <a:ln/>
        </p:spPr>
        <p:txBody>
          <a:bodyPr/>
          <a:lstStyle/>
          <a:p>
            <a:endParaRPr lang="en-US"/>
          </a:p>
        </p:txBody>
      </p:sp>
      <p:sp>
        <p:nvSpPr>
          <p:cNvPr id="11" name="Text 9"/>
          <p:cNvSpPr/>
          <p:nvPr/>
        </p:nvSpPr>
        <p:spPr>
          <a:xfrm>
            <a:off x="9486900" y="3419475"/>
            <a:ext cx="501402" cy="342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400" b="1" dirty="0">
                <a:solidFill>
                  <a:srgbClr val="C0562B"/>
                </a:solidFill>
                <a:latin typeface="Sora" pitchFamily="34" charset="0"/>
                <a:ea typeface="Sora" pitchFamily="34" charset="-122"/>
                <a:cs typeface="Sora" pitchFamily="34" charset="-120"/>
              </a:rPr>
              <a:t>02</a:t>
            </a:r>
            <a:endParaRPr lang="en-US" sz="2400" dirty="0"/>
          </a:p>
        </p:txBody>
      </p:sp>
      <p:sp>
        <p:nvSpPr>
          <p:cNvPr id="12" name="Text 10"/>
          <p:cNvSpPr/>
          <p:nvPr/>
        </p:nvSpPr>
        <p:spPr>
          <a:xfrm>
            <a:off x="10064502" y="3419475"/>
            <a:ext cx="2002676" cy="352425"/>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Rigid Housing</a:t>
            </a:r>
            <a:endParaRPr lang="en-US" sz="1950" dirty="0"/>
          </a:p>
        </p:txBody>
      </p:sp>
      <p:sp>
        <p:nvSpPr>
          <p:cNvPr id="13" name="Text 11"/>
          <p:cNvSpPr/>
          <p:nvPr/>
        </p:nvSpPr>
        <p:spPr>
          <a:xfrm>
            <a:off x="10064502" y="3771900"/>
            <a:ext cx="5657031" cy="323850"/>
          </a:xfrm>
          <a:prstGeom prst="rect">
            <a:avLst/>
          </a:prstGeom>
          <a:noFill/>
          <a:ln/>
        </p:spPr>
        <p:txBody>
          <a:bodyPr wrap="square" lIns="25400" tIns="25400" rIns="25400" bIns="25400" rtlCol="0" anchor="t">
            <a:normAutofit/>
          </a:bodyPr>
          <a:lstStyle/>
          <a:p>
            <a:pPr marL="0" indent="0" algn="l">
              <a:buNone/>
            </a:pPr>
            <a:r>
              <a:rPr lang="en-US" sz="1650" dirty="0">
                <a:solidFill>
                  <a:srgbClr val="777777"/>
                </a:solidFill>
                <a:latin typeface="Nunito Sans" pitchFamily="34" charset="0"/>
                <a:ea typeface="Nunito Sans" pitchFamily="34" charset="-122"/>
                <a:cs typeface="Nunito Sans" pitchFamily="34" charset="-120"/>
              </a:rPr>
              <a:t>Custom 3D-printed enclosure for stable sensor contact</a:t>
            </a:r>
            <a:endParaRPr lang="en-US" sz="1650" dirty="0"/>
          </a:p>
        </p:txBody>
      </p:sp>
      <p:sp>
        <p:nvSpPr>
          <p:cNvPr id="14" name="Shape 12"/>
          <p:cNvSpPr/>
          <p:nvPr/>
        </p:nvSpPr>
        <p:spPr>
          <a:xfrm>
            <a:off x="952500" y="4438650"/>
            <a:ext cx="8115300" cy="1095375"/>
          </a:xfrm>
          <a:prstGeom prst="roundRect">
            <a:avLst>
              <a:gd name="adj" fmla="val 6957"/>
            </a:avLst>
          </a:prstGeom>
          <a:solidFill>
            <a:srgbClr val="F5F3F0"/>
          </a:solidFill>
          <a:ln/>
        </p:spPr>
        <p:txBody>
          <a:bodyPr/>
          <a:lstStyle/>
          <a:p>
            <a:endParaRPr lang="en-US"/>
          </a:p>
        </p:txBody>
      </p:sp>
      <p:sp>
        <p:nvSpPr>
          <p:cNvPr id="15" name="Text 13"/>
          <p:cNvSpPr/>
          <p:nvPr/>
        </p:nvSpPr>
        <p:spPr>
          <a:xfrm>
            <a:off x="1219200" y="4667250"/>
            <a:ext cx="501402" cy="342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400" b="1" dirty="0">
                <a:solidFill>
                  <a:srgbClr val="C0562B"/>
                </a:solidFill>
                <a:latin typeface="Sora" pitchFamily="34" charset="0"/>
                <a:ea typeface="Sora" pitchFamily="34" charset="-122"/>
                <a:cs typeface="Sora" pitchFamily="34" charset="-120"/>
              </a:rPr>
              <a:t>03</a:t>
            </a:r>
            <a:endParaRPr lang="en-US" sz="2400" dirty="0"/>
          </a:p>
        </p:txBody>
      </p:sp>
      <p:sp>
        <p:nvSpPr>
          <p:cNvPr id="16" name="Text 14"/>
          <p:cNvSpPr/>
          <p:nvPr/>
        </p:nvSpPr>
        <p:spPr>
          <a:xfrm>
            <a:off x="1796802" y="4667250"/>
            <a:ext cx="3626197" cy="352425"/>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Better Respiratory Sensor</a:t>
            </a:r>
            <a:endParaRPr lang="en-US" sz="1950" dirty="0"/>
          </a:p>
        </p:txBody>
      </p:sp>
      <p:sp>
        <p:nvSpPr>
          <p:cNvPr id="17" name="Text 15"/>
          <p:cNvSpPr/>
          <p:nvPr/>
        </p:nvSpPr>
        <p:spPr>
          <a:xfrm>
            <a:off x="1796802" y="5019675"/>
            <a:ext cx="5112856" cy="323850"/>
          </a:xfrm>
          <a:prstGeom prst="rect">
            <a:avLst/>
          </a:prstGeom>
          <a:noFill/>
          <a:ln/>
        </p:spPr>
        <p:txBody>
          <a:bodyPr wrap="square" lIns="25400" tIns="25400" rIns="25400" bIns="25400" rtlCol="0" anchor="t">
            <a:normAutofit/>
          </a:bodyPr>
          <a:lstStyle/>
          <a:p>
            <a:pPr marL="0" indent="0" algn="l">
              <a:buNone/>
            </a:pPr>
            <a:r>
              <a:rPr lang="en-US" sz="1650" dirty="0">
                <a:solidFill>
                  <a:srgbClr val="777777"/>
                </a:solidFill>
                <a:latin typeface="Nunito Sans" pitchFamily="34" charset="0"/>
                <a:ea typeface="Nunito Sans" pitchFamily="34" charset="-122"/>
                <a:cs typeface="Nunito Sans" pitchFamily="34" charset="-120"/>
              </a:rPr>
              <a:t>Inductive/impedance-based instead of flex sensor</a:t>
            </a:r>
            <a:endParaRPr lang="en-US" sz="1650" dirty="0"/>
          </a:p>
        </p:txBody>
      </p:sp>
      <p:sp>
        <p:nvSpPr>
          <p:cNvPr id="18" name="Shape 16"/>
          <p:cNvSpPr/>
          <p:nvPr/>
        </p:nvSpPr>
        <p:spPr>
          <a:xfrm>
            <a:off x="9220200" y="4438650"/>
            <a:ext cx="8115300" cy="1095375"/>
          </a:xfrm>
          <a:prstGeom prst="roundRect">
            <a:avLst>
              <a:gd name="adj" fmla="val 6957"/>
            </a:avLst>
          </a:prstGeom>
          <a:solidFill>
            <a:srgbClr val="F5F3F0"/>
          </a:solidFill>
          <a:ln/>
        </p:spPr>
        <p:txBody>
          <a:bodyPr/>
          <a:lstStyle/>
          <a:p>
            <a:endParaRPr lang="en-US"/>
          </a:p>
        </p:txBody>
      </p:sp>
      <p:sp>
        <p:nvSpPr>
          <p:cNvPr id="19" name="Text 17"/>
          <p:cNvSpPr/>
          <p:nvPr/>
        </p:nvSpPr>
        <p:spPr>
          <a:xfrm>
            <a:off x="9486900" y="4667250"/>
            <a:ext cx="513606" cy="342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400" b="1" dirty="0">
                <a:solidFill>
                  <a:srgbClr val="C0562B"/>
                </a:solidFill>
                <a:latin typeface="Sora" pitchFamily="34" charset="0"/>
                <a:ea typeface="Sora" pitchFamily="34" charset="-122"/>
                <a:cs typeface="Sora" pitchFamily="34" charset="-120"/>
              </a:rPr>
              <a:t>04</a:t>
            </a:r>
            <a:endParaRPr lang="en-US" sz="2400" dirty="0"/>
          </a:p>
        </p:txBody>
      </p:sp>
      <p:sp>
        <p:nvSpPr>
          <p:cNvPr id="20" name="Text 18"/>
          <p:cNvSpPr/>
          <p:nvPr/>
        </p:nvSpPr>
        <p:spPr>
          <a:xfrm>
            <a:off x="10076706" y="4667250"/>
            <a:ext cx="3253591" cy="352425"/>
          </a:xfrm>
          <a:prstGeom prst="rect">
            <a:avLst/>
          </a:prstGeom>
          <a:noFill/>
          <a:ln/>
        </p:spPr>
        <p:txBody>
          <a:bodyPr wrap="square" lIns="25400" tIns="25400" rIns="25400" bIns="25400" rtlCol="0" anchor="t">
            <a:normAutofit/>
          </a:bodyPr>
          <a:lstStyle/>
          <a:p>
            <a:pPr marL="0" indent="0" algn="l">
              <a:buNone/>
            </a:pPr>
            <a:r>
              <a:rPr lang="en-US" sz="1950" b="1" dirty="0">
                <a:solidFill>
                  <a:srgbClr val="1A1A1A"/>
                </a:solidFill>
                <a:latin typeface="Sora" pitchFamily="34" charset="0"/>
                <a:ea typeface="Sora" pitchFamily="34" charset="-122"/>
                <a:cs typeface="Sora" pitchFamily="34" charset="-120"/>
              </a:rPr>
              <a:t>Cross-session Training</a:t>
            </a:r>
            <a:endParaRPr lang="en-US" sz="1950" dirty="0"/>
          </a:p>
        </p:txBody>
      </p:sp>
      <p:sp>
        <p:nvSpPr>
          <p:cNvPr id="21" name="Text 19"/>
          <p:cNvSpPr/>
          <p:nvPr/>
        </p:nvSpPr>
        <p:spPr>
          <a:xfrm>
            <a:off x="10076706" y="5019675"/>
            <a:ext cx="5099268" cy="323850"/>
          </a:xfrm>
          <a:prstGeom prst="rect">
            <a:avLst/>
          </a:prstGeom>
          <a:noFill/>
          <a:ln/>
        </p:spPr>
        <p:txBody>
          <a:bodyPr wrap="square" lIns="25400" tIns="25400" rIns="25400" bIns="25400" rtlCol="0" anchor="t">
            <a:normAutofit/>
          </a:bodyPr>
          <a:lstStyle/>
          <a:p>
            <a:pPr marL="0" indent="0" algn="l">
              <a:buNone/>
            </a:pPr>
            <a:r>
              <a:rPr lang="en-US" sz="1650" dirty="0">
                <a:solidFill>
                  <a:srgbClr val="777777"/>
                </a:solidFill>
                <a:latin typeface="Nunito Sans" pitchFamily="34" charset="0"/>
                <a:ea typeface="Nunito Sans" pitchFamily="34" charset="-122"/>
                <a:cs typeface="Nunito Sans" pitchFamily="34" charset="-120"/>
              </a:rPr>
              <a:t>KNN evaluated on held-out data for real accuracy</a:t>
            </a:r>
            <a:endParaRPr lang="en-US" sz="1650" dirty="0"/>
          </a:p>
        </p:txBody>
      </p:sp>
      <p:sp>
        <p:nvSpPr>
          <p:cNvPr id="22" name="Shape 20"/>
          <p:cNvSpPr/>
          <p:nvPr/>
        </p:nvSpPr>
        <p:spPr>
          <a:xfrm>
            <a:off x="952500" y="5686425"/>
            <a:ext cx="16383000" cy="1095375"/>
          </a:xfrm>
          <a:prstGeom prst="roundRect">
            <a:avLst>
              <a:gd name="adj" fmla="val 6957"/>
            </a:avLst>
          </a:prstGeom>
          <a:solidFill>
            <a:srgbClr val="1A1A1A"/>
          </a:solidFill>
          <a:ln/>
        </p:spPr>
        <p:txBody>
          <a:bodyPr/>
          <a:lstStyle/>
          <a:p>
            <a:endParaRPr lang="en-US" dirty="0"/>
          </a:p>
        </p:txBody>
      </p:sp>
      <p:sp>
        <p:nvSpPr>
          <p:cNvPr id="23" name="Text 21"/>
          <p:cNvSpPr/>
          <p:nvPr/>
        </p:nvSpPr>
        <p:spPr>
          <a:xfrm>
            <a:off x="1219200" y="5915025"/>
            <a:ext cx="505123" cy="342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2400" b="1" dirty="0">
                <a:solidFill>
                  <a:srgbClr val="C0562B"/>
                </a:solidFill>
                <a:latin typeface="Sora" pitchFamily="34" charset="0"/>
                <a:ea typeface="Sora" pitchFamily="34" charset="-122"/>
                <a:cs typeface="Sora" pitchFamily="34" charset="-120"/>
              </a:rPr>
              <a:t>05</a:t>
            </a:r>
            <a:endParaRPr lang="en-US" sz="2400" dirty="0"/>
          </a:p>
        </p:txBody>
      </p:sp>
      <p:sp>
        <p:nvSpPr>
          <p:cNvPr id="24" name="Text 22"/>
          <p:cNvSpPr/>
          <p:nvPr/>
        </p:nvSpPr>
        <p:spPr>
          <a:xfrm>
            <a:off x="1800523" y="5915025"/>
            <a:ext cx="2105978" cy="352425"/>
          </a:xfrm>
          <a:prstGeom prst="rect">
            <a:avLst/>
          </a:prstGeom>
          <a:noFill/>
          <a:ln/>
        </p:spPr>
        <p:txBody>
          <a:bodyPr wrap="square" lIns="25400" tIns="25400" rIns="25400" bIns="25400" rtlCol="0" anchor="t">
            <a:normAutofit/>
          </a:bodyPr>
          <a:lstStyle/>
          <a:p>
            <a:pPr marL="0" indent="0" algn="l">
              <a:buNone/>
            </a:pPr>
            <a:r>
              <a:rPr lang="en-US" sz="1950" b="1" dirty="0">
                <a:solidFill>
                  <a:srgbClr val="FFFFFF"/>
                </a:solidFill>
                <a:latin typeface="Sora" pitchFamily="34" charset="0"/>
                <a:ea typeface="Sora" pitchFamily="34" charset="-122"/>
                <a:cs typeface="Sora" pitchFamily="34" charset="-120"/>
              </a:rPr>
              <a:t>PSG Validation</a:t>
            </a:r>
            <a:endParaRPr lang="en-US" sz="1950" dirty="0"/>
          </a:p>
        </p:txBody>
      </p:sp>
      <p:sp>
        <p:nvSpPr>
          <p:cNvPr id="25" name="Text 23"/>
          <p:cNvSpPr/>
          <p:nvPr/>
        </p:nvSpPr>
        <p:spPr>
          <a:xfrm>
            <a:off x="1800523" y="6267450"/>
            <a:ext cx="5669801" cy="323850"/>
          </a:xfrm>
          <a:prstGeom prst="rect">
            <a:avLst/>
          </a:prstGeom>
          <a:noFill/>
          <a:ln/>
        </p:spPr>
        <p:txBody>
          <a:bodyPr wrap="square" lIns="25400" tIns="25400" rIns="25400" bIns="25400" rtlCol="0" anchor="t">
            <a:normAutofit/>
          </a:bodyPr>
          <a:lstStyle/>
          <a:p>
            <a:pPr marL="0" indent="0" algn="l">
              <a:buNone/>
            </a:pPr>
            <a:r>
              <a:rPr lang="en-US" sz="1650" dirty="0">
                <a:solidFill>
                  <a:srgbClr val="FFFFFF">
                    <a:alpha val="60000"/>
                  </a:srgbClr>
                </a:solidFill>
                <a:latin typeface="Nunito Sans" pitchFamily="34" charset="0"/>
                <a:ea typeface="Nunito Sans" pitchFamily="34" charset="-122"/>
                <a:cs typeface="Nunito Sans" pitchFamily="34" charset="-120"/>
              </a:rPr>
              <a:t>Simultaneous recording for ground truth benchmarking</a:t>
            </a:r>
            <a:endParaRPr lang="en-US" sz="1650" dirty="0"/>
          </a:p>
        </p:txBody>
      </p:sp>
      <p:sp>
        <p:nvSpPr>
          <p:cNvPr id="26" name="Text 24"/>
          <p:cNvSpPr/>
          <p:nvPr/>
        </p:nvSpPr>
        <p:spPr>
          <a:xfrm>
            <a:off x="133350" y="8776147"/>
            <a:ext cx="18021300" cy="901253"/>
          </a:xfrm>
          <a:prstGeom prst="rect">
            <a:avLst/>
          </a:prstGeom>
          <a:noFill/>
          <a:ln/>
        </p:spPr>
        <p:txBody>
          <a:bodyPr wrap="square" lIns="25400" tIns="25400" rIns="25400" bIns="25400" rtlCol="0" anchor="t">
            <a:normAutofit/>
          </a:bodyPr>
          <a:lstStyle/>
          <a:p>
            <a:pPr marL="0" indent="0" algn="ctr">
              <a:buNone/>
            </a:pPr>
            <a:r>
              <a:rPr lang="en-US" sz="5400" b="1" dirty="0">
                <a:solidFill>
                  <a:srgbClr val="1A1A1A"/>
                </a:solidFill>
                <a:latin typeface="Sora" pitchFamily="34" charset="0"/>
                <a:ea typeface="Sora" pitchFamily="34" charset="-122"/>
                <a:cs typeface="Sora" pitchFamily="34" charset="-120"/>
              </a:rPr>
              <a:t>Thank you!</a:t>
            </a:r>
            <a:endParaRPr lang="en-US" sz="5400" dirty="0"/>
          </a:p>
        </p:txBody>
      </p:sp>
      <p:sp>
        <p:nvSpPr>
          <p:cNvPr id="27" name="Shape 25"/>
          <p:cNvSpPr/>
          <p:nvPr/>
        </p:nvSpPr>
        <p:spPr>
          <a:xfrm>
            <a:off x="0" y="9639300"/>
            <a:ext cx="18288000" cy="9525"/>
          </a:xfrm>
          <a:prstGeom prst="rect">
            <a:avLst/>
          </a:prstGeom>
          <a:solidFill>
            <a:srgbClr val="EEEEEE"/>
          </a:solidFill>
          <a:ln/>
        </p:spPr>
        <p:txBody>
          <a:bodyPr/>
          <a:lstStyle/>
          <a:p>
            <a:endParaRPr lang="en-US"/>
          </a:p>
        </p:txBody>
      </p:sp>
      <p:sp>
        <p:nvSpPr>
          <p:cNvPr id="28" name="Text 26"/>
          <p:cNvSpPr/>
          <p:nvPr/>
        </p:nvSpPr>
        <p:spPr>
          <a:xfrm>
            <a:off x="952500" y="9839325"/>
            <a:ext cx="2559129" cy="295275"/>
          </a:xfrm>
          <a:prstGeom prst="rect">
            <a:avLst/>
          </a:prstGeom>
          <a:noFill/>
          <a:ln/>
        </p:spPr>
        <p:txBody>
          <a:bodyPr wrap="square" lIns="25400" tIns="25400" rIns="25400" bIns="25400" rtlCol="0" anchor="t">
            <a:normAutofit/>
          </a:bodyPr>
          <a:lstStyle/>
          <a:p>
            <a:pPr marL="0" indent="0" algn="l">
              <a:buNone/>
            </a:pPr>
            <a:r>
              <a:rPr lang="en-US" sz="1500" dirty="0">
                <a:solidFill>
                  <a:schemeClr val="accent2"/>
                </a:solidFill>
                <a:latin typeface="Nunito Sans" pitchFamily="34" charset="0"/>
                <a:ea typeface="Nunito Sans" pitchFamily="34" charset="-122"/>
                <a:cs typeface="Nunito Sans" pitchFamily="34" charset="-120"/>
              </a:rPr>
              <a:t>Conclusions &amp; Future Work</a:t>
            </a:r>
            <a:endParaRPr lang="en-US" sz="1500" dirty="0">
              <a:solidFill>
                <a:schemeClr val="accent2"/>
              </a:solidFill>
            </a:endParaRPr>
          </a:p>
        </p:txBody>
      </p:sp>
      <p:sp>
        <p:nvSpPr>
          <p:cNvPr id="29" name="Text 27"/>
          <p:cNvSpPr/>
          <p:nvPr/>
        </p:nvSpPr>
        <p:spPr>
          <a:xfrm>
            <a:off x="16790640" y="9848850"/>
            <a:ext cx="621060" cy="276225"/>
          </a:xfrm>
          <a:prstGeom prst="rect">
            <a:avLst/>
          </a:prstGeom>
          <a:noFill/>
          <a:ln/>
        </p:spPr>
        <p:txBody>
          <a:bodyPr wrap="square" lIns="25400" tIns="25400" rIns="25400" bIns="25400" rtlCol="0" anchor="t">
            <a:normAutofit lnSpcReduction="10000"/>
          </a:bodyPr>
          <a:lstStyle/>
          <a:p>
            <a:pPr marL="0" indent="0" algn="l">
              <a:buNone/>
            </a:pPr>
            <a:r>
              <a:rPr lang="en-US" sz="1500" b="1" dirty="0">
                <a:solidFill>
                  <a:srgbClr val="C0562B"/>
                </a:solidFill>
                <a:latin typeface="Sora" pitchFamily="34" charset="0"/>
                <a:ea typeface="Sora" pitchFamily="34" charset="-122"/>
                <a:cs typeface="Sora" pitchFamily="34" charset="-120"/>
              </a:rPr>
              <a:t>17 / 17</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opBar"/>
          <p:cNvSpPr/>
          <p:nvPr/>
        </p:nvSpPr>
        <p:spPr>
          <a:xfrm>
            <a:off x="0" y="0"/>
            <a:ext cx="18288000" cy="57150"/>
          </a:xfrm>
          <a:prstGeom prst="rect">
            <a:avLst/>
          </a:prstGeom>
          <a:solidFill>
            <a:srgbClr val="C0562B"/>
          </a:solidFill>
          <a:ln/>
        </p:spPr>
        <p:txBody>
          <a:bodyPr/>
          <a:lstStyle/>
          <a:p>
            <a:endParaRPr lang="en-US"/>
          </a:p>
        </p:txBody>
      </p:sp>
      <p:sp>
        <p:nvSpPr>
          <p:cNvPr id="3" name="Title"/>
          <p:cNvSpPr/>
          <p:nvPr/>
        </p:nvSpPr>
        <p:spPr>
          <a:xfrm>
            <a:off x="952500" y="457200"/>
            <a:ext cx="16383000" cy="685800"/>
          </a:xfrm>
          <a:prstGeom prst="rect">
            <a:avLst/>
          </a:prstGeom>
          <a:noFill/>
          <a:ln/>
        </p:spPr>
        <p:txBody>
          <a:bodyPr wrap="square" lIns="25400" tIns="25400" rIns="25400" bIns="25400" rtlCol="0" anchor="t">
            <a:normAutofit/>
          </a:bodyPr>
          <a:lstStyle/>
          <a:p>
            <a:pPr marL="0" indent="0" algn="l">
              <a:buNone/>
            </a:pPr>
            <a:r>
              <a:rPr lang="en-US" sz="3600" b="1" dirty="0">
                <a:solidFill>
                  <a:srgbClr val="1A1A1A"/>
                </a:solidFill>
                <a:latin typeface="Sora" pitchFamily="34" charset="0"/>
                <a:ea typeface="Sora" pitchFamily="34" charset="-122"/>
                <a:cs typeface="Sora" pitchFamily="34" charset="-120"/>
              </a:rPr>
              <a:t>References</a:t>
            </a:r>
          </a:p>
        </p:txBody>
      </p:sp>
      <p:sp>
        <p:nvSpPr>
          <p:cNvPr id="4" name="Divider"/>
          <p:cNvSpPr/>
          <p:nvPr/>
        </p:nvSpPr>
        <p:spPr>
          <a:xfrm>
            <a:off x="952500" y="1219200"/>
            <a:ext cx="16383000" cy="28575"/>
          </a:xfrm>
          <a:prstGeom prst="rect">
            <a:avLst/>
          </a:prstGeom>
          <a:solidFill>
            <a:srgbClr val="C0562B">
              <a:alpha val="30000"/>
            </a:srgbClr>
          </a:solidFill>
          <a:ln/>
        </p:spPr>
        <p:txBody>
          <a:bodyPr/>
          <a:lstStyle/>
          <a:p>
            <a:endParaRPr lang="en-US"/>
          </a:p>
        </p:txBody>
      </p:sp>
      <p:sp>
        <p:nvSpPr>
          <p:cNvPr id="5" name="RefList"/>
          <p:cNvSpPr/>
          <p:nvPr/>
        </p:nvSpPr>
        <p:spPr>
          <a:xfrm>
            <a:off x="952500" y="1371600"/>
            <a:ext cx="16383000" cy="8572800"/>
          </a:xfrm>
          <a:prstGeom prst="rect">
            <a:avLst/>
          </a:prstGeom>
          <a:noFill/>
          <a:ln/>
        </p:spPr>
        <p:txBody>
          <a:bodyPr wrap="square" lIns="25400" tIns="25400" rIns="25400" bIns="25400" rtlCol="0" anchor="t">
            <a:normAutofit/>
          </a:bodyPr>
          <a:lstStyle/>
          <a:p>
            <a:pPr marL="0" indent="0" algn="l">
              <a:spcAft>
                <a:spcPts val="200"/>
              </a:spcAft>
              <a:buNone/>
            </a:pPr>
            <a:r>
              <a:rPr lang="en-US" sz="2400" dirty="0">
                <a:solidFill>
                  <a:srgbClr val="2A2A2A"/>
                </a:solidFill>
                <a:latin typeface="Nunito Sans" pitchFamily="34" charset="0"/>
                <a:ea typeface="Nunito Sans" pitchFamily="34" charset="-122"/>
                <a:cs typeface="Nunito Sans" pitchFamily="34" charset="-120"/>
              </a:rPr>
              <a:t>[3] R. B. Berry et al., "The AASM Manual for the Scoring of Sleep and Associated Events, Version 2.6," American Academy of Sleep Medicine, Darien, IL, 2020.</a:t>
            </a:r>
          </a:p>
          <a:p>
            <a:pPr marL="0" indent="0" algn="l">
              <a:spcAft>
                <a:spcPts val="200"/>
              </a:spcAft>
              <a:buNone/>
            </a:pPr>
            <a:r>
              <a:rPr lang="en-US" sz="2400" dirty="0">
                <a:solidFill>
                  <a:srgbClr val="2A2A2A"/>
                </a:solidFill>
                <a:latin typeface="Nunito Sans" pitchFamily="34" charset="0"/>
                <a:ea typeface="Nunito Sans" pitchFamily="34" charset="-122"/>
                <a:cs typeface="Nunito Sans" pitchFamily="34" charset="-120"/>
              </a:rPr>
              <a:t>[1] R. Stickgold, "Sleep-dependent memory consolidation," Nature, vol. 437, pp. 1272-1278, 2005.</a:t>
            </a:r>
          </a:p>
          <a:p>
            <a:pPr marL="0" indent="0" algn="l">
              <a:spcAft>
                <a:spcPts val="200"/>
              </a:spcAft>
              <a:buNone/>
            </a:pPr>
            <a:r>
              <a:rPr lang="en-US" sz="2400" dirty="0">
                <a:solidFill>
                  <a:srgbClr val="2A2A2A"/>
                </a:solidFill>
                <a:latin typeface="Nunito Sans" pitchFamily="34" charset="0"/>
                <a:ea typeface="Nunito Sans" pitchFamily="34" charset="-122"/>
                <a:cs typeface="Nunito Sans" pitchFamily="34" charset="-120"/>
              </a:rPr>
              <a:t>[11] M. de Zambotti, N. Cellini, A. Goldstone, I. M. Colrain, and F. C. Baker, "Wearable sleep technology in clinical and research settings," Med. Sci. Sports Exerc., vol. 51, pp. 1538-1557, 2019.</a:t>
            </a:r>
          </a:p>
          <a:p>
            <a:pPr marL="0" indent="0" algn="l">
              <a:spcAft>
                <a:spcPts val="200"/>
              </a:spcAft>
              <a:buNone/>
            </a:pPr>
            <a:r>
              <a:rPr lang="en-US" sz="2400" dirty="0">
                <a:solidFill>
                  <a:srgbClr val="2A2A2A"/>
                </a:solidFill>
                <a:latin typeface="Nunito Sans" pitchFamily="34" charset="0"/>
                <a:ea typeface="Nunito Sans" pitchFamily="34" charset="-122"/>
                <a:cs typeface="Nunito Sans" pitchFamily="34" charset="-120"/>
              </a:rPr>
              <a:t>[14] M. Marino et al., "Measuring sleep: accuracy, sensitivity, and specificity of wrist actigraphy compared to polysomnography," Sleep, vol. 36, pp. 1747-1755, 2013.</a:t>
            </a:r>
          </a:p>
          <a:p>
            <a:pPr marL="0" indent="0" algn="l">
              <a:spcAft>
                <a:spcPts val="200"/>
              </a:spcAft>
              <a:buNone/>
            </a:pPr>
            <a:r>
              <a:rPr lang="en-US" sz="2400" dirty="0">
                <a:solidFill>
                  <a:srgbClr val="2A2A2A"/>
                </a:solidFill>
                <a:latin typeface="Nunito Sans" pitchFamily="34" charset="0"/>
                <a:ea typeface="Nunito Sans" pitchFamily="34" charset="-122"/>
                <a:cs typeface="Nunito Sans" pitchFamily="34" charset="-120"/>
              </a:rPr>
              <a:t>[17] J. Allen, "Photoplethysmography and its application in clinical physiological measurement," Physiol. Meas., vol. 28, pp. R1-R39, 2007.</a:t>
            </a:r>
          </a:p>
          <a:p>
            <a:pPr marL="0" indent="0" algn="l">
              <a:spcAft>
                <a:spcPts val="200"/>
              </a:spcAft>
              <a:buNone/>
            </a:pPr>
            <a:r>
              <a:rPr lang="en-US" sz="2400" dirty="0">
                <a:solidFill>
                  <a:srgbClr val="2A2A2A"/>
                </a:solidFill>
                <a:latin typeface="Nunito Sans" pitchFamily="34" charset="0"/>
                <a:ea typeface="Nunito Sans" pitchFamily="34" charset="-122"/>
                <a:cs typeface="Nunito Sans" pitchFamily="34" charset="-120"/>
              </a:rPr>
              <a:t>[19] Task Force of the European Society of Cardiology and the North American Society of Pacing and Electrophysiology, "Heart rate variability: standards of measurement, physiological interpretation and clinical use," Circulation, vol. 93, 1996.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13182</TotalTime>
  <Words>1810</Words>
  <Application>Microsoft Office PowerPoint</Application>
  <PresentationFormat>Custom</PresentationFormat>
  <Paragraphs>403</Paragraphs>
  <Slides>18</Slides>
  <Notes>17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18</vt:i4>
      </vt:variant>
    </vt:vector>
  </HeadingPairs>
  <TitlesOfParts>
    <vt:vector size="28" baseType="lpstr">
      <vt:lpstr>Aptos</vt:lpstr>
      <vt:lpstr>Arial</vt:lpstr>
      <vt:lpstr>Calibri</vt:lpstr>
      <vt:lpstr>Consolas</vt:lpstr>
      <vt:lpstr>Courier New</vt:lpstr>
      <vt:lpstr>Inter</vt:lpstr>
      <vt:lpstr>Nunito Sans</vt:lpstr>
      <vt:lpstr>Sora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Alexandru Duta</cp:lastModifiedBy>
  <cp:revision>18</cp:revision>
  <dcterms:created xsi:type="dcterms:W3CDTF">2026-06-17T08:01:06Z</dcterms:created>
  <dcterms:modified xsi:type="dcterms:W3CDTF">2026-07-01T07:12:31Z</dcterms:modified>
</cp:coreProperties>
</file>